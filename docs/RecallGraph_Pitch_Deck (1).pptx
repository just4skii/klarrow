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_rels/slideMaster1.xml.rels" ContentType="application/vnd.openxmlformats-package.relationships+xml"/>
  <Override PartName="/ppt/slideMasters/slideMaster1.xml" ContentType="application/vnd.openxmlformats-officedocument.presentationml.slideMaster+xml"/>
  <Override PartName="/ppt/presProps.xml" ContentType="application/vnd.openxmlformats-officedocument.presentationml.presProps+xml"/>
  <Override PartName="/ppt/theme/theme1.xml" ContentType="application/vnd.openxmlformats-officedocument.theme+xml"/>
  <Override PartName="/ppt/theme/theme3.xml" ContentType="application/vnd.openxmlformats-officedocument.theme+xml"/>
  <Override PartName="/ppt/slideLayouts/_rels/slideLayout2.xml.rels" ContentType="application/vnd.openxmlformats-package.relationships+xml"/>
  <Override PartName="/ppt/slideLayouts/_rels/slideLayout1.xml.rels" ContentType="application/vnd.openxmlformats-package.relationship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_rels/presentation.xml.rels" ContentType="application/vnd.openxmlformats-package.relationships+xml"/>
  <Override PartName="/ppt/notesMasters/_rels/notesMaster1.xml.rels" ContentType="application/vnd.openxmlformats-package.relationships+xml"/>
  <Override PartName="/ppt/notesMasters/notesMaster1.xml" ContentType="application/vnd.openxmlformats-officedocument.presentationml.notesMaster+xml"/>
  <Override PartName="/ppt/slides/slide1.xml" ContentType="application/vnd.openxmlformats-officedocument.presentationml.slide+xml"/>
  <Override PartName="/ppt/slides/_rels/slide9.xml.rels" ContentType="application/vnd.openxmlformats-package.relationships+xml"/>
  <Override PartName="/ppt/slides/_rels/slide8.xml.rels" ContentType="application/vnd.openxmlformats-package.relationships+xml"/>
  <Override PartName="/ppt/slides/_rels/slide7.xml.rels" ContentType="application/vnd.openxmlformats-package.relationships+xml"/>
  <Override PartName="/ppt/slides/_rels/slide6.xml.rels" ContentType="application/vnd.openxmlformats-package.relationships+xml"/>
  <Override PartName="/ppt/slides/_rels/slide5.xml.rels" ContentType="application/vnd.openxmlformats-package.relationships+xml"/>
  <Override PartName="/ppt/slides/_rels/slide4.xml.rels" ContentType="application/vnd.openxmlformats-package.relationships+xml"/>
  <Override PartName="/ppt/slides/_rels/slide3.xml.rels" ContentType="application/vnd.openxmlformats-package.relationships+xml"/>
  <Override PartName="/ppt/slides/_rels/slide2.xml.rels" ContentType="application/vnd.openxmlformats-package.relationships+xml"/>
  <Override PartName="/ppt/slides/_rels/slide1.xml.rels" ContentType="application/vnd.openxmlformats-package.relationships+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_rels/notesSlide9.xml.rels" ContentType="application/vnd.openxmlformats-package.relationships+xml"/>
  <Override PartName="/ppt/notesSlides/_rels/notesSlide8.xml.rels" ContentType="application/vnd.openxmlformats-package.relationships+xml"/>
  <Override PartName="/ppt/notesSlides/_rels/notesSlide7.xml.rels" ContentType="application/vnd.openxmlformats-package.relationships+xml"/>
  <Override PartName="/ppt/notesSlides/_rels/notesSlide6.xml.rels" ContentType="application/vnd.openxmlformats-package.relationships+xml"/>
  <Override PartName="/ppt/notesSlides/_rels/notesSlide5.xml.rels" ContentType="application/vnd.openxmlformats-package.relationships+xml"/>
  <Override PartName="/ppt/notesSlides/_rels/notesSlide4.xml.rels" ContentType="application/vnd.openxmlformats-package.relationships+xml"/>
  <Override PartName="/ppt/notesSlides/_rels/notesSlide3.xml.rels" ContentType="application/vnd.openxmlformats-package.relationships+xml"/>
  <Override PartName="/ppt/notesSlides/_rels/notesSlide2.xml.rels" ContentType="application/vnd.openxmlformats-package.relationships+xml"/>
  <Override PartName="/ppt/notesSlides/_rels/notesSlide1.xml.rels" ContentType="application/vnd.openxmlformats-package.relationships+xml"/>
  <Override PartName="/ppt/notesSlides/notesSlide9.xml" ContentType="application/vnd.openxmlformats-officedocument.presentationml.notesSlide+xml"/>
</Types>
</file>

<file path=_rels/.rels><?xml version="1.0" encoding="UTF-8"?>
<Relationships xmlns="http://schemas.openxmlformats.org/package/2006/relationships"><Relationship Id="rId1" Type="http://schemas.openxmlformats.org/officedocument/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notesMasterIdLst>
    <p:notesMasterId r:id="rId3"/>
  </p:notesMasterIdLst>
  <p:sldIdLst>
    <p:sldId id="256" r:id="rId4"/>
    <p:sldId id="257" r:id="rId5"/>
    <p:sldId id="258" r:id="rId6"/>
    <p:sldId id="259" r:id="rId7"/>
    <p:sldId id="260" r:id="rId8"/>
    <p:sldId id="261" r:id="rId9"/>
    <p:sldId id="262" r:id="rId10"/>
    <p:sldId id="263" r:id="rId11"/>
    <p:sldId id="264" r:id="rId12"/>
  </p:sldIdLst>
  <p:sldSz cx="12192000" cy="6858000"/>
  <p:notesSz cx="6858000" cy="121920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notesMaster" Target="notesMasters/notesMaster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3.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 name="PlaceHolder 1"/>
          <p:cNvSpPr>
            <a:spLocks noGrp="1"/>
          </p:cNvSpPr>
          <p:nvPr>
            <p:ph type="sldImg"/>
          </p:nvPr>
        </p:nvSpPr>
        <p:spPr>
          <a:xfrm>
            <a:off x="216000" y="812520"/>
            <a:ext cx="7127280" cy="4008960"/>
          </a:xfrm>
          <a:prstGeom prst="rect">
            <a:avLst/>
          </a:prstGeom>
          <a:noFill/>
          <a:ln w="0">
            <a:noFill/>
          </a:ln>
        </p:spPr>
        <p:txBody>
          <a:bodyPr lIns="0" rIns="0" tIns="0" bIns="0" anchor="ctr">
            <a:noAutofit/>
          </a:bodyPr>
          <a:p>
            <a:r>
              <a:rPr b="0" lang="en-US" sz="1800" strike="noStrike" u="none">
                <a:solidFill>
                  <a:schemeClr val="dk1"/>
                </a:solidFill>
                <a:effectLst/>
                <a:uFillTx/>
                <a:latin typeface="Aptos"/>
              </a:rPr>
              <a:t>Click to move the slide</a:t>
            </a:r>
            <a:endParaRPr b="0" lang="en-US" sz="1800" strike="noStrike" u="none">
              <a:solidFill>
                <a:schemeClr val="dk1"/>
              </a:solidFill>
              <a:effectLst/>
              <a:uFillTx/>
              <a:latin typeface="Aptos"/>
            </a:endParaRPr>
          </a:p>
        </p:txBody>
      </p:sp>
      <p:sp>
        <p:nvSpPr>
          <p:cNvPr id="9"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indent="0">
              <a:buNone/>
            </a:pPr>
            <a:r>
              <a:rPr b="0" lang="en-US" sz="2000" strike="noStrike" u="none">
                <a:solidFill>
                  <a:srgbClr val="2D2F38"/>
                </a:solidFill>
                <a:effectLst/>
                <a:uFillTx/>
                <a:latin typeface="Arial"/>
              </a:rPr>
              <a:t>Click to edit the notes format</a:t>
            </a:r>
            <a:endParaRPr b="0" lang="en-US" sz="2000" strike="noStrike" u="none">
              <a:solidFill>
                <a:srgbClr val="2D2F38"/>
              </a:solidFill>
              <a:effectLst/>
              <a:uFillTx/>
              <a:latin typeface="Arial"/>
            </a:endParaRPr>
          </a:p>
        </p:txBody>
      </p:sp>
      <p:sp>
        <p:nvSpPr>
          <p:cNvPr id="10" name="PlaceHolder 3"/>
          <p:cNvSpPr>
            <a:spLocks noGrp="1"/>
          </p:cNvSpPr>
          <p:nvPr>
            <p:ph type="hdr"/>
          </p:nvPr>
        </p:nvSpPr>
        <p:spPr>
          <a:xfrm>
            <a:off x="0" y="0"/>
            <a:ext cx="3280680" cy="534240"/>
          </a:xfrm>
          <a:prstGeom prst="rect">
            <a:avLst/>
          </a:prstGeom>
          <a:noFill/>
          <a:ln w="0">
            <a:noFill/>
          </a:ln>
        </p:spPr>
        <p:txBody>
          <a:bodyPr lIns="0" rIns="0" tIns="0" bIns="0" anchor="t">
            <a:noAutofit/>
          </a:bodyPr>
          <a:p>
            <a:pPr indent="0">
              <a:buNone/>
            </a:pPr>
            <a:r>
              <a:rPr b="0" lang="en-US" sz="1400" strike="noStrike" u="none">
                <a:solidFill>
                  <a:srgbClr val="2D2F38"/>
                </a:solidFill>
                <a:effectLst/>
                <a:uFillTx/>
                <a:latin typeface="Times New Roman"/>
              </a:rPr>
              <a:t>&lt;header&gt;</a:t>
            </a:r>
            <a:endParaRPr b="0" lang="en-US" sz="1400" strike="noStrike" u="none">
              <a:solidFill>
                <a:srgbClr val="2D2F38"/>
              </a:solidFill>
              <a:effectLst/>
              <a:uFillTx/>
              <a:latin typeface="Times New Roman"/>
            </a:endParaRPr>
          </a:p>
        </p:txBody>
      </p:sp>
      <p:sp>
        <p:nvSpPr>
          <p:cNvPr id="11" name="PlaceHolder 4"/>
          <p:cNvSpPr>
            <a:spLocks noGrp="1"/>
          </p:cNvSpPr>
          <p:nvPr>
            <p:ph type="dt" idx="2"/>
          </p:nvPr>
        </p:nvSpPr>
        <p:spPr>
          <a:xfrm>
            <a:off x="4278960" y="0"/>
            <a:ext cx="3280680" cy="534240"/>
          </a:xfrm>
          <a:prstGeom prst="rect">
            <a:avLst/>
          </a:prstGeom>
          <a:noFill/>
          <a:ln w="0">
            <a:noFill/>
          </a:ln>
        </p:spPr>
        <p:txBody>
          <a:bodyPr lIns="0" rIns="0" tIns="0" bIns="0" anchor="t">
            <a:noAutofit/>
          </a:bodyPr>
          <a:lstStyle>
            <a:lvl1pPr indent="0" algn="r">
              <a:buNone/>
              <a:defRPr b="0" lang="en-US" sz="1400" strike="noStrike" u="none">
                <a:solidFill>
                  <a:srgbClr val="2D2F38"/>
                </a:solidFill>
                <a:effectLst/>
                <a:uFillTx/>
                <a:latin typeface="Times New Roman"/>
              </a:defRPr>
            </a:lvl1pPr>
          </a:lstStyle>
          <a:p>
            <a:pPr indent="0" algn="r">
              <a:buNone/>
            </a:pPr>
            <a:r>
              <a:rPr b="0" lang="en-US" sz="1400" strike="noStrike" u="none">
                <a:solidFill>
                  <a:srgbClr val="2D2F38"/>
                </a:solidFill>
                <a:effectLst/>
                <a:uFillTx/>
                <a:latin typeface="Times New Roman"/>
              </a:rPr>
              <a:t>&lt;date/time&gt;</a:t>
            </a:r>
            <a:endParaRPr b="0" lang="en-US" sz="1400" strike="noStrike" u="none">
              <a:solidFill>
                <a:srgbClr val="2D2F38"/>
              </a:solidFill>
              <a:effectLst/>
              <a:uFillTx/>
              <a:latin typeface="Times New Roman"/>
            </a:endParaRPr>
          </a:p>
        </p:txBody>
      </p:sp>
      <p:sp>
        <p:nvSpPr>
          <p:cNvPr id="12" name="PlaceHolder 5"/>
          <p:cNvSpPr>
            <a:spLocks noGrp="1"/>
          </p:cNvSpPr>
          <p:nvPr>
            <p:ph type="ftr" idx="3"/>
          </p:nvPr>
        </p:nvSpPr>
        <p:spPr>
          <a:xfrm>
            <a:off x="0" y="10157400"/>
            <a:ext cx="3280680" cy="534240"/>
          </a:xfrm>
          <a:prstGeom prst="rect">
            <a:avLst/>
          </a:prstGeom>
          <a:noFill/>
          <a:ln w="0">
            <a:noFill/>
          </a:ln>
        </p:spPr>
        <p:txBody>
          <a:bodyPr lIns="0" rIns="0" tIns="0" bIns="0" anchor="b">
            <a:noAutofit/>
          </a:bodyPr>
          <a:lstStyle>
            <a:lvl1pPr indent="0">
              <a:buNone/>
              <a:defRPr b="0" lang="en-US" sz="1400" strike="noStrike" u="none">
                <a:solidFill>
                  <a:srgbClr val="2D2F38"/>
                </a:solidFill>
                <a:effectLst/>
                <a:uFillTx/>
                <a:latin typeface="Times New Roman"/>
              </a:defRPr>
            </a:lvl1pPr>
          </a:lstStyle>
          <a:p>
            <a:pPr indent="0">
              <a:buNone/>
            </a:pPr>
            <a:r>
              <a:rPr b="0" lang="en-US" sz="1400" strike="noStrike" u="none">
                <a:solidFill>
                  <a:srgbClr val="2D2F38"/>
                </a:solidFill>
                <a:effectLst/>
                <a:uFillTx/>
                <a:latin typeface="Times New Roman"/>
              </a:rPr>
              <a:t>&lt;footer&gt;</a:t>
            </a:r>
            <a:endParaRPr b="0" lang="en-US" sz="1400" strike="noStrike" u="none">
              <a:solidFill>
                <a:srgbClr val="2D2F38"/>
              </a:solidFill>
              <a:effectLst/>
              <a:uFillTx/>
              <a:latin typeface="Times New Roman"/>
            </a:endParaRPr>
          </a:p>
        </p:txBody>
      </p:sp>
      <p:sp>
        <p:nvSpPr>
          <p:cNvPr id="13" name="PlaceHolder 6"/>
          <p:cNvSpPr>
            <a:spLocks noGrp="1"/>
          </p:cNvSpPr>
          <p:nvPr>
            <p:ph type="sldNum" idx="4"/>
          </p:nvPr>
        </p:nvSpPr>
        <p:spPr>
          <a:xfrm>
            <a:off x="4278960" y="10157400"/>
            <a:ext cx="3280680" cy="534240"/>
          </a:xfrm>
          <a:prstGeom prst="rect">
            <a:avLst/>
          </a:prstGeom>
          <a:noFill/>
          <a:ln w="0">
            <a:noFill/>
          </a:ln>
        </p:spPr>
        <p:txBody>
          <a:bodyPr lIns="0" rIns="0" tIns="0" bIns="0" anchor="b">
            <a:noAutofit/>
          </a:bodyPr>
          <a:lstStyle>
            <a:lvl1pPr indent="0" algn="r">
              <a:buNone/>
              <a:defRPr b="0" lang="en-US" sz="1400" strike="noStrike" u="none">
                <a:solidFill>
                  <a:srgbClr val="2D2F38"/>
                </a:solidFill>
                <a:effectLst/>
                <a:uFillTx/>
                <a:latin typeface="Times New Roman"/>
              </a:defRPr>
            </a:lvl1pPr>
          </a:lstStyle>
          <a:p>
            <a:pPr indent="0" algn="r">
              <a:buNone/>
            </a:pPr>
            <a:fld id="{E6EB53F1-AC45-453A-B716-8EB5D9550263}" type="slidenum">
              <a:rPr b="0" lang="en-US" sz="1400" strike="noStrike" u="none">
                <a:solidFill>
                  <a:srgbClr val="2D2F38"/>
                </a:solidFill>
                <a:effectLst/>
                <a:uFillTx/>
                <a:latin typeface="Times New Roman"/>
              </a:rPr>
              <a:t>&lt;number&gt;</a:t>
            </a:fld>
            <a:endParaRPr b="0" lang="en-US" sz="1400" strike="noStrike" u="none">
              <a:solidFill>
                <a:srgbClr val="2D2F38"/>
              </a:solidFill>
              <a:effectLst/>
              <a:uFillTx/>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8" name="PlaceHolder 1"/>
          <p:cNvSpPr>
            <a:spLocks noGrp="1"/>
          </p:cNvSpPr>
          <p:nvPr>
            <p:ph type="sldImg"/>
          </p:nvPr>
        </p:nvSpPr>
        <p:spPr>
          <a:xfrm>
            <a:off x="685800" y="1143000"/>
            <a:ext cx="5486040" cy="3085920"/>
          </a:xfrm>
          <a:prstGeom prst="rect">
            <a:avLst/>
          </a:prstGeom>
          <a:ln w="0">
            <a:noFill/>
          </a:ln>
        </p:spPr>
      </p:sp>
      <p:sp>
        <p:nvSpPr>
          <p:cNvPr id="329"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lnSpc>
                <a:spcPct val="100000"/>
              </a:lnSpc>
              <a:buNone/>
            </a:pPr>
            <a:r>
              <a:rPr b="0" lang="en-US" sz="2000" strike="noStrike" u="none">
                <a:solidFill>
                  <a:srgbClr val="2D2F38"/>
                </a:solidFill>
                <a:effectLst/>
                <a:uFillTx/>
                <a:latin typeface="Arial"/>
              </a:rPr>
              <a:t>Opening: A recall investigation begins with a question, not a clean database: which lots were affected, where did they go, and what are we still missing? Klarrow is designed to help an operator answer that from the records they already have.</a:t>
            </a:r>
            <a:endParaRPr b="0" lang="en-US" sz="2000" strike="noStrike" u="none">
              <a:solidFill>
                <a:srgbClr val="2D2F38"/>
              </a:solidFill>
              <a:effectLst/>
              <a:uFillTx/>
              <a:latin typeface="Arial"/>
            </a:endParaRPr>
          </a:p>
        </p:txBody>
      </p:sp>
      <p:sp>
        <p:nvSpPr>
          <p:cNvPr id="330" name="PlaceHolder 3"/>
          <p:cNvSpPr>
            <a:spLocks noGrp="1"/>
          </p:cNvSpPr>
          <p:nvPr>
            <p:ph type="sldNum" idx="13"/>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trike="noStrike" u="none">
                <a:solidFill>
                  <a:schemeClr val="dk1"/>
                </a:solidFill>
                <a:effectLst/>
                <a:uFillTx/>
                <a:latin typeface="+mn-lt"/>
                <a:ea typeface="+mn-ea"/>
              </a:defRPr>
            </a:lvl1pPr>
          </a:lstStyle>
          <a:p>
            <a:pPr indent="0" algn="r" defTabSz="914400">
              <a:lnSpc>
                <a:spcPct val="100000"/>
              </a:lnSpc>
              <a:buNone/>
            </a:pPr>
            <a:fld id="{0DA74DC2-8BA6-4348-884E-89938E806E5D}" type="slidenum">
              <a:rPr b="0" lang="en-US" sz="1200" strike="noStrike" u="none">
                <a:solidFill>
                  <a:schemeClr val="dk1"/>
                </a:solidFill>
                <a:effectLst/>
                <a:uFillTx/>
                <a:latin typeface="+mn-lt"/>
                <a:ea typeface="+mn-ea"/>
              </a:rPr>
              <a:t>&lt;number&gt;</a:t>
            </a:fld>
            <a:endParaRPr b="0" lang="en-US" sz="1200" strike="noStrike" u="none">
              <a:solidFill>
                <a:srgbClr val="2D2F38"/>
              </a:solidFill>
              <a:effectLst/>
              <a:uFillTx/>
              <a:latin typeface="Times New Roman"/>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1" name="PlaceHolder 1"/>
          <p:cNvSpPr>
            <a:spLocks noGrp="1"/>
          </p:cNvSpPr>
          <p:nvPr>
            <p:ph type="sldImg"/>
          </p:nvPr>
        </p:nvSpPr>
        <p:spPr>
          <a:xfrm>
            <a:off x="685800" y="1143000"/>
            <a:ext cx="5486040" cy="3085920"/>
          </a:xfrm>
          <a:prstGeom prst="rect">
            <a:avLst/>
          </a:prstGeom>
          <a:ln w="0">
            <a:noFill/>
          </a:ln>
        </p:spPr>
      </p:sp>
      <p:sp>
        <p:nvSpPr>
          <p:cNvPr id="332"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lnSpc>
                <a:spcPct val="100000"/>
              </a:lnSpc>
              <a:buNone/>
            </a:pPr>
            <a:r>
              <a:rPr b="0" lang="en-US" sz="2000" strike="noStrike" u="none">
                <a:solidFill>
                  <a:srgbClr val="2D2F38"/>
                </a:solidFill>
                <a:effectLst/>
                <a:uFillTx/>
                <a:latin typeface="Arial"/>
              </a:rPr>
              <a:t>Problem statement: The hard part is not just looking up a lot in clean structured data. The operator must reconcile inconsistent identifiers, quantities and missing dispatch evidence across mixed documents. This is the problem hypothesis we are taking to practitioners; we do not yet claim measured industry-wide delays.</a:t>
            </a:r>
            <a:endParaRPr b="0" lang="en-US" sz="2000" strike="noStrike" u="none">
              <a:solidFill>
                <a:srgbClr val="2D2F38"/>
              </a:solidFill>
              <a:effectLst/>
              <a:uFillTx/>
              <a:latin typeface="Arial"/>
            </a:endParaRPr>
          </a:p>
        </p:txBody>
      </p:sp>
      <p:sp>
        <p:nvSpPr>
          <p:cNvPr id="333" name="PlaceHolder 3"/>
          <p:cNvSpPr>
            <a:spLocks noGrp="1"/>
          </p:cNvSpPr>
          <p:nvPr>
            <p:ph type="sldNum" idx="14"/>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trike="noStrike" u="none">
                <a:solidFill>
                  <a:schemeClr val="dk1"/>
                </a:solidFill>
                <a:effectLst/>
                <a:uFillTx/>
                <a:latin typeface="+mn-lt"/>
                <a:ea typeface="+mn-ea"/>
              </a:defRPr>
            </a:lvl1pPr>
          </a:lstStyle>
          <a:p>
            <a:pPr indent="0" algn="r" defTabSz="914400">
              <a:lnSpc>
                <a:spcPct val="100000"/>
              </a:lnSpc>
              <a:buNone/>
            </a:pPr>
            <a:fld id="{3BFE5AEC-C955-48DB-8BA5-16F2DFB82A6D}" type="slidenum">
              <a:rPr b="0" lang="en-US" sz="1200" strike="noStrike" u="none">
                <a:solidFill>
                  <a:schemeClr val="dk1"/>
                </a:solidFill>
                <a:effectLst/>
                <a:uFillTx/>
                <a:latin typeface="+mn-lt"/>
                <a:ea typeface="+mn-ea"/>
              </a:rPr>
              <a:t>&lt;number&gt;</a:t>
            </a:fld>
            <a:endParaRPr b="0" lang="en-US" sz="1200" strike="noStrike" u="none">
              <a:solidFill>
                <a:srgbClr val="2D2F38"/>
              </a:solidFill>
              <a:effectLst/>
              <a:uFillTx/>
              <a:latin typeface="Times New Roman"/>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4" name="PlaceHolder 1"/>
          <p:cNvSpPr>
            <a:spLocks noGrp="1"/>
          </p:cNvSpPr>
          <p:nvPr>
            <p:ph type="sldImg"/>
          </p:nvPr>
        </p:nvSpPr>
        <p:spPr>
          <a:xfrm>
            <a:off x="685800" y="1143000"/>
            <a:ext cx="5486040" cy="3085920"/>
          </a:xfrm>
          <a:prstGeom prst="rect">
            <a:avLst/>
          </a:prstGeom>
          <a:ln w="0">
            <a:noFill/>
          </a:ln>
        </p:spPr>
      </p:sp>
      <p:sp>
        <p:nvSpPr>
          <p:cNvPr id="335"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lnSpc>
                <a:spcPct val="100000"/>
              </a:lnSpc>
              <a:buNone/>
            </a:pPr>
            <a:r>
              <a:rPr b="0" lang="en-US" sz="2000" strike="noStrike" u="none">
                <a:solidFill>
                  <a:srgbClr val="2D2F38"/>
                </a:solidFill>
                <a:effectLst/>
                <a:uFillTx/>
                <a:latin typeface="Arial"/>
              </a:rPr>
              <a:t>Explain the operating model, not just the UI: parsers and local Llama create claims; the system grounds what it can; an operator reviews candidate relationships; deterministic code traverses the resulting link graph and reports unresolved evidence. We are not claiming an existing ERP connector.</a:t>
            </a:r>
            <a:endParaRPr b="0" lang="en-US" sz="2000" strike="noStrike" u="none">
              <a:solidFill>
                <a:srgbClr val="2D2F38"/>
              </a:solidFill>
              <a:effectLst/>
              <a:uFillTx/>
              <a:latin typeface="Arial"/>
            </a:endParaRPr>
          </a:p>
        </p:txBody>
      </p:sp>
      <p:sp>
        <p:nvSpPr>
          <p:cNvPr id="336" name="PlaceHolder 3"/>
          <p:cNvSpPr>
            <a:spLocks noGrp="1"/>
          </p:cNvSpPr>
          <p:nvPr>
            <p:ph type="sldNum" idx="15"/>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trike="noStrike" u="none">
                <a:solidFill>
                  <a:schemeClr val="dk1"/>
                </a:solidFill>
                <a:effectLst/>
                <a:uFillTx/>
                <a:latin typeface="+mn-lt"/>
                <a:ea typeface="+mn-ea"/>
              </a:defRPr>
            </a:lvl1pPr>
          </a:lstStyle>
          <a:p>
            <a:pPr indent="0" algn="r" defTabSz="914400">
              <a:lnSpc>
                <a:spcPct val="100000"/>
              </a:lnSpc>
              <a:buNone/>
            </a:pPr>
            <a:fld id="{2FAAF081-6611-453D-B1E1-A0ECAE85788D}" type="slidenum">
              <a:rPr b="0" lang="en-US" sz="1200" strike="noStrike" u="none">
                <a:solidFill>
                  <a:schemeClr val="dk1"/>
                </a:solidFill>
                <a:effectLst/>
                <a:uFillTx/>
                <a:latin typeface="+mn-lt"/>
                <a:ea typeface="+mn-ea"/>
              </a:rPr>
              <a:t>&lt;number&gt;</a:t>
            </a:fld>
            <a:endParaRPr b="0" lang="en-US" sz="1200" strike="noStrike" u="none">
              <a:solidFill>
                <a:srgbClr val="2D2F38"/>
              </a:solidFill>
              <a:effectLst/>
              <a:uFillTx/>
              <a:latin typeface="Times New Roman"/>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7" name="PlaceHolder 1"/>
          <p:cNvSpPr>
            <a:spLocks noGrp="1"/>
          </p:cNvSpPr>
          <p:nvPr>
            <p:ph type="sldImg"/>
          </p:nvPr>
        </p:nvSpPr>
        <p:spPr>
          <a:xfrm>
            <a:off x="685800" y="1143000"/>
            <a:ext cx="5486040" cy="3085920"/>
          </a:xfrm>
          <a:prstGeom prst="rect">
            <a:avLst/>
          </a:prstGeom>
          <a:ln w="0">
            <a:noFill/>
          </a:ln>
        </p:spPr>
      </p:sp>
      <p:sp>
        <p:nvSpPr>
          <p:cNvPr id="338"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lnSpc>
                <a:spcPct val="100000"/>
              </a:lnSpc>
              <a:buNone/>
            </a:pPr>
            <a:r>
              <a:rPr b="0" lang="en-US" sz="2000" strike="noStrike" u="none">
                <a:solidFill>
                  <a:srgbClr val="2D2F38"/>
                </a:solidFill>
                <a:effectLst/>
                <a:uFillTx/>
                <a:latin typeface="Arial"/>
              </a:rPr>
              <a:t>This slide gives the safety story. We are not delegating food-safety decisions to an LLM. The current grounding mechanism checks whether a quote exists at a source locator, but this does not prove the value itself was interpreted correctly. Four quote-verified records in the benchmark had raw values on an adjacent line, so the reviewer remains essential.</a:t>
            </a:r>
            <a:endParaRPr b="0" lang="en-US" sz="2000" strike="noStrike" u="none">
              <a:solidFill>
                <a:srgbClr val="2D2F38"/>
              </a:solidFill>
              <a:effectLst/>
              <a:uFillTx/>
              <a:latin typeface="Arial"/>
            </a:endParaRPr>
          </a:p>
        </p:txBody>
      </p:sp>
      <p:sp>
        <p:nvSpPr>
          <p:cNvPr id="339" name="PlaceHolder 3"/>
          <p:cNvSpPr>
            <a:spLocks noGrp="1"/>
          </p:cNvSpPr>
          <p:nvPr>
            <p:ph type="sldNum" idx="16"/>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trike="noStrike" u="none">
                <a:solidFill>
                  <a:schemeClr val="dk1"/>
                </a:solidFill>
                <a:effectLst/>
                <a:uFillTx/>
                <a:latin typeface="+mn-lt"/>
                <a:ea typeface="+mn-ea"/>
              </a:defRPr>
            </a:lvl1pPr>
          </a:lstStyle>
          <a:p>
            <a:pPr indent="0" algn="r" defTabSz="914400">
              <a:lnSpc>
                <a:spcPct val="100000"/>
              </a:lnSpc>
              <a:buNone/>
            </a:pPr>
            <a:fld id="{9D94A82C-BA3C-4071-8D5E-71ED1B3DBCE0}" type="slidenum">
              <a:rPr b="0" lang="en-US" sz="1200" strike="noStrike" u="none">
                <a:solidFill>
                  <a:schemeClr val="dk1"/>
                </a:solidFill>
                <a:effectLst/>
                <a:uFillTx/>
                <a:latin typeface="+mn-lt"/>
                <a:ea typeface="+mn-ea"/>
              </a:rPr>
              <a:t>&lt;number&gt;</a:t>
            </a:fld>
            <a:endParaRPr b="0" lang="en-US" sz="1200" strike="noStrike" u="none">
              <a:solidFill>
                <a:srgbClr val="2D2F38"/>
              </a:solidFill>
              <a:effectLst/>
              <a:uFillTx/>
              <a:latin typeface="Times New Roman"/>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0" name="PlaceHolder 1"/>
          <p:cNvSpPr>
            <a:spLocks noGrp="1"/>
          </p:cNvSpPr>
          <p:nvPr>
            <p:ph type="sldImg"/>
          </p:nvPr>
        </p:nvSpPr>
        <p:spPr>
          <a:xfrm>
            <a:off x="685800" y="1143000"/>
            <a:ext cx="5486040" cy="3085920"/>
          </a:xfrm>
          <a:prstGeom prst="rect">
            <a:avLst/>
          </a:prstGeom>
          <a:ln w="0">
            <a:noFill/>
          </a:ln>
        </p:spPr>
      </p:sp>
      <p:sp>
        <p:nvSpPr>
          <p:cNvPr id="341"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lnSpc>
                <a:spcPct val="100000"/>
              </a:lnSpc>
              <a:buNone/>
            </a:pPr>
            <a:r>
              <a:rPr b="0" lang="en-US" sz="2000" strike="noStrike" u="none">
                <a:solidFill>
                  <a:srgbClr val="2D2F38"/>
                </a:solidFill>
                <a:effectLst/>
                <a:uFillTx/>
                <a:latin typeface="Arial"/>
              </a:rPr>
              <a:t>This is one authored, fictional case-not real customer evidence. Seven documents were processed by local llama3.2:3b in 53.1 seconds, yielding 13 AI facts alongside 35 parser facts. Eight quotes were verbatim at their locators; five claims were only identifier matches and were flagged. Four of the eight verbatim quote spans did not contain the extracted raw value itself, because the value was on an adjacent line. We therefore do not claim model accuracy from these numbers.</a:t>
            </a:r>
            <a:endParaRPr b="0" lang="en-US" sz="2000" strike="noStrike" u="none">
              <a:solidFill>
                <a:srgbClr val="2D2F38"/>
              </a:solidFill>
              <a:effectLst/>
              <a:uFillTx/>
              <a:latin typeface="Arial"/>
            </a:endParaRPr>
          </a:p>
        </p:txBody>
      </p:sp>
      <p:sp>
        <p:nvSpPr>
          <p:cNvPr id="342" name="PlaceHolder 3"/>
          <p:cNvSpPr>
            <a:spLocks noGrp="1"/>
          </p:cNvSpPr>
          <p:nvPr>
            <p:ph type="sldNum" idx="17"/>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trike="noStrike" u="none">
                <a:solidFill>
                  <a:schemeClr val="dk1"/>
                </a:solidFill>
                <a:effectLst/>
                <a:uFillTx/>
                <a:latin typeface="+mn-lt"/>
                <a:ea typeface="+mn-ea"/>
              </a:defRPr>
            </a:lvl1pPr>
          </a:lstStyle>
          <a:p>
            <a:pPr indent="0" algn="r" defTabSz="914400">
              <a:lnSpc>
                <a:spcPct val="100000"/>
              </a:lnSpc>
              <a:buNone/>
            </a:pPr>
            <a:fld id="{8455CDF1-54D3-444D-9441-1E3AF00B4607}" type="slidenum">
              <a:rPr b="0" lang="en-US" sz="1200" strike="noStrike" u="none">
                <a:solidFill>
                  <a:schemeClr val="dk1"/>
                </a:solidFill>
                <a:effectLst/>
                <a:uFillTx/>
                <a:latin typeface="+mn-lt"/>
                <a:ea typeface="+mn-ea"/>
              </a:rPr>
              <a:t>&lt;number&gt;</a:t>
            </a:fld>
            <a:endParaRPr b="0" lang="en-US" sz="1200" strike="noStrike" u="none">
              <a:solidFill>
                <a:srgbClr val="2D2F38"/>
              </a:solidFill>
              <a:effectLst/>
              <a:uFillTx/>
              <a:latin typeface="Times New Roman"/>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3" name="PlaceHolder 1"/>
          <p:cNvSpPr>
            <a:spLocks noGrp="1"/>
          </p:cNvSpPr>
          <p:nvPr>
            <p:ph type="sldImg"/>
          </p:nvPr>
        </p:nvSpPr>
        <p:spPr>
          <a:xfrm>
            <a:off x="685800" y="1143000"/>
            <a:ext cx="5486040" cy="3085920"/>
          </a:xfrm>
          <a:prstGeom prst="rect">
            <a:avLst/>
          </a:prstGeom>
          <a:ln w="0">
            <a:noFill/>
          </a:ln>
        </p:spPr>
      </p:sp>
      <p:sp>
        <p:nvSpPr>
          <p:cNvPr id="344"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lnSpc>
                <a:spcPct val="100000"/>
              </a:lnSpc>
              <a:buNone/>
            </a:pPr>
            <a:r>
              <a:rPr b="0" lang="en-US" sz="2000" strike="noStrike" u="none">
                <a:solidFill>
                  <a:srgbClr val="2D2F38"/>
                </a:solidFill>
                <a:effectLst/>
                <a:uFillTx/>
                <a:latin typeface="Arial"/>
              </a:rPr>
              <a:t>The post-review trace returned finished lot FL-1021A and two customers, Bosveld and Highveld. A false-positive relationship to FL-1034C was rejected and excluded. RM-O873 was deferred, not merged. The input was 320 kg, recorded consumption was 180 kg, and downstream outputs are 6,600 units; without a verified conversion the system correctly leaves mass balance insufficient. The final possible-exposure set was empty, so explain this carefully: the ambiguity remains a finding; it is not being claimed as confirmed exposure.</a:t>
            </a:r>
            <a:endParaRPr b="0" lang="en-US" sz="2000" strike="noStrike" u="none">
              <a:solidFill>
                <a:srgbClr val="2D2F38"/>
              </a:solidFill>
              <a:effectLst/>
              <a:uFillTx/>
              <a:latin typeface="Arial"/>
            </a:endParaRPr>
          </a:p>
        </p:txBody>
      </p:sp>
      <p:sp>
        <p:nvSpPr>
          <p:cNvPr id="345" name="PlaceHolder 3"/>
          <p:cNvSpPr>
            <a:spLocks noGrp="1"/>
          </p:cNvSpPr>
          <p:nvPr>
            <p:ph type="sldNum" idx="18"/>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trike="noStrike" u="none">
                <a:solidFill>
                  <a:schemeClr val="dk1"/>
                </a:solidFill>
                <a:effectLst/>
                <a:uFillTx/>
                <a:latin typeface="+mn-lt"/>
                <a:ea typeface="+mn-ea"/>
              </a:defRPr>
            </a:lvl1pPr>
          </a:lstStyle>
          <a:p>
            <a:pPr indent="0" algn="r" defTabSz="914400">
              <a:lnSpc>
                <a:spcPct val="100000"/>
              </a:lnSpc>
              <a:buNone/>
            </a:pPr>
            <a:fld id="{A3463D64-22AA-4F5B-9B80-C3AA63F362C1}" type="slidenum">
              <a:rPr b="0" lang="en-US" sz="1200" strike="noStrike" u="none">
                <a:solidFill>
                  <a:schemeClr val="dk1"/>
                </a:solidFill>
                <a:effectLst/>
                <a:uFillTx/>
                <a:latin typeface="+mn-lt"/>
                <a:ea typeface="+mn-ea"/>
              </a:rPr>
              <a:t>&lt;number&gt;</a:t>
            </a:fld>
            <a:endParaRPr b="0" lang="en-US" sz="1200" strike="noStrike" u="none">
              <a:solidFill>
                <a:srgbClr val="2D2F38"/>
              </a:solidFill>
              <a:effectLst/>
              <a:uFillTx/>
              <a:latin typeface="Times New Roman"/>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6" name="PlaceHolder 1"/>
          <p:cNvSpPr>
            <a:spLocks noGrp="1"/>
          </p:cNvSpPr>
          <p:nvPr>
            <p:ph type="sldImg"/>
          </p:nvPr>
        </p:nvSpPr>
        <p:spPr>
          <a:xfrm>
            <a:off x="685800" y="1143000"/>
            <a:ext cx="5486040" cy="3085920"/>
          </a:xfrm>
          <a:prstGeom prst="rect">
            <a:avLst/>
          </a:prstGeom>
          <a:ln w="0">
            <a:noFill/>
          </a:ln>
        </p:spPr>
      </p:sp>
      <p:sp>
        <p:nvSpPr>
          <p:cNvPr id="347"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lnSpc>
                <a:spcPct val="100000"/>
              </a:lnSpc>
              <a:buNone/>
            </a:pPr>
            <a:r>
              <a:rPr b="0" lang="en-US" sz="2000" strike="noStrike" u="none">
                <a:solidFill>
                  <a:srgbClr val="2D2F38"/>
                </a:solidFill>
                <a:effectLst/>
                <a:uFillTx/>
                <a:latin typeface="Arial"/>
              </a:rPr>
              <a:t>Differentiation should be framed as a thesis: we focus on the messy investigation moment and evidence reconciliation. We do not yet have a competitive study or ERP integration proof, so those remain hypotheses. The credible part of the story is the human review gate, trace states, source references, and honest uncertainty.</a:t>
            </a:r>
            <a:endParaRPr b="0" lang="en-US" sz="2000" strike="noStrike" u="none">
              <a:solidFill>
                <a:srgbClr val="2D2F38"/>
              </a:solidFill>
              <a:effectLst/>
              <a:uFillTx/>
              <a:latin typeface="Arial"/>
            </a:endParaRPr>
          </a:p>
        </p:txBody>
      </p:sp>
      <p:sp>
        <p:nvSpPr>
          <p:cNvPr id="348" name="PlaceHolder 3"/>
          <p:cNvSpPr>
            <a:spLocks noGrp="1"/>
          </p:cNvSpPr>
          <p:nvPr>
            <p:ph type="sldNum" idx="19"/>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trike="noStrike" u="none">
                <a:solidFill>
                  <a:schemeClr val="dk1"/>
                </a:solidFill>
                <a:effectLst/>
                <a:uFillTx/>
                <a:latin typeface="+mn-lt"/>
                <a:ea typeface="+mn-ea"/>
              </a:defRPr>
            </a:lvl1pPr>
          </a:lstStyle>
          <a:p>
            <a:pPr indent="0" algn="r" defTabSz="914400">
              <a:lnSpc>
                <a:spcPct val="100000"/>
              </a:lnSpc>
              <a:buNone/>
            </a:pPr>
            <a:fld id="{3434D0FA-3BC4-4808-A4AF-997ECF79093A}" type="slidenum">
              <a:rPr b="0" lang="en-US" sz="1200" strike="noStrike" u="none">
                <a:solidFill>
                  <a:schemeClr val="dk1"/>
                </a:solidFill>
                <a:effectLst/>
                <a:uFillTx/>
                <a:latin typeface="+mn-lt"/>
                <a:ea typeface="+mn-ea"/>
              </a:rPr>
              <a:t>&lt;number&gt;</a:t>
            </a:fld>
            <a:endParaRPr b="0" lang="en-US" sz="1200" strike="noStrike" u="none">
              <a:solidFill>
                <a:srgbClr val="2D2F38"/>
              </a:solidFill>
              <a:effectLst/>
              <a:uFillTx/>
              <a:latin typeface="Times New Roman"/>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9" name="PlaceHolder 1"/>
          <p:cNvSpPr>
            <a:spLocks noGrp="1"/>
          </p:cNvSpPr>
          <p:nvPr>
            <p:ph type="sldImg"/>
          </p:nvPr>
        </p:nvSpPr>
        <p:spPr>
          <a:xfrm>
            <a:off x="685800" y="1143000"/>
            <a:ext cx="5486040" cy="3085920"/>
          </a:xfrm>
          <a:prstGeom prst="rect">
            <a:avLst/>
          </a:prstGeom>
          <a:ln w="0">
            <a:noFill/>
          </a:ln>
        </p:spPr>
      </p:sp>
      <p:sp>
        <p:nvSpPr>
          <p:cNvPr id="350"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lnSpc>
                <a:spcPct val="100000"/>
              </a:lnSpc>
              <a:buNone/>
            </a:pPr>
            <a:r>
              <a:rPr b="0" lang="en-US" sz="2000" strike="noStrike" u="none">
                <a:solidFill>
                  <a:srgbClr val="2D2F38"/>
                </a:solidFill>
                <a:effectLst/>
                <a:uFillTx/>
                <a:latin typeface="Arial"/>
              </a:rPr>
              <a:t>The numbers here come from one controlled run. Extraction took 53.1 seconds for seven documents. Eight cited quote spans were verbatim at the line, five identifier-only claims were flagged. Four of the eight quote-verified claims did not include the raw value in the quote itself. All 48 facts were still unreviewed in that run. The final trace matched this scenario's prewritten expected scope, but the scenario was authored and this is not independent validation or a statistical accuracy measure.</a:t>
            </a:r>
            <a:endParaRPr b="0" lang="en-US" sz="2000" strike="noStrike" u="none">
              <a:solidFill>
                <a:srgbClr val="2D2F38"/>
              </a:solidFill>
              <a:effectLst/>
              <a:uFillTx/>
              <a:latin typeface="Arial"/>
            </a:endParaRPr>
          </a:p>
        </p:txBody>
      </p:sp>
      <p:sp>
        <p:nvSpPr>
          <p:cNvPr id="351" name="PlaceHolder 3"/>
          <p:cNvSpPr>
            <a:spLocks noGrp="1"/>
          </p:cNvSpPr>
          <p:nvPr>
            <p:ph type="sldNum" idx="20"/>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trike="noStrike" u="none">
                <a:solidFill>
                  <a:schemeClr val="dk1"/>
                </a:solidFill>
                <a:effectLst/>
                <a:uFillTx/>
                <a:latin typeface="+mn-lt"/>
                <a:ea typeface="+mn-ea"/>
              </a:defRPr>
            </a:lvl1pPr>
          </a:lstStyle>
          <a:p>
            <a:pPr indent="0" algn="r" defTabSz="914400">
              <a:lnSpc>
                <a:spcPct val="100000"/>
              </a:lnSpc>
              <a:buNone/>
            </a:pPr>
            <a:fld id="{E18AAC4D-1E90-4215-B8B1-C6F53B38276F}" type="slidenum">
              <a:rPr b="0" lang="en-US" sz="1200" strike="noStrike" u="none">
                <a:solidFill>
                  <a:schemeClr val="dk1"/>
                </a:solidFill>
                <a:effectLst/>
                <a:uFillTx/>
                <a:latin typeface="+mn-lt"/>
                <a:ea typeface="+mn-ea"/>
              </a:rPr>
              <a:t>&lt;number&gt;</a:t>
            </a:fld>
            <a:endParaRPr b="0" lang="en-US" sz="1200" strike="noStrike" u="none">
              <a:solidFill>
                <a:srgbClr val="2D2F38"/>
              </a:solidFill>
              <a:effectLst/>
              <a:uFillTx/>
              <a:latin typeface="Times New Roman"/>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2" name="PlaceHolder 1"/>
          <p:cNvSpPr>
            <a:spLocks noGrp="1"/>
          </p:cNvSpPr>
          <p:nvPr>
            <p:ph type="sldImg"/>
          </p:nvPr>
        </p:nvSpPr>
        <p:spPr>
          <a:xfrm>
            <a:off x="685800" y="1143000"/>
            <a:ext cx="5486040" cy="3085920"/>
          </a:xfrm>
          <a:prstGeom prst="rect">
            <a:avLst/>
          </a:prstGeom>
          <a:ln w="0">
            <a:noFill/>
          </a:ln>
        </p:spPr>
      </p:sp>
      <p:sp>
        <p:nvSpPr>
          <p:cNvPr id="353"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lnSpc>
                <a:spcPct val="100000"/>
              </a:lnSpc>
              <a:buNone/>
            </a:pPr>
            <a:r>
              <a:rPr b="0" lang="en-US" sz="2000" strike="noStrike" u="none">
                <a:solidFill>
                  <a:srgbClr val="2D2F38"/>
                </a:solidFill>
                <a:effectLst/>
                <a:uFillTx/>
                <a:latin typeface="Arial"/>
              </a:rPr>
              <a:t>Close with a concrete ask: we want a practitioner to review the workflow, a safe dataset that reflects real operational documents, and an opportunity to compare a manual mock recall against the tool. We are not asking judges to accept unsupported claims of time saved, accuracy or market demand.</a:t>
            </a:r>
            <a:endParaRPr b="0" lang="en-US" sz="2000" strike="noStrike" u="none">
              <a:solidFill>
                <a:srgbClr val="2D2F38"/>
              </a:solidFill>
              <a:effectLst/>
              <a:uFillTx/>
              <a:latin typeface="Arial"/>
            </a:endParaRPr>
          </a:p>
        </p:txBody>
      </p:sp>
      <p:sp>
        <p:nvSpPr>
          <p:cNvPr id="354" name="PlaceHolder 3"/>
          <p:cNvSpPr>
            <a:spLocks noGrp="1"/>
          </p:cNvSpPr>
          <p:nvPr>
            <p:ph type="sldNum" idx="21"/>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trike="noStrike" u="none">
                <a:solidFill>
                  <a:schemeClr val="dk1"/>
                </a:solidFill>
                <a:effectLst/>
                <a:uFillTx/>
                <a:latin typeface="+mn-lt"/>
                <a:ea typeface="+mn-ea"/>
              </a:defRPr>
            </a:lvl1pPr>
          </a:lstStyle>
          <a:p>
            <a:pPr indent="0" algn="r" defTabSz="914400">
              <a:lnSpc>
                <a:spcPct val="100000"/>
              </a:lnSpc>
              <a:buNone/>
            </a:pPr>
            <a:fld id="{2B085800-B031-4F78-9B56-D8895D596548}" type="slidenum">
              <a:rPr b="0" lang="en-US" sz="1200" strike="noStrike" u="none">
                <a:solidFill>
                  <a:schemeClr val="dk1"/>
                </a:solidFill>
                <a:effectLst/>
                <a:uFillTx/>
                <a:latin typeface="+mn-lt"/>
                <a:ea typeface="+mn-ea"/>
              </a:rPr>
              <a:t>&lt;number&gt;</a:t>
            </a:fld>
            <a:endParaRPr b="0" lang="en-US" sz="1200" strike="noStrike" u="none">
              <a:solidFill>
                <a:srgbClr val="2D2F38"/>
              </a:solidFill>
              <a:effectLst/>
              <a:uFillTx/>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p:bg>
      <p:bgPr>
        <a:solidFill>
          <a:srgbClr val="ffffff"/>
        </a:solidFill>
      </p:bgPr>
    </p:bg>
    <p:spTree>
      <p:nvGrpSpPr>
        <p:cNvPr id="1" name=""/>
        <p:cNvGrpSpPr/>
        <p:nvPr/>
      </p:nvGrpSpPr>
      <p:grpSpPr>
        <a:xfrm>
          <a:off x="0" y="0"/>
          <a:ext cx="0" cy="0"/>
          <a:chOff x="0" y="0"/>
          <a:chExt cx="0" cy="0"/>
        </a:xfrm>
      </p:grpSpPr>
      <p:sp>
        <p:nvSpPr>
          <p:cNvPr id="0"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buNone/>
            </a:pPr>
            <a:r>
              <a:rPr b="0" lang="en-US" sz="1800" strike="noStrike" u="none">
                <a:solidFill>
                  <a:schemeClr val="dk1"/>
                </a:solidFill>
                <a:effectLst/>
                <a:uFillTx/>
                <a:latin typeface="Aptos"/>
              </a:rPr>
              <a:t>Click to edit the title text format</a:t>
            </a:r>
            <a:endParaRPr b="0" lang="en-US" sz="1800" strike="noStrike" u="none">
              <a:solidFill>
                <a:schemeClr val="dk1"/>
              </a:solidFill>
              <a:effectLst/>
              <a:uFillTx/>
              <a:latin typeface="Aptos"/>
            </a:endParaRPr>
          </a:p>
        </p:txBody>
      </p:sp>
      <p:sp>
        <p:nvSpPr>
          <p:cNvPr id="1" name="PlaceHolder 2"/>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spcBef>
                <a:spcPts val="1417"/>
              </a:spcBef>
              <a:buClr>
                <a:srgbClr val="2D2F38"/>
              </a:buClr>
              <a:buSzPct val="45000"/>
              <a:buFont typeface="Wingdings" charset="2"/>
              <a:buChar char=""/>
            </a:pPr>
            <a:r>
              <a:rPr b="0" lang="en-US" sz="3200" strike="noStrike" u="none">
                <a:solidFill>
                  <a:schemeClr val="dk1"/>
                </a:solidFill>
                <a:effectLst/>
                <a:uFillTx/>
                <a:latin typeface="Aptos"/>
              </a:rPr>
              <a:t>Click to edit the outline text format</a:t>
            </a:r>
            <a:endParaRPr b="0" lang="en-US" sz="3200" strike="noStrike" u="none">
              <a:solidFill>
                <a:schemeClr val="dk1"/>
              </a:solidFill>
              <a:effectLst/>
              <a:uFillTx/>
              <a:latin typeface="Aptos"/>
            </a:endParaRPr>
          </a:p>
          <a:p>
            <a:pPr lvl="1" marL="864000" indent="-324000">
              <a:spcBef>
                <a:spcPts val="1134"/>
              </a:spcBef>
              <a:buClr>
                <a:srgbClr val="2D2F38"/>
              </a:buClr>
              <a:buSzPct val="75000"/>
              <a:buFont typeface="Symbol" charset="2"/>
              <a:buChar char=""/>
            </a:pPr>
            <a:r>
              <a:rPr b="0" lang="en-US" sz="2400" strike="noStrike" u="none">
                <a:solidFill>
                  <a:schemeClr val="dk1"/>
                </a:solidFill>
                <a:effectLst/>
                <a:uFillTx/>
                <a:latin typeface="Aptos"/>
              </a:rPr>
              <a:t>Second Outline Level</a:t>
            </a:r>
            <a:endParaRPr b="0" lang="en-US" sz="2400" strike="noStrike" u="none">
              <a:solidFill>
                <a:schemeClr val="dk1"/>
              </a:solidFill>
              <a:effectLst/>
              <a:uFillTx/>
              <a:latin typeface="Aptos"/>
            </a:endParaRPr>
          </a:p>
          <a:p>
            <a:pPr lvl="2" marL="1296000" indent="-288000">
              <a:spcBef>
                <a:spcPts val="850"/>
              </a:spcBef>
              <a:buClr>
                <a:srgbClr val="2D2F38"/>
              </a:buClr>
              <a:buSzPct val="45000"/>
              <a:buFont typeface="Wingdings" charset="2"/>
              <a:buChar char=""/>
            </a:pPr>
            <a:r>
              <a:rPr b="0" lang="en-US" sz="2000" strike="noStrike" u="none">
                <a:solidFill>
                  <a:schemeClr val="dk1"/>
                </a:solidFill>
                <a:effectLst/>
                <a:uFillTx/>
                <a:latin typeface="Aptos"/>
              </a:rPr>
              <a:t>Third Outline Level</a:t>
            </a:r>
            <a:endParaRPr b="0" lang="en-US" sz="2000" strike="noStrike" u="none">
              <a:solidFill>
                <a:schemeClr val="dk1"/>
              </a:solidFill>
              <a:effectLst/>
              <a:uFillTx/>
              <a:latin typeface="Aptos"/>
            </a:endParaRPr>
          </a:p>
          <a:p>
            <a:pPr lvl="3" marL="1728000" indent="-216000">
              <a:spcBef>
                <a:spcPts val="567"/>
              </a:spcBef>
              <a:buClr>
                <a:srgbClr val="2D2F38"/>
              </a:buClr>
              <a:buSzPct val="75000"/>
              <a:buFont typeface="Symbol" charset="2"/>
              <a:buChar char=""/>
            </a:pPr>
            <a:r>
              <a:rPr b="0" lang="en-US" sz="2000" strike="noStrike" u="none">
                <a:solidFill>
                  <a:schemeClr val="dk1"/>
                </a:solidFill>
                <a:effectLst/>
                <a:uFillTx/>
                <a:latin typeface="Aptos"/>
              </a:rPr>
              <a:t>Fourth Outline Level</a:t>
            </a:r>
            <a:endParaRPr b="0" lang="en-US" sz="2000" strike="noStrike" u="none">
              <a:solidFill>
                <a:schemeClr val="dk1"/>
              </a:solidFill>
              <a:effectLst/>
              <a:uFillTx/>
              <a:latin typeface="Aptos"/>
            </a:endParaRPr>
          </a:p>
          <a:p>
            <a:pPr lvl="4" marL="2160000" indent="-216000">
              <a:spcBef>
                <a:spcPts val="283"/>
              </a:spcBef>
              <a:buClr>
                <a:srgbClr val="2D2F38"/>
              </a:buClr>
              <a:buSzPct val="45000"/>
              <a:buFont typeface="Wingdings" charset="2"/>
              <a:buChar char=""/>
            </a:pPr>
            <a:r>
              <a:rPr b="0" lang="en-US" sz="2000" strike="noStrike" u="none">
                <a:solidFill>
                  <a:schemeClr val="dk1"/>
                </a:solidFill>
                <a:effectLst/>
                <a:uFillTx/>
                <a:latin typeface="Aptos"/>
              </a:rPr>
              <a:t>Fifth Outline Level</a:t>
            </a:r>
            <a:endParaRPr b="0" lang="en-US" sz="2000" strike="noStrike" u="none">
              <a:solidFill>
                <a:schemeClr val="dk1"/>
              </a:solidFill>
              <a:effectLst/>
              <a:uFillTx/>
              <a:latin typeface="Aptos"/>
            </a:endParaRPr>
          </a:p>
          <a:p>
            <a:pPr lvl="5" marL="2592000" indent="-216000">
              <a:spcBef>
                <a:spcPts val="283"/>
              </a:spcBef>
              <a:buClr>
                <a:srgbClr val="2D2F38"/>
              </a:buClr>
              <a:buSzPct val="45000"/>
              <a:buFont typeface="Wingdings" charset="2"/>
              <a:buChar char=""/>
            </a:pPr>
            <a:r>
              <a:rPr b="0" lang="en-US" sz="2000" strike="noStrike" u="none">
                <a:solidFill>
                  <a:schemeClr val="dk1"/>
                </a:solidFill>
                <a:effectLst/>
                <a:uFillTx/>
                <a:latin typeface="Aptos"/>
              </a:rPr>
              <a:t>Sixth Outline Level</a:t>
            </a:r>
            <a:endParaRPr b="0" lang="en-US" sz="2000" strike="noStrike" u="none">
              <a:solidFill>
                <a:schemeClr val="dk1"/>
              </a:solidFill>
              <a:effectLst/>
              <a:uFillTx/>
              <a:latin typeface="Aptos"/>
            </a:endParaRPr>
          </a:p>
          <a:p>
            <a:pPr lvl="6" marL="3024000" indent="-216000">
              <a:spcBef>
                <a:spcPts val="283"/>
              </a:spcBef>
              <a:buClr>
                <a:srgbClr val="2D2F38"/>
              </a:buClr>
              <a:buSzPct val="45000"/>
              <a:buFont typeface="Wingdings" charset="2"/>
              <a:buChar char=""/>
            </a:pPr>
            <a:r>
              <a:rPr b="0" lang="en-US" sz="2000" strike="noStrike" u="none">
                <a:solidFill>
                  <a:schemeClr val="dk1"/>
                </a:solidFill>
                <a:effectLst/>
                <a:uFillTx/>
                <a:latin typeface="Aptos"/>
              </a:rPr>
              <a:t>Seventh Outline Level</a:t>
            </a:r>
            <a:endParaRPr b="0" lang="en-US" sz="2000" strike="noStrike" u="none">
              <a:solidFill>
                <a:schemeClr val="dk1"/>
              </a:solidFill>
              <a:effectLst/>
              <a:uFillTx/>
              <a:latin typeface="Aptos"/>
            </a:endParaRP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MASTER">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475200" y="6510240"/>
            <a:ext cx="11229120" cy="360"/>
          </a:xfrm>
          <a:prstGeom prst="line">
            <a:avLst/>
          </a:prstGeom>
          <a:ln w="8890">
            <a:solidFill>
              <a:srgbClr val="E5E8F0"/>
            </a:solidFill>
            <a:round/>
          </a:ln>
        </p:spPr>
        <p:style>
          <a:lnRef idx="0"/>
          <a:fillRef idx="0"/>
          <a:effectRef idx="0"/>
          <a:fontRef idx="minor"/>
        </p:style>
        <p:txBody>
          <a:bodyPr lIns="90000" rIns="90000" tIns="-44640" bIns="-44640" anchor="t" anchorCtr="1">
            <a:noAutofit/>
          </a:bodyPr>
          <a:p>
            <a:endParaRPr b="0" lang="en-US" sz="1800" strike="noStrike" u="none">
              <a:solidFill>
                <a:srgbClr val="2D2F38"/>
              </a:solidFill>
              <a:effectLst/>
              <a:uFillTx/>
              <a:latin typeface="Arial"/>
            </a:endParaRPr>
          </a:p>
        </p:txBody>
      </p:sp>
      <p:sp>
        <p:nvSpPr>
          <p:cNvPr id="3" name="Text 1"/>
          <p:cNvSpPr/>
          <p:nvPr/>
        </p:nvSpPr>
        <p:spPr>
          <a:xfrm>
            <a:off x="502920" y="6574680"/>
            <a:ext cx="5668920" cy="1278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750" spc="105" strike="noStrike" u="none">
                <a:solidFill>
                  <a:srgbClr val="626B7B"/>
                </a:solidFill>
                <a:effectLst/>
                <a:uFillTx/>
                <a:latin typeface="Aptos"/>
                <a:ea typeface="Aptos"/>
              </a:rPr>
              <a:t>KLARROW  /  EVIDENCE RECONCILIATION</a:t>
            </a:r>
            <a:endParaRPr b="0" lang="en-US" sz="750" strike="noStrike" u="none">
              <a:solidFill>
                <a:srgbClr val="2D2F38"/>
              </a:solidFill>
              <a:effectLst/>
              <a:uFillTx/>
              <a:latin typeface="Arial"/>
            </a:endParaRPr>
          </a:p>
        </p:txBody>
      </p:sp>
      <p:sp>
        <p:nvSpPr>
          <p:cNvPr id="4" name="Text 2"/>
          <p:cNvSpPr/>
          <p:nvPr/>
        </p:nvSpPr>
        <p:spPr>
          <a:xfrm>
            <a:off x="9235440" y="6574680"/>
            <a:ext cx="2450160" cy="12780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0" lang="en-US" sz="750" spc="79" strike="noStrike" u="none">
                <a:solidFill>
                  <a:srgbClr val="626B7B"/>
                </a:solidFill>
                <a:effectLst/>
                <a:uFillTx/>
                <a:latin typeface="Aptos"/>
                <a:ea typeface="Aptos"/>
              </a:rPr>
              <a:t>PITCH DRAFT · OCT 2026</a:t>
            </a:r>
            <a:endParaRPr b="0" lang="en-US" sz="750" strike="noStrike" u="none">
              <a:solidFill>
                <a:srgbClr val="2D2F38"/>
              </a:solidFill>
              <a:effectLst/>
              <a:uFillTx/>
              <a:latin typeface="Arial"/>
            </a:endParaRPr>
          </a:p>
        </p:txBody>
      </p:sp>
      <p:sp>
        <p:nvSpPr>
          <p:cNvPr id="5" name="PlaceHolder 1"/>
          <p:cNvSpPr>
            <a:spLocks noGrp="1"/>
          </p:cNvSpPr>
          <p:nvPr>
            <p:ph type="sldNum" idx="1"/>
          </p:nvPr>
        </p:nvSpPr>
        <p:spPr>
          <a:xfrm>
            <a:off x="11685960" y="6565320"/>
            <a:ext cx="799560" cy="299520"/>
          </a:xfrm>
          <a:prstGeom prst="rect">
            <a:avLst/>
          </a:prstGeom>
          <a:noFill/>
          <a:ln w="0">
            <a:noFill/>
          </a:ln>
        </p:spPr>
        <p:txBody>
          <a:bodyPr lIns="90000" rIns="90000" tIns="45000" bIns="45000" anchor="t">
            <a:noAutofit/>
          </a:bodyPr>
          <a:lstStyle>
            <a:lvl1pPr indent="0" defTabSz="914400">
              <a:lnSpc>
                <a:spcPct val="100000"/>
              </a:lnSpc>
              <a:buNone/>
              <a:defRPr b="0" lang="en-US" sz="700" strike="noStrike" u="none">
                <a:solidFill>
                  <a:srgbClr val="626B7B"/>
                </a:solidFill>
                <a:effectLst/>
                <a:uFillTx/>
                <a:latin typeface="Aptos"/>
                <a:ea typeface="Aptos"/>
              </a:defRPr>
            </a:lvl1pPr>
          </a:lstStyle>
          <a:p>
            <a:pPr indent="0" defTabSz="914400">
              <a:lnSpc>
                <a:spcPct val="100000"/>
              </a:lnSpc>
              <a:buNone/>
            </a:pPr>
            <a:fld id="{553F12F0-021E-4161-87A8-301C76112FF1}" type="slidenum">
              <a:rPr b="0" lang="en-US" sz="700" strike="noStrike" u="none">
                <a:solidFill>
                  <a:srgbClr val="626B7B"/>
                </a:solidFill>
                <a:effectLst/>
                <a:uFillTx/>
                <a:latin typeface="Aptos"/>
                <a:ea typeface="Aptos"/>
              </a:rPr>
              <a:t>&lt;number&gt;</a:t>
            </a:fld>
            <a:endParaRPr b="0" lang="en-US" sz="700" strike="noStrike" u="none">
              <a:solidFill>
                <a:srgbClr val="2D2F38"/>
              </a:solidFill>
              <a:effectLst/>
              <a:uFillTx/>
              <a:latin typeface="Times New Roman"/>
            </a:endParaRPr>
          </a:p>
        </p:txBody>
      </p:sp>
      <p:sp>
        <p:nvSpPr>
          <p:cNvPr id="6" name="PlaceHolder 2"/>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buNone/>
            </a:pPr>
            <a:r>
              <a:rPr b="0" lang="en-US" sz="1800" strike="noStrike" u="none">
                <a:solidFill>
                  <a:schemeClr val="dk1"/>
                </a:solidFill>
                <a:effectLst/>
                <a:uFillTx/>
                <a:latin typeface="Aptos"/>
              </a:rPr>
              <a:t>Click to edit the title text format</a:t>
            </a:r>
            <a:endParaRPr b="0" lang="en-US" sz="1800" strike="noStrike" u="none">
              <a:solidFill>
                <a:schemeClr val="dk1"/>
              </a:solidFill>
              <a:effectLst/>
              <a:uFillTx/>
              <a:latin typeface="Aptos"/>
            </a:endParaRPr>
          </a:p>
        </p:txBody>
      </p:sp>
      <p:sp>
        <p:nvSpPr>
          <p:cNvPr id="7" name="PlaceHolder 3"/>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spcBef>
                <a:spcPts val="1417"/>
              </a:spcBef>
              <a:buClr>
                <a:srgbClr val="2D2F38"/>
              </a:buClr>
              <a:buSzPct val="45000"/>
              <a:buFont typeface="Wingdings" charset="2"/>
              <a:buChar char=""/>
            </a:pPr>
            <a:r>
              <a:rPr b="0" lang="en-US" sz="3200" strike="noStrike" u="none">
                <a:solidFill>
                  <a:schemeClr val="dk1"/>
                </a:solidFill>
                <a:effectLst/>
                <a:uFillTx/>
                <a:latin typeface="Aptos"/>
              </a:rPr>
              <a:t>Click to edit the outline text format</a:t>
            </a:r>
            <a:endParaRPr b="0" lang="en-US" sz="3200" strike="noStrike" u="none">
              <a:solidFill>
                <a:schemeClr val="dk1"/>
              </a:solidFill>
              <a:effectLst/>
              <a:uFillTx/>
              <a:latin typeface="Aptos"/>
            </a:endParaRPr>
          </a:p>
          <a:p>
            <a:pPr lvl="1" marL="864000" indent="-324000">
              <a:spcBef>
                <a:spcPts val="1134"/>
              </a:spcBef>
              <a:buClr>
                <a:srgbClr val="2D2F38"/>
              </a:buClr>
              <a:buSzPct val="75000"/>
              <a:buFont typeface="Symbol" charset="2"/>
              <a:buChar char=""/>
            </a:pPr>
            <a:r>
              <a:rPr b="0" lang="en-US" sz="2400" strike="noStrike" u="none">
                <a:solidFill>
                  <a:schemeClr val="dk1"/>
                </a:solidFill>
                <a:effectLst/>
                <a:uFillTx/>
                <a:latin typeface="Aptos"/>
              </a:rPr>
              <a:t>Second Outline Level</a:t>
            </a:r>
            <a:endParaRPr b="0" lang="en-US" sz="2400" strike="noStrike" u="none">
              <a:solidFill>
                <a:schemeClr val="dk1"/>
              </a:solidFill>
              <a:effectLst/>
              <a:uFillTx/>
              <a:latin typeface="Aptos"/>
            </a:endParaRPr>
          </a:p>
          <a:p>
            <a:pPr lvl="2" marL="1296000" indent="-288000">
              <a:spcBef>
                <a:spcPts val="850"/>
              </a:spcBef>
              <a:buClr>
                <a:srgbClr val="2D2F38"/>
              </a:buClr>
              <a:buSzPct val="45000"/>
              <a:buFont typeface="Wingdings" charset="2"/>
              <a:buChar char=""/>
            </a:pPr>
            <a:r>
              <a:rPr b="0" lang="en-US" sz="2000" strike="noStrike" u="none">
                <a:solidFill>
                  <a:schemeClr val="dk1"/>
                </a:solidFill>
                <a:effectLst/>
                <a:uFillTx/>
                <a:latin typeface="Aptos"/>
              </a:rPr>
              <a:t>Third Outline Level</a:t>
            </a:r>
            <a:endParaRPr b="0" lang="en-US" sz="2000" strike="noStrike" u="none">
              <a:solidFill>
                <a:schemeClr val="dk1"/>
              </a:solidFill>
              <a:effectLst/>
              <a:uFillTx/>
              <a:latin typeface="Aptos"/>
            </a:endParaRPr>
          </a:p>
          <a:p>
            <a:pPr lvl="3" marL="1728000" indent="-216000">
              <a:spcBef>
                <a:spcPts val="567"/>
              </a:spcBef>
              <a:buClr>
                <a:srgbClr val="2D2F38"/>
              </a:buClr>
              <a:buSzPct val="75000"/>
              <a:buFont typeface="Symbol" charset="2"/>
              <a:buChar char=""/>
            </a:pPr>
            <a:r>
              <a:rPr b="0" lang="en-US" sz="2000" strike="noStrike" u="none">
                <a:solidFill>
                  <a:schemeClr val="dk1"/>
                </a:solidFill>
                <a:effectLst/>
                <a:uFillTx/>
                <a:latin typeface="Aptos"/>
              </a:rPr>
              <a:t>Fourth Outline Level</a:t>
            </a:r>
            <a:endParaRPr b="0" lang="en-US" sz="2000" strike="noStrike" u="none">
              <a:solidFill>
                <a:schemeClr val="dk1"/>
              </a:solidFill>
              <a:effectLst/>
              <a:uFillTx/>
              <a:latin typeface="Aptos"/>
            </a:endParaRPr>
          </a:p>
          <a:p>
            <a:pPr lvl="4" marL="2160000" indent="-216000">
              <a:spcBef>
                <a:spcPts val="283"/>
              </a:spcBef>
              <a:buClr>
                <a:srgbClr val="2D2F38"/>
              </a:buClr>
              <a:buSzPct val="45000"/>
              <a:buFont typeface="Wingdings" charset="2"/>
              <a:buChar char=""/>
            </a:pPr>
            <a:r>
              <a:rPr b="0" lang="en-US" sz="2000" strike="noStrike" u="none">
                <a:solidFill>
                  <a:schemeClr val="dk1"/>
                </a:solidFill>
                <a:effectLst/>
                <a:uFillTx/>
                <a:latin typeface="Aptos"/>
              </a:rPr>
              <a:t>Fifth Outline Level</a:t>
            </a:r>
            <a:endParaRPr b="0" lang="en-US" sz="2000" strike="noStrike" u="none">
              <a:solidFill>
                <a:schemeClr val="dk1"/>
              </a:solidFill>
              <a:effectLst/>
              <a:uFillTx/>
              <a:latin typeface="Aptos"/>
            </a:endParaRPr>
          </a:p>
          <a:p>
            <a:pPr lvl="5" marL="2592000" indent="-216000">
              <a:spcBef>
                <a:spcPts val="283"/>
              </a:spcBef>
              <a:buClr>
                <a:srgbClr val="2D2F38"/>
              </a:buClr>
              <a:buSzPct val="45000"/>
              <a:buFont typeface="Wingdings" charset="2"/>
              <a:buChar char=""/>
            </a:pPr>
            <a:r>
              <a:rPr b="0" lang="en-US" sz="2000" strike="noStrike" u="none">
                <a:solidFill>
                  <a:schemeClr val="dk1"/>
                </a:solidFill>
                <a:effectLst/>
                <a:uFillTx/>
                <a:latin typeface="Aptos"/>
              </a:rPr>
              <a:t>Sixth Outline Level</a:t>
            </a:r>
            <a:endParaRPr b="0" lang="en-US" sz="2000" strike="noStrike" u="none">
              <a:solidFill>
                <a:schemeClr val="dk1"/>
              </a:solidFill>
              <a:effectLst/>
              <a:uFillTx/>
              <a:latin typeface="Aptos"/>
            </a:endParaRPr>
          </a:p>
          <a:p>
            <a:pPr lvl="6" marL="3024000" indent="-216000">
              <a:spcBef>
                <a:spcPts val="283"/>
              </a:spcBef>
              <a:buClr>
                <a:srgbClr val="2D2F38"/>
              </a:buClr>
              <a:buSzPct val="45000"/>
              <a:buFont typeface="Wingdings" charset="2"/>
              <a:buChar char=""/>
            </a:pPr>
            <a:r>
              <a:rPr b="0" lang="en-US" sz="2000" strike="noStrike" u="none">
                <a:solidFill>
                  <a:schemeClr val="dk1"/>
                </a:solidFill>
                <a:effectLst/>
                <a:uFillTx/>
                <a:latin typeface="Aptos"/>
              </a:rPr>
              <a:t>Seventh Outline Level</a:t>
            </a:r>
            <a:endParaRPr b="0" lang="en-US" sz="2000" strike="noStrike" u="none">
              <a:solidFill>
                <a:schemeClr val="dk1"/>
              </a:solidFill>
              <a:effectLst/>
              <a:uFillTx/>
              <a:latin typeface="Aptos"/>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2"/>
    <p:sldLayoutId id="2147483650" r:id="rId3"/>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2D2F38"/>
        </a:solidFill>
      </p:bgPr>
    </p:bg>
    <p:spTree>
      <p:nvGrpSpPr>
        <p:cNvPr id="1" name=""/>
        <p:cNvGrpSpPr/>
        <p:nvPr/>
      </p:nvGrpSpPr>
      <p:grpSpPr>
        <a:xfrm>
          <a:off x="0" y="0"/>
          <a:ext cx="0" cy="0"/>
          <a:chOff x="0" y="0"/>
          <a:chExt cx="0" cy="0"/>
        </a:xfrm>
      </p:grpSpPr>
      <p:sp>
        <p:nvSpPr>
          <p:cNvPr id="14" name="Shape 0"/>
          <p:cNvSpPr/>
          <p:nvPr/>
        </p:nvSpPr>
        <p:spPr>
          <a:xfrm>
            <a:off x="566640" y="6318360"/>
            <a:ext cx="11018520" cy="360"/>
          </a:xfrm>
          <a:prstGeom prst="line">
            <a:avLst/>
          </a:prstGeom>
          <a:ln w="10160">
            <a:solidFill>
              <a:srgbClr val="B9C1D0"/>
            </a:solidFill>
            <a:round/>
          </a:ln>
        </p:spPr>
        <p:style>
          <a:lnRef idx="0"/>
          <a:fillRef idx="0"/>
          <a:effectRef idx="0"/>
          <a:fontRef idx="minor"/>
        </p:style>
        <p:txBody>
          <a:bodyPr lIns="90000" rIns="90000" tIns="-44640" bIns="-44640" anchor="t" anchorCtr="1">
            <a:noAutofit/>
          </a:bodyPr>
          <a:p>
            <a:endParaRPr b="0" lang="en-US" sz="1800" strike="noStrike" u="none">
              <a:solidFill>
                <a:srgbClr val="ffffff"/>
              </a:solidFill>
              <a:effectLst/>
              <a:uFillTx/>
              <a:latin typeface="Arial"/>
            </a:endParaRPr>
          </a:p>
        </p:txBody>
      </p:sp>
      <p:sp>
        <p:nvSpPr>
          <p:cNvPr id="15" name="Text 1"/>
          <p:cNvSpPr/>
          <p:nvPr/>
        </p:nvSpPr>
        <p:spPr>
          <a:xfrm>
            <a:off x="658440" y="567000"/>
            <a:ext cx="5028840" cy="3196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300" spc="329" strike="noStrike" u="none">
                <a:solidFill>
                  <a:srgbClr val="A0A6B4"/>
                </a:solidFill>
                <a:effectLst/>
                <a:uFillTx/>
                <a:latin typeface="Aptos"/>
                <a:ea typeface="Aptos"/>
              </a:rPr>
              <a:t>KLARROW</a:t>
            </a:r>
            <a:endParaRPr b="0" lang="en-US" sz="1300" strike="noStrike" u="none">
              <a:solidFill>
                <a:srgbClr val="ffffff"/>
              </a:solidFill>
              <a:effectLst/>
              <a:uFillTx/>
              <a:latin typeface="Arial"/>
            </a:endParaRPr>
          </a:p>
        </p:txBody>
      </p:sp>
      <p:sp>
        <p:nvSpPr>
          <p:cNvPr id="16" name="Text 2"/>
          <p:cNvSpPr/>
          <p:nvPr/>
        </p:nvSpPr>
        <p:spPr>
          <a:xfrm>
            <a:off x="658440" y="1234440"/>
            <a:ext cx="6583320" cy="1325520"/>
          </a:xfrm>
          <a:prstGeom prst="rect">
            <a:avLst/>
          </a:prstGeom>
          <a:noFill/>
          <a:ln w="0">
            <a:noFill/>
          </a:ln>
        </p:spPr>
        <p:style>
          <a:lnRef idx="0"/>
          <a:fillRef idx="0"/>
          <a:effectRef idx="0"/>
          <a:fontRef idx="minor"/>
        </p:style>
        <p:txBody>
          <a:bodyPr lIns="0" rIns="0" tIns="0" bIns="0" anchor="t">
            <a:normAutofit/>
          </a:bodyPr>
          <a:p>
            <a:pPr defTabSz="914400">
              <a:lnSpc>
                <a:spcPct val="100000"/>
              </a:lnSpc>
              <a:tabLst>
                <a:tab algn="l" pos="0"/>
              </a:tabLst>
            </a:pPr>
            <a:r>
              <a:rPr b="1" lang="en-US" sz="3200" strike="noStrike" u="none">
                <a:solidFill>
                  <a:srgbClr val="ffffff"/>
                </a:solidFill>
                <a:effectLst/>
                <a:uFillTx/>
                <a:latin typeface="Aptos"/>
                <a:ea typeface="Aptos"/>
              </a:rPr>
              <a:t>The evidence layer for</a:t>
            </a:r>
            <a:endParaRPr b="0" lang="en-US" sz="3200" strike="noStrike" u="none">
              <a:solidFill>
                <a:srgbClr val="ffffff"/>
              </a:solidFill>
              <a:effectLst/>
              <a:uFillTx/>
              <a:latin typeface="Arial"/>
            </a:endParaRPr>
          </a:p>
          <a:p>
            <a:pPr defTabSz="914400">
              <a:lnSpc>
                <a:spcPct val="100000"/>
              </a:lnSpc>
              <a:tabLst>
                <a:tab algn="l" pos="0"/>
              </a:tabLst>
            </a:pPr>
            <a:r>
              <a:rPr b="1" lang="en-US" sz="3200" strike="noStrike" u="none">
                <a:solidFill>
                  <a:srgbClr val="ffffff"/>
                </a:solidFill>
                <a:effectLst/>
                <a:uFillTx/>
                <a:latin typeface="Aptos"/>
                <a:ea typeface="Aptos"/>
              </a:rPr>
              <a:t>food-traceability investigations</a:t>
            </a:r>
            <a:endParaRPr b="0" lang="en-US" sz="3200" strike="noStrike" u="none">
              <a:solidFill>
                <a:srgbClr val="ffffff"/>
              </a:solidFill>
              <a:effectLst/>
              <a:uFillTx/>
              <a:latin typeface="Arial"/>
            </a:endParaRPr>
          </a:p>
        </p:txBody>
      </p:sp>
      <p:sp>
        <p:nvSpPr>
          <p:cNvPr id="17" name="Text 3"/>
          <p:cNvSpPr/>
          <p:nvPr/>
        </p:nvSpPr>
        <p:spPr>
          <a:xfrm>
            <a:off x="694800" y="2788920"/>
            <a:ext cx="5577480" cy="667080"/>
          </a:xfrm>
          <a:prstGeom prst="rect">
            <a:avLst/>
          </a:prstGeom>
          <a:noFill/>
          <a:ln w="0">
            <a:noFill/>
          </a:ln>
        </p:spPr>
        <p:style>
          <a:lnRef idx="0"/>
          <a:fillRef idx="0"/>
          <a:effectRef idx="0"/>
          <a:fontRef idx="minor"/>
        </p:style>
        <p:txBody>
          <a:bodyPr lIns="0" rIns="0" tIns="0" bIns="0" anchor="t">
            <a:normAutofit/>
          </a:bodyPr>
          <a:p>
            <a:pPr defTabSz="914400">
              <a:lnSpc>
                <a:spcPct val="100000"/>
              </a:lnSpc>
              <a:tabLst>
                <a:tab algn="l" pos="0"/>
              </a:tabLst>
            </a:pPr>
            <a:r>
              <a:rPr b="0" lang="en-US" sz="1700" strike="noStrike" u="none">
                <a:solidFill>
                  <a:srgbClr val="E5E8F0"/>
                </a:solidFill>
                <a:effectLst/>
                <a:uFillTx/>
                <a:latin typeface="Aptos"/>
                <a:ea typeface="Aptos"/>
              </a:rPr>
              <a:t>Turn fragmented records into a trace people can inspect, challenge and explain.</a:t>
            </a:r>
            <a:endParaRPr b="0" lang="en-US" sz="1700" strike="noStrike" u="none">
              <a:solidFill>
                <a:srgbClr val="ffffff"/>
              </a:solidFill>
              <a:effectLst/>
              <a:uFillTx/>
              <a:latin typeface="Arial"/>
            </a:endParaRPr>
          </a:p>
        </p:txBody>
      </p:sp>
      <p:sp>
        <p:nvSpPr>
          <p:cNvPr id="18" name="Shape 4"/>
          <p:cNvSpPr/>
          <p:nvPr/>
        </p:nvSpPr>
        <p:spPr>
          <a:xfrm>
            <a:off x="713160" y="3767400"/>
            <a:ext cx="1599840" cy="264960"/>
          </a:xfrm>
          <a:prstGeom prst="roundRect">
            <a:avLst>
              <a:gd name="adj" fmla="val 24138"/>
            </a:avLst>
          </a:prstGeom>
          <a:solidFill>
            <a:srgbClr val="2D3858"/>
          </a:solidFill>
          <a:ln w="8890">
            <a:solidFill>
              <a:srgbClr val="39466C"/>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19" name="Text 5"/>
          <p:cNvSpPr/>
          <p:nvPr/>
        </p:nvSpPr>
        <p:spPr>
          <a:xfrm>
            <a:off x="777240" y="3785760"/>
            <a:ext cx="1471680" cy="2098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860" strike="noStrike" u="none">
                <a:solidFill>
                  <a:srgbClr val="E5E8F0"/>
                </a:solidFill>
                <a:effectLst/>
                <a:uFillTx/>
                <a:latin typeface="Aptos"/>
                <a:ea typeface="Aptos"/>
              </a:rPr>
              <a:t>WORKING PROTOTYPE</a:t>
            </a:r>
            <a:endParaRPr b="0" lang="en-US" sz="860" strike="noStrike" u="none">
              <a:solidFill>
                <a:srgbClr val="ffffff"/>
              </a:solidFill>
              <a:effectLst/>
              <a:uFillTx/>
              <a:latin typeface="Arial"/>
            </a:endParaRPr>
          </a:p>
        </p:txBody>
      </p:sp>
      <p:sp>
        <p:nvSpPr>
          <p:cNvPr id="20" name="Text 6"/>
          <p:cNvSpPr/>
          <p:nvPr/>
        </p:nvSpPr>
        <p:spPr>
          <a:xfrm>
            <a:off x="713160" y="4224600"/>
            <a:ext cx="6034680" cy="3106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120" strike="noStrike" u="none">
                <a:solidFill>
                  <a:srgbClr val="E5E8F0"/>
                </a:solidFill>
                <a:effectLst/>
                <a:uFillTx/>
                <a:latin typeface="Aptos"/>
                <a:ea typeface="Aptos"/>
              </a:rPr>
              <a:t>Local Llama inference  ·  Source-linked claims  ·  Human-reviewed relationships</a:t>
            </a:r>
            <a:endParaRPr b="0" lang="en-US" sz="1120" strike="noStrike" u="none">
              <a:solidFill>
                <a:srgbClr val="ffffff"/>
              </a:solidFill>
              <a:effectLst/>
              <a:uFillTx/>
              <a:latin typeface="Arial"/>
            </a:endParaRPr>
          </a:p>
        </p:txBody>
      </p:sp>
      <p:sp>
        <p:nvSpPr>
          <p:cNvPr id="21" name="Shape 7"/>
          <p:cNvSpPr/>
          <p:nvPr/>
        </p:nvSpPr>
        <p:spPr>
          <a:xfrm>
            <a:off x="9034200" y="1398960"/>
            <a:ext cx="612720" cy="447840"/>
          </a:xfrm>
          <a:prstGeom prst="line">
            <a:avLst/>
          </a:prstGeom>
          <a:ln w="25400">
            <a:solidFill>
              <a:srgbClr val="A0A6B4"/>
            </a:solidFill>
            <a:round/>
          </a:ln>
        </p:spPr>
        <p:style>
          <a:lnRef idx="0"/>
          <a:fillRef idx="0"/>
          <a:effectRef idx="0"/>
          <a:fontRef idx="minor"/>
        </p:style>
        <p:txBody>
          <a:bodyPr lIns="90000" rIns="90000" tIns="45000" bIns="45000" anchor="t" anchorCtr="1">
            <a:noAutofit/>
          </a:bodyPr>
          <a:p>
            <a:endParaRPr b="0" lang="en-US" sz="1800" strike="noStrike" u="none">
              <a:solidFill>
                <a:srgbClr val="ffffff"/>
              </a:solidFill>
              <a:effectLst/>
              <a:uFillTx/>
              <a:latin typeface="Arial"/>
            </a:endParaRPr>
          </a:p>
        </p:txBody>
      </p:sp>
      <p:sp>
        <p:nvSpPr>
          <p:cNvPr id="22" name="Shape 8"/>
          <p:cNvSpPr/>
          <p:nvPr/>
        </p:nvSpPr>
        <p:spPr>
          <a:xfrm flipH="1">
            <a:off x="9189720" y="2203560"/>
            <a:ext cx="1051560" cy="704160"/>
          </a:xfrm>
          <a:prstGeom prst="line">
            <a:avLst/>
          </a:prstGeom>
          <a:ln w="25400">
            <a:solidFill>
              <a:srgbClr val="A0A6B4"/>
            </a:solidFill>
            <a:round/>
          </a:ln>
        </p:spPr>
        <p:style>
          <a:lnRef idx="0"/>
          <a:fillRef idx="0"/>
          <a:effectRef idx="0"/>
          <a:fontRef idx="minor"/>
        </p:style>
        <p:txBody>
          <a:bodyPr lIns="90000" rIns="90000" tIns="45000" bIns="45000" anchor="t" anchorCtr="1">
            <a:noAutofit/>
          </a:bodyPr>
          <a:p>
            <a:endParaRPr b="0" lang="en-US" sz="1800" strike="noStrike" u="none">
              <a:solidFill>
                <a:srgbClr val="ffffff"/>
              </a:solidFill>
              <a:effectLst/>
              <a:uFillTx/>
              <a:latin typeface="Arial"/>
            </a:endParaRPr>
          </a:p>
        </p:txBody>
      </p:sp>
      <p:sp>
        <p:nvSpPr>
          <p:cNvPr id="23" name="Shape 9"/>
          <p:cNvSpPr/>
          <p:nvPr/>
        </p:nvSpPr>
        <p:spPr>
          <a:xfrm>
            <a:off x="9418320" y="3401280"/>
            <a:ext cx="511920" cy="393480"/>
          </a:xfrm>
          <a:prstGeom prst="line">
            <a:avLst/>
          </a:prstGeom>
          <a:ln w="25400">
            <a:solidFill>
              <a:srgbClr val="A0A6B4"/>
            </a:solidFill>
            <a:round/>
          </a:ln>
        </p:spPr>
        <p:style>
          <a:lnRef idx="0"/>
          <a:fillRef idx="0"/>
          <a:effectRef idx="0"/>
          <a:fontRef idx="minor"/>
        </p:style>
        <p:txBody>
          <a:bodyPr lIns="90000" rIns="90000" tIns="45000" bIns="45000" anchor="t" anchorCtr="1">
            <a:noAutofit/>
          </a:bodyPr>
          <a:p>
            <a:endParaRPr b="0" lang="en-US" sz="1800" strike="noStrike" u="none">
              <a:solidFill>
                <a:srgbClr val="ffffff"/>
              </a:solidFill>
              <a:effectLst/>
              <a:uFillTx/>
              <a:latin typeface="Arial"/>
            </a:endParaRPr>
          </a:p>
        </p:txBody>
      </p:sp>
      <p:sp>
        <p:nvSpPr>
          <p:cNvPr id="24" name="Shape 10"/>
          <p:cNvSpPr/>
          <p:nvPr/>
        </p:nvSpPr>
        <p:spPr>
          <a:xfrm flipH="1">
            <a:off x="8074080" y="3602520"/>
            <a:ext cx="45720" cy="969480"/>
          </a:xfrm>
          <a:prstGeom prst="line">
            <a:avLst/>
          </a:prstGeom>
          <a:ln w="22860">
            <a:solidFill>
              <a:srgbClr val="FCD34D"/>
            </a:solidFill>
            <a:prstDash val="dash"/>
            <a:round/>
          </a:ln>
        </p:spPr>
        <p:style>
          <a:lnRef idx="0"/>
          <a:fillRef idx="0"/>
          <a:effectRef idx="0"/>
          <a:fontRef idx="minor"/>
        </p:style>
        <p:txBody>
          <a:bodyPr lIns="90000" rIns="90000" tIns="45000" bIns="45000" anchor="t" anchorCtr="1">
            <a:noAutofit/>
          </a:bodyPr>
          <a:p>
            <a:endParaRPr b="0" lang="en-US" sz="1800" strike="noStrike" u="none">
              <a:solidFill>
                <a:srgbClr val="ffffff"/>
              </a:solidFill>
              <a:effectLst/>
              <a:uFillTx/>
              <a:latin typeface="Arial"/>
            </a:endParaRPr>
          </a:p>
        </p:txBody>
      </p:sp>
      <p:sp>
        <p:nvSpPr>
          <p:cNvPr id="25" name="Shape 11"/>
          <p:cNvSpPr/>
          <p:nvPr/>
        </p:nvSpPr>
        <p:spPr>
          <a:xfrm>
            <a:off x="7406640" y="1051560"/>
            <a:ext cx="1627200" cy="694440"/>
          </a:xfrm>
          <a:prstGeom prst="roundRect">
            <a:avLst>
              <a:gd name="adj" fmla="val 18421"/>
            </a:avLst>
          </a:prstGeom>
          <a:solidFill>
            <a:srgbClr val="2D3858"/>
          </a:solidFill>
          <a:ln w="10160">
            <a:solidFill>
              <a:srgbClr val="39466C"/>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26" name="Text 12"/>
          <p:cNvSpPr/>
          <p:nvPr/>
        </p:nvSpPr>
        <p:spPr>
          <a:xfrm>
            <a:off x="7479720" y="1161360"/>
            <a:ext cx="1481040" cy="51156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200" strike="noStrike" u="none">
                <a:solidFill>
                  <a:srgbClr val="ffffff"/>
                </a:solidFill>
                <a:effectLst/>
                <a:uFillTx/>
                <a:latin typeface="Aptos"/>
                <a:ea typeface="Aptos"/>
              </a:rPr>
              <a:t>Supplier</a:t>
            </a:r>
            <a:endParaRPr b="0" lang="en-US" sz="1200" strike="noStrike" u="none">
              <a:solidFill>
                <a:srgbClr val="ffffff"/>
              </a:solidFill>
              <a:effectLst/>
              <a:uFillTx/>
              <a:latin typeface="Arial"/>
            </a:endParaRPr>
          </a:p>
          <a:p>
            <a:pPr algn="ctr" defTabSz="914400">
              <a:lnSpc>
                <a:spcPct val="100000"/>
              </a:lnSpc>
              <a:tabLst>
                <a:tab algn="l" pos="0"/>
              </a:tabLst>
            </a:pPr>
            <a:r>
              <a:rPr b="1" lang="en-US" sz="1200" strike="noStrike" u="none">
                <a:solidFill>
                  <a:srgbClr val="ffffff"/>
                </a:solidFill>
                <a:effectLst/>
                <a:uFillTx/>
                <a:latin typeface="Aptos"/>
                <a:ea typeface="Aptos"/>
              </a:rPr>
              <a:t>record</a:t>
            </a:r>
            <a:endParaRPr b="0" lang="en-US" sz="1200" strike="noStrike" u="none">
              <a:solidFill>
                <a:srgbClr val="ffffff"/>
              </a:solidFill>
              <a:effectLst/>
              <a:uFillTx/>
              <a:latin typeface="Arial"/>
            </a:endParaRPr>
          </a:p>
        </p:txBody>
      </p:sp>
      <p:sp>
        <p:nvSpPr>
          <p:cNvPr id="27" name="Shape 13"/>
          <p:cNvSpPr/>
          <p:nvPr/>
        </p:nvSpPr>
        <p:spPr>
          <a:xfrm>
            <a:off x="9646920" y="1508760"/>
            <a:ext cx="1599840" cy="694440"/>
          </a:xfrm>
          <a:prstGeom prst="roundRect">
            <a:avLst>
              <a:gd name="adj" fmla="val 18421"/>
            </a:avLst>
          </a:prstGeom>
          <a:solidFill>
            <a:srgbClr val="2D3858"/>
          </a:solidFill>
          <a:ln w="10160">
            <a:solidFill>
              <a:srgbClr val="39466C"/>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28" name="Text 14"/>
          <p:cNvSpPr/>
          <p:nvPr/>
        </p:nvSpPr>
        <p:spPr>
          <a:xfrm>
            <a:off x="9720000" y="1618560"/>
            <a:ext cx="1453680" cy="51156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200" strike="noStrike" u="none">
                <a:solidFill>
                  <a:srgbClr val="ffffff"/>
                </a:solidFill>
                <a:effectLst/>
                <a:uFillTx/>
                <a:latin typeface="Aptos"/>
                <a:ea typeface="Aptos"/>
              </a:rPr>
              <a:t>Candidate</a:t>
            </a:r>
            <a:endParaRPr b="0" lang="en-US" sz="1200" strike="noStrike" u="none">
              <a:solidFill>
                <a:srgbClr val="ffffff"/>
              </a:solidFill>
              <a:effectLst/>
              <a:uFillTx/>
              <a:latin typeface="Arial"/>
            </a:endParaRPr>
          </a:p>
          <a:p>
            <a:pPr algn="ctr" defTabSz="914400">
              <a:lnSpc>
                <a:spcPct val="100000"/>
              </a:lnSpc>
              <a:tabLst>
                <a:tab algn="l" pos="0"/>
              </a:tabLst>
            </a:pPr>
            <a:r>
              <a:rPr b="1" lang="en-US" sz="1200" strike="noStrike" u="none">
                <a:solidFill>
                  <a:srgbClr val="ffffff"/>
                </a:solidFill>
                <a:effectLst/>
                <a:uFillTx/>
                <a:latin typeface="Aptos"/>
                <a:ea typeface="Aptos"/>
              </a:rPr>
              <a:t>claim</a:t>
            </a:r>
            <a:endParaRPr b="0" lang="en-US" sz="1200" strike="noStrike" u="none">
              <a:solidFill>
                <a:srgbClr val="ffffff"/>
              </a:solidFill>
              <a:effectLst/>
              <a:uFillTx/>
              <a:latin typeface="Arial"/>
            </a:endParaRPr>
          </a:p>
        </p:txBody>
      </p:sp>
      <p:sp>
        <p:nvSpPr>
          <p:cNvPr id="29" name="Shape 15"/>
          <p:cNvSpPr/>
          <p:nvPr/>
        </p:nvSpPr>
        <p:spPr>
          <a:xfrm>
            <a:off x="7680960" y="2907720"/>
            <a:ext cx="1737000" cy="694440"/>
          </a:xfrm>
          <a:prstGeom prst="roundRect">
            <a:avLst>
              <a:gd name="adj" fmla="val 18421"/>
            </a:avLst>
          </a:prstGeom>
          <a:solidFill>
            <a:srgbClr val="2D3858"/>
          </a:solidFill>
          <a:ln w="10160">
            <a:solidFill>
              <a:srgbClr val="39466C"/>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30" name="Text 16"/>
          <p:cNvSpPr/>
          <p:nvPr/>
        </p:nvSpPr>
        <p:spPr>
          <a:xfrm>
            <a:off x="7754040" y="3017520"/>
            <a:ext cx="1590840" cy="51156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200" strike="noStrike" u="none">
                <a:solidFill>
                  <a:srgbClr val="ffffff"/>
                </a:solidFill>
                <a:effectLst/>
                <a:uFillTx/>
                <a:latin typeface="Aptos"/>
                <a:ea typeface="Aptos"/>
              </a:rPr>
              <a:t>Review</a:t>
            </a:r>
            <a:endParaRPr b="0" lang="en-US" sz="1200" strike="noStrike" u="none">
              <a:solidFill>
                <a:srgbClr val="ffffff"/>
              </a:solidFill>
              <a:effectLst/>
              <a:uFillTx/>
              <a:latin typeface="Arial"/>
            </a:endParaRPr>
          </a:p>
          <a:p>
            <a:pPr algn="ctr" defTabSz="914400">
              <a:lnSpc>
                <a:spcPct val="100000"/>
              </a:lnSpc>
              <a:tabLst>
                <a:tab algn="l" pos="0"/>
              </a:tabLst>
            </a:pPr>
            <a:r>
              <a:rPr b="1" lang="en-US" sz="1200" strike="noStrike" u="none">
                <a:solidFill>
                  <a:srgbClr val="ffffff"/>
                </a:solidFill>
                <a:effectLst/>
                <a:uFillTx/>
                <a:latin typeface="Aptos"/>
                <a:ea typeface="Aptos"/>
              </a:rPr>
              <a:t>decision</a:t>
            </a:r>
            <a:endParaRPr b="0" lang="en-US" sz="1200" strike="noStrike" u="none">
              <a:solidFill>
                <a:srgbClr val="ffffff"/>
              </a:solidFill>
              <a:effectLst/>
              <a:uFillTx/>
              <a:latin typeface="Arial"/>
            </a:endParaRPr>
          </a:p>
        </p:txBody>
      </p:sp>
      <p:sp>
        <p:nvSpPr>
          <p:cNvPr id="31" name="Shape 17"/>
          <p:cNvSpPr/>
          <p:nvPr/>
        </p:nvSpPr>
        <p:spPr>
          <a:xfrm>
            <a:off x="9784080" y="3794760"/>
            <a:ext cx="1535760" cy="694440"/>
          </a:xfrm>
          <a:prstGeom prst="roundRect">
            <a:avLst>
              <a:gd name="adj" fmla="val 18421"/>
            </a:avLst>
          </a:prstGeom>
          <a:solidFill>
            <a:srgbClr val="2D3858"/>
          </a:solidFill>
          <a:ln w="10160">
            <a:solidFill>
              <a:srgbClr val="39466C"/>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32" name="Text 18"/>
          <p:cNvSpPr/>
          <p:nvPr/>
        </p:nvSpPr>
        <p:spPr>
          <a:xfrm>
            <a:off x="9857160" y="3904560"/>
            <a:ext cx="1389600" cy="51156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200" strike="noStrike" u="none">
                <a:solidFill>
                  <a:srgbClr val="ffffff"/>
                </a:solidFill>
                <a:effectLst/>
                <a:uFillTx/>
                <a:latin typeface="Aptos"/>
                <a:ea typeface="Aptos"/>
              </a:rPr>
              <a:t>Trace</a:t>
            </a:r>
            <a:endParaRPr b="0" lang="en-US" sz="1200" strike="noStrike" u="none">
              <a:solidFill>
                <a:srgbClr val="ffffff"/>
              </a:solidFill>
              <a:effectLst/>
              <a:uFillTx/>
              <a:latin typeface="Arial"/>
            </a:endParaRPr>
          </a:p>
          <a:p>
            <a:pPr algn="ctr" defTabSz="914400">
              <a:lnSpc>
                <a:spcPct val="100000"/>
              </a:lnSpc>
              <a:tabLst>
                <a:tab algn="l" pos="0"/>
              </a:tabLst>
            </a:pPr>
            <a:r>
              <a:rPr b="1" lang="en-US" sz="1200" strike="noStrike" u="none">
                <a:solidFill>
                  <a:srgbClr val="ffffff"/>
                </a:solidFill>
                <a:effectLst/>
                <a:uFillTx/>
                <a:latin typeface="Aptos"/>
                <a:ea typeface="Aptos"/>
              </a:rPr>
              <a:t>result</a:t>
            </a:r>
            <a:endParaRPr b="0" lang="en-US" sz="1200" strike="noStrike" u="none">
              <a:solidFill>
                <a:srgbClr val="ffffff"/>
              </a:solidFill>
              <a:effectLst/>
              <a:uFillTx/>
              <a:latin typeface="Arial"/>
            </a:endParaRPr>
          </a:p>
        </p:txBody>
      </p:sp>
      <p:sp>
        <p:nvSpPr>
          <p:cNvPr id="33" name="Shape 19"/>
          <p:cNvSpPr/>
          <p:nvPr/>
        </p:nvSpPr>
        <p:spPr>
          <a:xfrm>
            <a:off x="7269480" y="4572000"/>
            <a:ext cx="1645560" cy="694440"/>
          </a:xfrm>
          <a:prstGeom prst="roundRect">
            <a:avLst>
              <a:gd name="adj" fmla="val 18421"/>
            </a:avLst>
          </a:prstGeom>
          <a:solidFill>
            <a:srgbClr val="78350F"/>
          </a:solidFill>
          <a:ln w="10160">
            <a:solidFill>
              <a:srgbClr val="39466C"/>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34" name="Text 20"/>
          <p:cNvSpPr/>
          <p:nvPr/>
        </p:nvSpPr>
        <p:spPr>
          <a:xfrm>
            <a:off x="7342560" y="4681800"/>
            <a:ext cx="1499400" cy="51156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200" strike="noStrike" u="none">
                <a:solidFill>
                  <a:srgbClr val="ffffff"/>
                </a:solidFill>
                <a:effectLst/>
                <a:uFillTx/>
                <a:latin typeface="Aptos"/>
                <a:ea typeface="Aptos"/>
              </a:rPr>
              <a:t>Missing</a:t>
            </a:r>
            <a:endParaRPr b="0" lang="en-US" sz="1200" strike="noStrike" u="none">
              <a:solidFill>
                <a:srgbClr val="ffffff"/>
              </a:solidFill>
              <a:effectLst/>
              <a:uFillTx/>
              <a:latin typeface="Arial"/>
            </a:endParaRPr>
          </a:p>
          <a:p>
            <a:pPr algn="ctr" defTabSz="914400">
              <a:lnSpc>
                <a:spcPct val="100000"/>
              </a:lnSpc>
              <a:tabLst>
                <a:tab algn="l" pos="0"/>
              </a:tabLst>
            </a:pPr>
            <a:r>
              <a:rPr b="1" lang="en-US" sz="1200" strike="noStrike" u="none">
                <a:solidFill>
                  <a:srgbClr val="ffffff"/>
                </a:solidFill>
                <a:effectLst/>
                <a:uFillTx/>
                <a:latin typeface="Aptos"/>
                <a:ea typeface="Aptos"/>
              </a:rPr>
              <a:t>evidence</a:t>
            </a:r>
            <a:endParaRPr b="0" lang="en-US" sz="1200" strike="noStrike" u="none">
              <a:solidFill>
                <a:srgbClr val="ffffff"/>
              </a:solidFill>
              <a:effectLst/>
              <a:uFillTx/>
              <a:latin typeface="Arial"/>
            </a:endParaRPr>
          </a:p>
        </p:txBody>
      </p:sp>
      <p:sp>
        <p:nvSpPr>
          <p:cNvPr id="35" name="Text 21"/>
          <p:cNvSpPr/>
          <p:nvPr/>
        </p:nvSpPr>
        <p:spPr>
          <a:xfrm>
            <a:off x="6995160" y="5559480"/>
            <a:ext cx="4525920" cy="38376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i="1" lang="en-US" sz="1100" strike="noStrike" u="none">
                <a:solidFill>
                  <a:srgbClr val="E5E8F0"/>
                </a:solidFill>
                <a:effectLst/>
                <a:uFillTx/>
                <a:latin typeface="Aptos"/>
                <a:ea typeface="Aptos"/>
              </a:rPr>
              <a:t>A trace is only as trustworthy as the evidence behind each link.</a:t>
            </a:r>
            <a:endParaRPr b="0" lang="en-US" sz="1100" strike="noStrike" u="none">
              <a:solidFill>
                <a:srgbClr val="ffffff"/>
              </a:solidFill>
              <a:effectLst/>
              <a:uFillTx/>
              <a:latin typeface="Arial"/>
            </a:endParaRPr>
          </a:p>
        </p:txBody>
      </p:sp>
      <p:sp>
        <p:nvSpPr>
          <p:cNvPr id="36" name="Text 22"/>
          <p:cNvSpPr/>
          <p:nvPr/>
        </p:nvSpPr>
        <p:spPr>
          <a:xfrm>
            <a:off x="685800" y="6419160"/>
            <a:ext cx="5028840" cy="1458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800" spc="99" strike="noStrike" u="none">
                <a:solidFill>
                  <a:srgbClr val="A0A6B4"/>
                </a:solidFill>
                <a:effectLst/>
                <a:uFillTx/>
                <a:latin typeface="Aptos"/>
                <a:ea typeface="Aptos"/>
              </a:rPr>
              <a:t>PITCH DRAFT · 17 OCTOBER 2026</a:t>
            </a:r>
            <a:endParaRPr b="0" lang="en-US" sz="800" strike="noStrike" u="non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 name="Text 0"/>
          <p:cNvSpPr/>
          <p:nvPr/>
        </p:nvSpPr>
        <p:spPr>
          <a:xfrm>
            <a:off x="567000" y="384120"/>
            <a:ext cx="10881000" cy="1825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900" spc="181" strike="noStrike" u="none">
                <a:solidFill>
                  <a:srgbClr val="39466C"/>
                </a:solidFill>
                <a:effectLst/>
                <a:uFillTx/>
                <a:latin typeface="Aptos"/>
                <a:ea typeface="Aptos"/>
              </a:rPr>
              <a:t>01 / PROBLEM</a:t>
            </a:r>
            <a:endParaRPr b="0" lang="en-US" sz="900" strike="noStrike" u="none">
              <a:solidFill>
                <a:srgbClr val="2D2F38"/>
              </a:solidFill>
              <a:effectLst/>
              <a:uFillTx/>
              <a:latin typeface="Arial"/>
            </a:endParaRPr>
          </a:p>
        </p:txBody>
      </p:sp>
      <p:sp>
        <p:nvSpPr>
          <p:cNvPr id="38" name="Text 1"/>
          <p:cNvSpPr/>
          <p:nvPr/>
        </p:nvSpPr>
        <p:spPr>
          <a:xfrm>
            <a:off x="567000" y="658440"/>
            <a:ext cx="11018160" cy="4752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2600" strike="noStrike" u="none">
                <a:solidFill>
                  <a:srgbClr val="2D2F38"/>
                </a:solidFill>
                <a:effectLst/>
                <a:uFillTx/>
                <a:latin typeface="Aptos"/>
                <a:ea typeface="Aptos"/>
              </a:rPr>
              <a:t>The investigation starts before the data is clean</a:t>
            </a:r>
            <a:endParaRPr b="0" lang="en-US" sz="2600" strike="noStrike" u="none">
              <a:solidFill>
                <a:srgbClr val="2D2F38"/>
              </a:solidFill>
              <a:effectLst/>
              <a:uFillTx/>
              <a:latin typeface="Arial"/>
            </a:endParaRPr>
          </a:p>
        </p:txBody>
      </p:sp>
      <p:sp>
        <p:nvSpPr>
          <p:cNvPr id="39" name="Text 2"/>
          <p:cNvSpPr/>
          <p:nvPr/>
        </p:nvSpPr>
        <p:spPr>
          <a:xfrm>
            <a:off x="585360" y="1197720"/>
            <a:ext cx="10972440" cy="383760"/>
          </a:xfrm>
          <a:prstGeom prst="rect">
            <a:avLst/>
          </a:prstGeom>
          <a:noFill/>
          <a:ln w="0">
            <a:noFill/>
          </a:ln>
        </p:spPr>
        <p:style>
          <a:lnRef idx="0"/>
          <a:fillRef idx="0"/>
          <a:effectRef idx="0"/>
          <a:fontRef idx="minor"/>
        </p:style>
        <p:txBody>
          <a:bodyPr lIns="0" rIns="0" tIns="0" bIns="0" anchor="t">
            <a:normAutofit/>
          </a:bodyPr>
          <a:p>
            <a:pPr defTabSz="914400">
              <a:lnSpc>
                <a:spcPct val="100000"/>
              </a:lnSpc>
              <a:tabLst>
                <a:tab algn="l" pos="0"/>
              </a:tabLst>
            </a:pPr>
            <a:r>
              <a:rPr b="0" lang="en-US" sz="1250" strike="noStrike" u="none">
                <a:solidFill>
                  <a:srgbClr val="626B7B"/>
                </a:solidFill>
                <a:effectLst/>
                <a:uFillTx/>
                <a:latin typeface="Aptos"/>
                <a:ea typeface="Aptos"/>
              </a:rPr>
              <a:t>A quality manager needs to reconstruct a path across records that were never designed to fit together.</a:t>
            </a:r>
            <a:endParaRPr b="0" lang="en-US" sz="1250" strike="noStrike" u="none">
              <a:solidFill>
                <a:srgbClr val="2D2F38"/>
              </a:solidFill>
              <a:effectLst/>
              <a:uFillTx/>
              <a:latin typeface="Arial"/>
            </a:endParaRPr>
          </a:p>
        </p:txBody>
      </p:sp>
      <p:sp>
        <p:nvSpPr>
          <p:cNvPr id="40" name="Shape 3"/>
          <p:cNvSpPr/>
          <p:nvPr/>
        </p:nvSpPr>
        <p:spPr>
          <a:xfrm>
            <a:off x="640080" y="1938600"/>
            <a:ext cx="3584160" cy="3245760"/>
          </a:xfrm>
          <a:prstGeom prst="roundRect">
            <a:avLst>
              <a:gd name="adj" fmla="val 3944"/>
            </a:avLst>
          </a:prstGeom>
          <a:solidFill>
            <a:srgbClr val="ffffff"/>
          </a:solidFill>
          <a:ln w="10160">
            <a:solidFill>
              <a:srgbClr val="E5E8F0"/>
            </a:solidFill>
            <a:round/>
          </a:ln>
        </p:spPr>
        <p:style>
          <a:lnRef idx="0"/>
          <a:fillRef idx="0"/>
          <a:effectRef idx="0"/>
          <a:fontRef idx="minor"/>
        </p:style>
        <p:txBody>
          <a:bodyPr lIns="90000" rIns="90000" tIns="45000" bIns="45000" anchor="t">
            <a:noAutofit/>
          </a:bodyPr>
          <a:p>
            <a:endParaRPr b="0" lang="en-US" sz="1800" strike="noStrike" u="none">
              <a:solidFill>
                <a:srgbClr val="2D2F38"/>
              </a:solidFill>
              <a:effectLst/>
              <a:uFillTx/>
              <a:latin typeface="Arial"/>
            </a:endParaRPr>
          </a:p>
        </p:txBody>
      </p:sp>
      <p:sp>
        <p:nvSpPr>
          <p:cNvPr id="41" name="Shape 4"/>
          <p:cNvSpPr/>
          <p:nvPr/>
        </p:nvSpPr>
        <p:spPr>
          <a:xfrm>
            <a:off x="640080" y="1938600"/>
            <a:ext cx="3584160" cy="68400"/>
          </a:xfrm>
          <a:prstGeom prst="rect">
            <a:avLst/>
          </a:prstGeom>
          <a:solidFill>
            <a:srgbClr val="39466C"/>
          </a:solidFill>
          <a:ln w="12700">
            <a:solidFill>
              <a:srgbClr val="39466C"/>
            </a:solidFill>
            <a:round/>
          </a:ln>
        </p:spPr>
        <p:style>
          <a:lnRef idx="0"/>
          <a:fillRef idx="0"/>
          <a:effectRef idx="0"/>
          <a:fontRef idx="minor"/>
        </p:style>
        <p:txBody>
          <a:bodyPr lIns="90000" rIns="90000" tIns="23760" bIns="23760" anchor="t">
            <a:noAutofit/>
          </a:bodyPr>
          <a:p>
            <a:endParaRPr b="0" lang="en-US" sz="1800" strike="noStrike" u="none">
              <a:solidFill>
                <a:srgbClr val="ffffff"/>
              </a:solidFill>
              <a:effectLst/>
              <a:uFillTx/>
              <a:latin typeface="Arial"/>
            </a:endParaRPr>
          </a:p>
        </p:txBody>
      </p:sp>
      <p:sp>
        <p:nvSpPr>
          <p:cNvPr id="42" name="Text 5"/>
          <p:cNvSpPr/>
          <p:nvPr/>
        </p:nvSpPr>
        <p:spPr>
          <a:xfrm>
            <a:off x="877680" y="2221920"/>
            <a:ext cx="3017160" cy="3470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700" strike="noStrike" u="none">
                <a:solidFill>
                  <a:srgbClr val="2D2F38"/>
                </a:solidFill>
                <a:effectLst/>
                <a:uFillTx/>
                <a:latin typeface="Aptos"/>
                <a:ea typeface="Aptos"/>
              </a:rPr>
              <a:t>Records are scattered</a:t>
            </a:r>
            <a:endParaRPr b="0" lang="en-US" sz="1700" strike="noStrike" u="none">
              <a:solidFill>
                <a:srgbClr val="2D2F38"/>
              </a:solidFill>
              <a:effectLst/>
              <a:uFillTx/>
              <a:latin typeface="Arial"/>
            </a:endParaRPr>
          </a:p>
        </p:txBody>
      </p:sp>
      <p:sp>
        <p:nvSpPr>
          <p:cNvPr id="43" name="Shape 6"/>
          <p:cNvSpPr/>
          <p:nvPr/>
        </p:nvSpPr>
        <p:spPr>
          <a:xfrm>
            <a:off x="868680" y="2816280"/>
            <a:ext cx="3126960" cy="429480"/>
          </a:xfrm>
          <a:prstGeom prst="roundRect">
            <a:avLst>
              <a:gd name="adj" fmla="val 17021"/>
            </a:avLst>
          </a:prstGeom>
          <a:solidFill>
            <a:srgbClr val="F7F9FC"/>
          </a:solidFill>
          <a:ln w="10160">
            <a:solidFill>
              <a:srgbClr val="E5E8F0"/>
            </a:solidFill>
            <a:round/>
          </a:ln>
        </p:spPr>
        <p:style>
          <a:lnRef idx="0"/>
          <a:fillRef idx="0"/>
          <a:effectRef idx="0"/>
          <a:fontRef idx="minor"/>
        </p:style>
        <p:txBody>
          <a:bodyPr lIns="90000" rIns="90000" tIns="45000" bIns="45000" anchor="t">
            <a:noAutofit/>
          </a:bodyPr>
          <a:p>
            <a:endParaRPr b="0" lang="en-US" sz="1800" strike="noStrike" u="none">
              <a:solidFill>
                <a:srgbClr val="2D2F38"/>
              </a:solidFill>
              <a:effectLst/>
              <a:uFillTx/>
              <a:latin typeface="Arial"/>
            </a:endParaRPr>
          </a:p>
        </p:txBody>
      </p:sp>
      <p:sp>
        <p:nvSpPr>
          <p:cNvPr id="44" name="Text 7"/>
          <p:cNvSpPr/>
          <p:nvPr/>
        </p:nvSpPr>
        <p:spPr>
          <a:xfrm>
            <a:off x="1005840" y="2871360"/>
            <a:ext cx="2834280" cy="2829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230" strike="noStrike" u="none">
                <a:solidFill>
                  <a:srgbClr val="2D2F38"/>
                </a:solidFill>
                <a:effectLst/>
                <a:uFillTx/>
                <a:latin typeface="Aptos"/>
                <a:ea typeface="Aptos"/>
              </a:rPr>
              <a:t>PDF invoices</a:t>
            </a:r>
            <a:endParaRPr b="0" lang="en-US" sz="1230" strike="noStrike" u="none">
              <a:solidFill>
                <a:srgbClr val="2D2F38"/>
              </a:solidFill>
              <a:effectLst/>
              <a:uFillTx/>
              <a:latin typeface="Arial"/>
            </a:endParaRPr>
          </a:p>
        </p:txBody>
      </p:sp>
      <p:sp>
        <p:nvSpPr>
          <p:cNvPr id="45" name="Shape 8"/>
          <p:cNvSpPr/>
          <p:nvPr/>
        </p:nvSpPr>
        <p:spPr>
          <a:xfrm>
            <a:off x="868680" y="3410640"/>
            <a:ext cx="3126960" cy="429480"/>
          </a:xfrm>
          <a:prstGeom prst="roundRect">
            <a:avLst>
              <a:gd name="adj" fmla="val 17021"/>
            </a:avLst>
          </a:prstGeom>
          <a:solidFill>
            <a:srgbClr val="F7F9FC"/>
          </a:solidFill>
          <a:ln w="10160">
            <a:solidFill>
              <a:srgbClr val="E5E8F0"/>
            </a:solidFill>
            <a:round/>
          </a:ln>
        </p:spPr>
        <p:style>
          <a:lnRef idx="0"/>
          <a:fillRef idx="0"/>
          <a:effectRef idx="0"/>
          <a:fontRef idx="minor"/>
        </p:style>
        <p:txBody>
          <a:bodyPr lIns="90000" rIns="90000" tIns="45000" bIns="45000" anchor="t">
            <a:noAutofit/>
          </a:bodyPr>
          <a:p>
            <a:endParaRPr b="0" lang="en-US" sz="1800" strike="noStrike" u="none">
              <a:solidFill>
                <a:srgbClr val="2D2F38"/>
              </a:solidFill>
              <a:effectLst/>
              <a:uFillTx/>
              <a:latin typeface="Arial"/>
            </a:endParaRPr>
          </a:p>
        </p:txBody>
      </p:sp>
      <p:sp>
        <p:nvSpPr>
          <p:cNvPr id="46" name="Text 9"/>
          <p:cNvSpPr/>
          <p:nvPr/>
        </p:nvSpPr>
        <p:spPr>
          <a:xfrm>
            <a:off x="1005840" y="3465720"/>
            <a:ext cx="2834280" cy="2829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230" strike="noStrike" u="none">
                <a:solidFill>
                  <a:srgbClr val="2D2F38"/>
                </a:solidFill>
                <a:effectLst/>
                <a:uFillTx/>
                <a:latin typeface="Aptos"/>
                <a:ea typeface="Aptos"/>
              </a:rPr>
              <a:t>Batch sheets</a:t>
            </a:r>
            <a:endParaRPr b="0" lang="en-US" sz="1230" strike="noStrike" u="none">
              <a:solidFill>
                <a:srgbClr val="2D2F38"/>
              </a:solidFill>
              <a:effectLst/>
              <a:uFillTx/>
              <a:latin typeface="Arial"/>
            </a:endParaRPr>
          </a:p>
        </p:txBody>
      </p:sp>
      <p:sp>
        <p:nvSpPr>
          <p:cNvPr id="47" name="Shape 10"/>
          <p:cNvSpPr/>
          <p:nvPr/>
        </p:nvSpPr>
        <p:spPr>
          <a:xfrm>
            <a:off x="868680" y="4005000"/>
            <a:ext cx="3126960" cy="429480"/>
          </a:xfrm>
          <a:prstGeom prst="roundRect">
            <a:avLst>
              <a:gd name="adj" fmla="val 17021"/>
            </a:avLst>
          </a:prstGeom>
          <a:solidFill>
            <a:srgbClr val="F4F6FA"/>
          </a:solidFill>
          <a:ln w="10160">
            <a:solidFill>
              <a:srgbClr val="E5E8F0"/>
            </a:solidFill>
            <a:round/>
          </a:ln>
        </p:spPr>
        <p:style>
          <a:lnRef idx="0"/>
          <a:fillRef idx="0"/>
          <a:effectRef idx="0"/>
          <a:fontRef idx="minor"/>
        </p:style>
        <p:txBody>
          <a:bodyPr lIns="90000" rIns="90000" tIns="45000" bIns="45000" anchor="t">
            <a:noAutofit/>
          </a:bodyPr>
          <a:p>
            <a:endParaRPr b="0" lang="en-US" sz="1800" strike="noStrike" u="none">
              <a:solidFill>
                <a:srgbClr val="2D2F38"/>
              </a:solidFill>
              <a:effectLst/>
              <a:uFillTx/>
              <a:latin typeface="Arial"/>
            </a:endParaRPr>
          </a:p>
        </p:txBody>
      </p:sp>
      <p:sp>
        <p:nvSpPr>
          <p:cNvPr id="48" name="Text 11"/>
          <p:cNvSpPr/>
          <p:nvPr/>
        </p:nvSpPr>
        <p:spPr>
          <a:xfrm>
            <a:off x="1005840" y="4060080"/>
            <a:ext cx="2834280" cy="2829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230" strike="noStrike" u="none">
                <a:solidFill>
                  <a:srgbClr val="626B7B"/>
                </a:solidFill>
                <a:effectLst/>
                <a:uFillTx/>
                <a:latin typeface="Aptos"/>
                <a:ea typeface="Aptos"/>
              </a:rPr>
              <a:t>Scanned dispatch notes</a:t>
            </a:r>
            <a:endParaRPr b="0" lang="en-US" sz="1230" strike="noStrike" u="none">
              <a:solidFill>
                <a:srgbClr val="2D2F38"/>
              </a:solidFill>
              <a:effectLst/>
              <a:uFillTx/>
              <a:latin typeface="Arial"/>
            </a:endParaRPr>
          </a:p>
        </p:txBody>
      </p:sp>
      <p:sp>
        <p:nvSpPr>
          <p:cNvPr id="49" name="Shape 12"/>
          <p:cNvSpPr/>
          <p:nvPr/>
        </p:nvSpPr>
        <p:spPr>
          <a:xfrm>
            <a:off x="4233600" y="1938600"/>
            <a:ext cx="3584160" cy="3245760"/>
          </a:xfrm>
          <a:prstGeom prst="roundRect">
            <a:avLst>
              <a:gd name="adj" fmla="val 3944"/>
            </a:avLst>
          </a:prstGeom>
          <a:solidFill>
            <a:srgbClr val="ffffff"/>
          </a:solidFill>
          <a:ln w="10160">
            <a:solidFill>
              <a:srgbClr val="E5E8F0"/>
            </a:solidFill>
            <a:round/>
          </a:ln>
        </p:spPr>
        <p:style>
          <a:lnRef idx="0"/>
          <a:fillRef idx="0"/>
          <a:effectRef idx="0"/>
          <a:fontRef idx="minor"/>
        </p:style>
        <p:txBody>
          <a:bodyPr lIns="90000" rIns="90000" tIns="45000" bIns="45000" anchor="t">
            <a:noAutofit/>
          </a:bodyPr>
          <a:p>
            <a:endParaRPr b="0" lang="en-US" sz="1800" strike="noStrike" u="none">
              <a:solidFill>
                <a:srgbClr val="2D2F38"/>
              </a:solidFill>
              <a:effectLst/>
              <a:uFillTx/>
              <a:latin typeface="Arial"/>
            </a:endParaRPr>
          </a:p>
        </p:txBody>
      </p:sp>
      <p:sp>
        <p:nvSpPr>
          <p:cNvPr id="50" name="Shape 13"/>
          <p:cNvSpPr/>
          <p:nvPr/>
        </p:nvSpPr>
        <p:spPr>
          <a:xfrm>
            <a:off x="4233600" y="1938600"/>
            <a:ext cx="3584160" cy="68400"/>
          </a:xfrm>
          <a:prstGeom prst="rect">
            <a:avLst/>
          </a:prstGeom>
          <a:solidFill>
            <a:srgbClr val="2D3858"/>
          </a:solidFill>
          <a:ln w="12700">
            <a:solidFill>
              <a:srgbClr val="2D3858"/>
            </a:solidFill>
            <a:round/>
          </a:ln>
        </p:spPr>
        <p:style>
          <a:lnRef idx="0"/>
          <a:fillRef idx="0"/>
          <a:effectRef idx="0"/>
          <a:fontRef idx="minor"/>
        </p:style>
        <p:txBody>
          <a:bodyPr lIns="90000" rIns="90000" tIns="23760" bIns="23760" anchor="t">
            <a:noAutofit/>
          </a:bodyPr>
          <a:p>
            <a:endParaRPr b="0" lang="en-US" sz="1800" strike="noStrike" u="none">
              <a:solidFill>
                <a:srgbClr val="ffffff"/>
              </a:solidFill>
              <a:effectLst/>
              <a:uFillTx/>
              <a:latin typeface="Arial"/>
            </a:endParaRPr>
          </a:p>
        </p:txBody>
      </p:sp>
      <p:sp>
        <p:nvSpPr>
          <p:cNvPr id="51" name="Text 14"/>
          <p:cNvSpPr/>
          <p:nvPr/>
        </p:nvSpPr>
        <p:spPr>
          <a:xfrm>
            <a:off x="4471560" y="2221920"/>
            <a:ext cx="3017160" cy="3470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700" strike="noStrike" u="none">
                <a:solidFill>
                  <a:srgbClr val="2D2F38"/>
                </a:solidFill>
                <a:effectLst/>
                <a:uFillTx/>
                <a:latin typeface="Aptos"/>
                <a:ea typeface="Aptos"/>
              </a:rPr>
              <a:t>Identifiers drift</a:t>
            </a:r>
            <a:endParaRPr b="0" lang="en-US" sz="1700" strike="noStrike" u="none">
              <a:solidFill>
                <a:srgbClr val="2D2F38"/>
              </a:solidFill>
              <a:effectLst/>
              <a:uFillTx/>
              <a:latin typeface="Arial"/>
            </a:endParaRPr>
          </a:p>
        </p:txBody>
      </p:sp>
      <p:sp>
        <p:nvSpPr>
          <p:cNvPr id="52" name="Shape 15"/>
          <p:cNvSpPr/>
          <p:nvPr/>
        </p:nvSpPr>
        <p:spPr>
          <a:xfrm>
            <a:off x="4462200" y="2816280"/>
            <a:ext cx="3126960" cy="429480"/>
          </a:xfrm>
          <a:prstGeom prst="roundRect">
            <a:avLst>
              <a:gd name="adj" fmla="val 17021"/>
            </a:avLst>
          </a:prstGeom>
          <a:solidFill>
            <a:srgbClr val="F7F9FC"/>
          </a:solidFill>
          <a:ln w="10160">
            <a:solidFill>
              <a:srgbClr val="E5E8F0"/>
            </a:solidFill>
            <a:round/>
          </a:ln>
        </p:spPr>
        <p:style>
          <a:lnRef idx="0"/>
          <a:fillRef idx="0"/>
          <a:effectRef idx="0"/>
          <a:fontRef idx="minor"/>
        </p:style>
        <p:txBody>
          <a:bodyPr lIns="90000" rIns="90000" tIns="45000" bIns="45000" anchor="t">
            <a:noAutofit/>
          </a:bodyPr>
          <a:p>
            <a:endParaRPr b="0" lang="en-US" sz="1800" strike="noStrike" u="none">
              <a:solidFill>
                <a:srgbClr val="2D2F38"/>
              </a:solidFill>
              <a:effectLst/>
              <a:uFillTx/>
              <a:latin typeface="Arial"/>
            </a:endParaRPr>
          </a:p>
        </p:txBody>
      </p:sp>
      <p:sp>
        <p:nvSpPr>
          <p:cNvPr id="53" name="Text 16"/>
          <p:cNvSpPr/>
          <p:nvPr/>
        </p:nvSpPr>
        <p:spPr>
          <a:xfrm>
            <a:off x="4599360" y="2871360"/>
            <a:ext cx="2834280" cy="2829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230" strike="noStrike" u="none">
                <a:solidFill>
                  <a:srgbClr val="2D2F38"/>
                </a:solidFill>
                <a:effectLst/>
                <a:uFillTx/>
                <a:latin typeface="Aptos"/>
                <a:ea typeface="Aptos"/>
              </a:rPr>
              <a:t>RM-0873</a:t>
            </a:r>
            <a:endParaRPr b="0" lang="en-US" sz="1230" strike="noStrike" u="none">
              <a:solidFill>
                <a:srgbClr val="2D2F38"/>
              </a:solidFill>
              <a:effectLst/>
              <a:uFillTx/>
              <a:latin typeface="Arial"/>
            </a:endParaRPr>
          </a:p>
        </p:txBody>
      </p:sp>
      <p:sp>
        <p:nvSpPr>
          <p:cNvPr id="54" name="Shape 17"/>
          <p:cNvSpPr/>
          <p:nvPr/>
        </p:nvSpPr>
        <p:spPr>
          <a:xfrm>
            <a:off x="4462200" y="3410640"/>
            <a:ext cx="3126960" cy="429480"/>
          </a:xfrm>
          <a:prstGeom prst="roundRect">
            <a:avLst>
              <a:gd name="adj" fmla="val 17021"/>
            </a:avLst>
          </a:prstGeom>
          <a:solidFill>
            <a:srgbClr val="F7F9FC"/>
          </a:solidFill>
          <a:ln w="10160">
            <a:solidFill>
              <a:srgbClr val="E5E8F0"/>
            </a:solidFill>
            <a:round/>
          </a:ln>
        </p:spPr>
        <p:style>
          <a:lnRef idx="0"/>
          <a:fillRef idx="0"/>
          <a:effectRef idx="0"/>
          <a:fontRef idx="minor"/>
        </p:style>
        <p:txBody>
          <a:bodyPr lIns="90000" rIns="90000" tIns="45000" bIns="45000" anchor="t">
            <a:noAutofit/>
          </a:bodyPr>
          <a:p>
            <a:endParaRPr b="0" lang="en-US" sz="1800" strike="noStrike" u="none">
              <a:solidFill>
                <a:srgbClr val="2D2F38"/>
              </a:solidFill>
              <a:effectLst/>
              <a:uFillTx/>
              <a:latin typeface="Arial"/>
            </a:endParaRPr>
          </a:p>
        </p:txBody>
      </p:sp>
      <p:sp>
        <p:nvSpPr>
          <p:cNvPr id="55" name="Text 18"/>
          <p:cNvSpPr/>
          <p:nvPr/>
        </p:nvSpPr>
        <p:spPr>
          <a:xfrm>
            <a:off x="4599360" y="3465720"/>
            <a:ext cx="2834280" cy="2829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230" strike="noStrike" u="none">
                <a:solidFill>
                  <a:srgbClr val="2D2F38"/>
                </a:solidFill>
                <a:effectLst/>
                <a:uFillTx/>
                <a:latin typeface="Aptos"/>
                <a:ea typeface="Aptos"/>
              </a:rPr>
              <a:t>RM 0873</a:t>
            </a:r>
            <a:endParaRPr b="0" lang="en-US" sz="1230" strike="noStrike" u="none">
              <a:solidFill>
                <a:srgbClr val="2D2F38"/>
              </a:solidFill>
              <a:effectLst/>
              <a:uFillTx/>
              <a:latin typeface="Arial"/>
            </a:endParaRPr>
          </a:p>
        </p:txBody>
      </p:sp>
      <p:sp>
        <p:nvSpPr>
          <p:cNvPr id="56" name="Shape 19"/>
          <p:cNvSpPr/>
          <p:nvPr/>
        </p:nvSpPr>
        <p:spPr>
          <a:xfrm>
            <a:off x="4462200" y="4005000"/>
            <a:ext cx="3126960" cy="429480"/>
          </a:xfrm>
          <a:prstGeom prst="roundRect">
            <a:avLst>
              <a:gd name="adj" fmla="val 17021"/>
            </a:avLst>
          </a:prstGeom>
          <a:solidFill>
            <a:srgbClr val="F4F6FA"/>
          </a:solidFill>
          <a:ln w="10160">
            <a:solidFill>
              <a:srgbClr val="E5E8F0"/>
            </a:solidFill>
            <a:round/>
          </a:ln>
        </p:spPr>
        <p:style>
          <a:lnRef idx="0"/>
          <a:fillRef idx="0"/>
          <a:effectRef idx="0"/>
          <a:fontRef idx="minor"/>
        </p:style>
        <p:txBody>
          <a:bodyPr lIns="90000" rIns="90000" tIns="45000" bIns="45000" anchor="t">
            <a:noAutofit/>
          </a:bodyPr>
          <a:p>
            <a:endParaRPr b="0" lang="en-US" sz="1800" strike="noStrike" u="none">
              <a:solidFill>
                <a:srgbClr val="2D2F38"/>
              </a:solidFill>
              <a:effectLst/>
              <a:uFillTx/>
              <a:latin typeface="Arial"/>
            </a:endParaRPr>
          </a:p>
        </p:txBody>
      </p:sp>
      <p:sp>
        <p:nvSpPr>
          <p:cNvPr id="57" name="Text 20"/>
          <p:cNvSpPr/>
          <p:nvPr/>
        </p:nvSpPr>
        <p:spPr>
          <a:xfrm>
            <a:off x="4599360" y="4060080"/>
            <a:ext cx="2834280" cy="2829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230" strike="noStrike" u="none">
                <a:solidFill>
                  <a:srgbClr val="626B7B"/>
                </a:solidFill>
                <a:effectLst/>
                <a:uFillTx/>
                <a:latin typeface="Aptos"/>
                <a:ea typeface="Aptos"/>
              </a:rPr>
              <a:t>RM-O873  (letter O)</a:t>
            </a:r>
            <a:endParaRPr b="0" lang="en-US" sz="1230" strike="noStrike" u="none">
              <a:solidFill>
                <a:srgbClr val="2D2F38"/>
              </a:solidFill>
              <a:effectLst/>
              <a:uFillTx/>
              <a:latin typeface="Arial"/>
            </a:endParaRPr>
          </a:p>
        </p:txBody>
      </p:sp>
      <p:sp>
        <p:nvSpPr>
          <p:cNvPr id="58" name="Shape 21"/>
          <p:cNvSpPr/>
          <p:nvPr/>
        </p:nvSpPr>
        <p:spPr>
          <a:xfrm>
            <a:off x="7827120" y="1938600"/>
            <a:ext cx="3584160" cy="3245760"/>
          </a:xfrm>
          <a:prstGeom prst="roundRect">
            <a:avLst>
              <a:gd name="adj" fmla="val 3944"/>
            </a:avLst>
          </a:prstGeom>
          <a:solidFill>
            <a:srgbClr val="ffffff"/>
          </a:solidFill>
          <a:ln w="10160">
            <a:solidFill>
              <a:srgbClr val="E5E8F0"/>
            </a:solidFill>
            <a:round/>
          </a:ln>
        </p:spPr>
        <p:style>
          <a:lnRef idx="0"/>
          <a:fillRef idx="0"/>
          <a:effectRef idx="0"/>
          <a:fontRef idx="minor"/>
        </p:style>
        <p:txBody>
          <a:bodyPr lIns="90000" rIns="90000" tIns="45000" bIns="45000" anchor="t">
            <a:noAutofit/>
          </a:bodyPr>
          <a:p>
            <a:endParaRPr b="0" lang="en-US" sz="1800" strike="noStrike" u="none">
              <a:solidFill>
                <a:srgbClr val="2D2F38"/>
              </a:solidFill>
              <a:effectLst/>
              <a:uFillTx/>
              <a:latin typeface="Arial"/>
            </a:endParaRPr>
          </a:p>
        </p:txBody>
      </p:sp>
      <p:sp>
        <p:nvSpPr>
          <p:cNvPr id="59" name="Shape 22"/>
          <p:cNvSpPr/>
          <p:nvPr/>
        </p:nvSpPr>
        <p:spPr>
          <a:xfrm>
            <a:off x="7827120" y="1938600"/>
            <a:ext cx="3584160" cy="68400"/>
          </a:xfrm>
          <a:prstGeom prst="rect">
            <a:avLst/>
          </a:prstGeom>
          <a:solidFill>
            <a:srgbClr val="991B1B"/>
          </a:solidFill>
          <a:ln w="12700">
            <a:solidFill>
              <a:srgbClr val="991B1B"/>
            </a:solidFill>
            <a:round/>
          </a:ln>
        </p:spPr>
        <p:style>
          <a:lnRef idx="0"/>
          <a:fillRef idx="0"/>
          <a:effectRef idx="0"/>
          <a:fontRef idx="minor"/>
        </p:style>
        <p:txBody>
          <a:bodyPr lIns="90000" rIns="90000" tIns="23760" bIns="23760" anchor="t">
            <a:noAutofit/>
          </a:bodyPr>
          <a:p>
            <a:endParaRPr b="0" lang="en-US" sz="1800" strike="noStrike" u="none">
              <a:solidFill>
                <a:srgbClr val="ffffff"/>
              </a:solidFill>
              <a:effectLst/>
              <a:uFillTx/>
              <a:latin typeface="Arial"/>
            </a:endParaRPr>
          </a:p>
        </p:txBody>
      </p:sp>
      <p:sp>
        <p:nvSpPr>
          <p:cNvPr id="60" name="Text 23"/>
          <p:cNvSpPr/>
          <p:nvPr/>
        </p:nvSpPr>
        <p:spPr>
          <a:xfrm>
            <a:off x="8065080" y="2221920"/>
            <a:ext cx="3017160" cy="3470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700" strike="noStrike" u="none">
                <a:solidFill>
                  <a:srgbClr val="2D2F38"/>
                </a:solidFill>
                <a:effectLst/>
                <a:uFillTx/>
                <a:latin typeface="Aptos"/>
                <a:ea typeface="Aptos"/>
              </a:rPr>
              <a:t>The trail has gaps</a:t>
            </a:r>
            <a:endParaRPr b="0" lang="en-US" sz="1700" strike="noStrike" u="none">
              <a:solidFill>
                <a:srgbClr val="2D2F38"/>
              </a:solidFill>
              <a:effectLst/>
              <a:uFillTx/>
              <a:latin typeface="Arial"/>
            </a:endParaRPr>
          </a:p>
        </p:txBody>
      </p:sp>
      <p:sp>
        <p:nvSpPr>
          <p:cNvPr id="61" name="Shape 24"/>
          <p:cNvSpPr/>
          <p:nvPr/>
        </p:nvSpPr>
        <p:spPr>
          <a:xfrm>
            <a:off x="8055720" y="2816280"/>
            <a:ext cx="3126960" cy="429480"/>
          </a:xfrm>
          <a:prstGeom prst="roundRect">
            <a:avLst>
              <a:gd name="adj" fmla="val 17021"/>
            </a:avLst>
          </a:prstGeom>
          <a:solidFill>
            <a:srgbClr val="F7F9FC"/>
          </a:solidFill>
          <a:ln w="10160">
            <a:solidFill>
              <a:srgbClr val="E5E8F0"/>
            </a:solidFill>
            <a:round/>
          </a:ln>
        </p:spPr>
        <p:style>
          <a:lnRef idx="0"/>
          <a:fillRef idx="0"/>
          <a:effectRef idx="0"/>
          <a:fontRef idx="minor"/>
        </p:style>
        <p:txBody>
          <a:bodyPr lIns="90000" rIns="90000" tIns="45000" bIns="45000" anchor="t">
            <a:noAutofit/>
          </a:bodyPr>
          <a:p>
            <a:endParaRPr b="0" lang="en-US" sz="1800" strike="noStrike" u="none">
              <a:solidFill>
                <a:srgbClr val="2D2F38"/>
              </a:solidFill>
              <a:effectLst/>
              <a:uFillTx/>
              <a:latin typeface="Arial"/>
            </a:endParaRPr>
          </a:p>
        </p:txBody>
      </p:sp>
      <p:sp>
        <p:nvSpPr>
          <p:cNvPr id="62" name="Text 25"/>
          <p:cNvSpPr/>
          <p:nvPr/>
        </p:nvSpPr>
        <p:spPr>
          <a:xfrm>
            <a:off x="8192880" y="2871360"/>
            <a:ext cx="2834280" cy="2829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230" strike="noStrike" u="none">
                <a:solidFill>
                  <a:srgbClr val="2D2F38"/>
                </a:solidFill>
                <a:effectLst/>
                <a:uFillTx/>
                <a:latin typeface="Aptos"/>
                <a:ea typeface="Aptos"/>
              </a:rPr>
              <a:t>320 kg received</a:t>
            </a:r>
            <a:endParaRPr b="0" lang="en-US" sz="1230" strike="noStrike" u="none">
              <a:solidFill>
                <a:srgbClr val="2D2F38"/>
              </a:solidFill>
              <a:effectLst/>
              <a:uFillTx/>
              <a:latin typeface="Arial"/>
            </a:endParaRPr>
          </a:p>
        </p:txBody>
      </p:sp>
      <p:sp>
        <p:nvSpPr>
          <p:cNvPr id="63" name="Shape 26"/>
          <p:cNvSpPr/>
          <p:nvPr/>
        </p:nvSpPr>
        <p:spPr>
          <a:xfrm>
            <a:off x="8055720" y="3410640"/>
            <a:ext cx="3126960" cy="429480"/>
          </a:xfrm>
          <a:prstGeom prst="roundRect">
            <a:avLst>
              <a:gd name="adj" fmla="val 17021"/>
            </a:avLst>
          </a:prstGeom>
          <a:solidFill>
            <a:srgbClr val="F7F9FC"/>
          </a:solidFill>
          <a:ln w="10160">
            <a:solidFill>
              <a:srgbClr val="E5E8F0"/>
            </a:solidFill>
            <a:round/>
          </a:ln>
        </p:spPr>
        <p:style>
          <a:lnRef idx="0"/>
          <a:fillRef idx="0"/>
          <a:effectRef idx="0"/>
          <a:fontRef idx="minor"/>
        </p:style>
        <p:txBody>
          <a:bodyPr lIns="90000" rIns="90000" tIns="45000" bIns="45000" anchor="t">
            <a:noAutofit/>
          </a:bodyPr>
          <a:p>
            <a:endParaRPr b="0" lang="en-US" sz="1800" strike="noStrike" u="none">
              <a:solidFill>
                <a:srgbClr val="2D2F38"/>
              </a:solidFill>
              <a:effectLst/>
              <a:uFillTx/>
              <a:latin typeface="Arial"/>
            </a:endParaRPr>
          </a:p>
        </p:txBody>
      </p:sp>
      <p:sp>
        <p:nvSpPr>
          <p:cNvPr id="64" name="Text 27"/>
          <p:cNvSpPr/>
          <p:nvPr/>
        </p:nvSpPr>
        <p:spPr>
          <a:xfrm>
            <a:off x="8192880" y="3465720"/>
            <a:ext cx="2834280" cy="2829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230" strike="noStrike" u="none">
                <a:solidFill>
                  <a:srgbClr val="2D2F38"/>
                </a:solidFill>
                <a:effectLst/>
                <a:uFillTx/>
                <a:latin typeface="Aptos"/>
                <a:ea typeface="Aptos"/>
              </a:rPr>
              <a:t>180 kg consumed</a:t>
            </a:r>
            <a:endParaRPr b="0" lang="en-US" sz="1230" strike="noStrike" u="none">
              <a:solidFill>
                <a:srgbClr val="2D2F38"/>
              </a:solidFill>
              <a:effectLst/>
              <a:uFillTx/>
              <a:latin typeface="Arial"/>
            </a:endParaRPr>
          </a:p>
        </p:txBody>
      </p:sp>
      <p:sp>
        <p:nvSpPr>
          <p:cNvPr id="65" name="Shape 28"/>
          <p:cNvSpPr/>
          <p:nvPr/>
        </p:nvSpPr>
        <p:spPr>
          <a:xfrm>
            <a:off x="8055720" y="4005000"/>
            <a:ext cx="3126960" cy="429480"/>
          </a:xfrm>
          <a:prstGeom prst="roundRect">
            <a:avLst>
              <a:gd name="adj" fmla="val 17021"/>
            </a:avLst>
          </a:prstGeom>
          <a:solidFill>
            <a:srgbClr val="F4F6FA"/>
          </a:solidFill>
          <a:ln w="10160">
            <a:solidFill>
              <a:srgbClr val="E5E8F0"/>
            </a:solidFill>
            <a:round/>
          </a:ln>
        </p:spPr>
        <p:style>
          <a:lnRef idx="0"/>
          <a:fillRef idx="0"/>
          <a:effectRef idx="0"/>
          <a:fontRef idx="minor"/>
        </p:style>
        <p:txBody>
          <a:bodyPr lIns="90000" rIns="90000" tIns="45000" bIns="45000" anchor="t">
            <a:noAutofit/>
          </a:bodyPr>
          <a:p>
            <a:endParaRPr b="0" lang="en-US" sz="1800" strike="noStrike" u="none">
              <a:solidFill>
                <a:srgbClr val="2D2F38"/>
              </a:solidFill>
              <a:effectLst/>
              <a:uFillTx/>
              <a:latin typeface="Arial"/>
            </a:endParaRPr>
          </a:p>
        </p:txBody>
      </p:sp>
      <p:sp>
        <p:nvSpPr>
          <p:cNvPr id="66" name="Text 29"/>
          <p:cNvSpPr/>
          <p:nvPr/>
        </p:nvSpPr>
        <p:spPr>
          <a:xfrm>
            <a:off x="8192880" y="4060080"/>
            <a:ext cx="2834280" cy="2829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230" strike="noStrike" u="none">
                <a:solidFill>
                  <a:srgbClr val="626B7B"/>
                </a:solidFill>
                <a:effectLst/>
                <a:uFillTx/>
                <a:latin typeface="Aptos"/>
                <a:ea typeface="Aptos"/>
              </a:rPr>
              <a:t>Dispatch proof missing / unclear</a:t>
            </a:r>
            <a:endParaRPr b="0" lang="en-US" sz="1230" strike="noStrike" u="none">
              <a:solidFill>
                <a:srgbClr val="2D2F38"/>
              </a:solidFill>
              <a:effectLst/>
              <a:uFillTx/>
              <a:latin typeface="Arial"/>
            </a:endParaRPr>
          </a:p>
        </p:txBody>
      </p:sp>
      <p:sp>
        <p:nvSpPr>
          <p:cNvPr id="67" name="Text 30"/>
          <p:cNvSpPr/>
          <p:nvPr/>
        </p:nvSpPr>
        <p:spPr>
          <a:xfrm>
            <a:off x="749880" y="5486400"/>
            <a:ext cx="10698120" cy="58500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700" strike="noStrike" u="none">
                <a:solidFill>
                  <a:srgbClr val="39466C"/>
                </a:solidFill>
                <a:effectLst/>
                <a:uFillTx/>
                <a:latin typeface="Aptos"/>
                <a:ea typeface="Aptos"/>
              </a:rPr>
              <a:t>When a supplier flags a lot, staff must identify affected batches and destinations without hiding contradictions or missing records.</a:t>
            </a:r>
            <a:endParaRPr b="0" lang="en-US" sz="1700" strike="noStrike" u="none">
              <a:solidFill>
                <a:srgbClr val="2D2F38"/>
              </a:solidFill>
              <a:effectLst/>
              <a:uFillTx/>
              <a:latin typeface="Arial"/>
            </a:endParaRPr>
          </a:p>
        </p:txBody>
      </p:sp>
      <p:sp>
        <p:nvSpPr>
          <p:cNvPr id="68" name="Text 31"/>
          <p:cNvSpPr/>
          <p:nvPr/>
        </p:nvSpPr>
        <p:spPr>
          <a:xfrm>
            <a:off x="914400" y="6117480"/>
            <a:ext cx="10332360" cy="18252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950" strike="noStrike" u="none">
                <a:solidFill>
                  <a:srgbClr val="626B7B"/>
                </a:solidFill>
                <a:effectLst/>
                <a:uFillTx/>
                <a:latin typeface="Aptos"/>
                <a:ea typeface="Aptos"/>
              </a:rPr>
              <a:t>No market-size, error-rate or time-saved claim is made here; these remain to be validated with practitioners.</a:t>
            </a:r>
            <a:endParaRPr b="0" lang="en-US" sz="950" strike="noStrike" u="none">
              <a:solidFill>
                <a:srgbClr val="2D2F38"/>
              </a:solidFill>
              <a:effectLst/>
              <a:uFillTx/>
              <a:latin typeface="Arial"/>
            </a:endParaRPr>
          </a:p>
        </p:txBody>
      </p:sp>
      <p:sp>
        <p:nvSpPr>
          <p:cNvPr id="69" name="PlaceHolder 1"/>
          <p:cNvSpPr>
            <a:spLocks noGrp="1"/>
          </p:cNvSpPr>
          <p:nvPr>
            <p:ph type="sldNum" idx="5"/>
          </p:nvPr>
        </p:nvSpPr>
        <p:spPr>
          <a:xfrm>
            <a:off x="11685960" y="6565320"/>
            <a:ext cx="799560" cy="299520"/>
          </a:xfrm>
          <a:prstGeom prst="rect">
            <a:avLst/>
          </a:prstGeom>
          <a:noFill/>
          <a:ln w="0">
            <a:noFill/>
          </a:ln>
        </p:spPr>
        <p:txBody>
          <a:bodyPr lIns="90000" rIns="90000" tIns="45000" bIns="45000" anchor="t">
            <a:noAutofit/>
          </a:bodyPr>
          <a:lstStyle>
            <a:lvl1pPr indent="0" defTabSz="914400">
              <a:lnSpc>
                <a:spcPct val="100000"/>
              </a:lnSpc>
              <a:buNone/>
              <a:defRPr b="0" lang="en-US" sz="700" strike="noStrike" u="none">
                <a:solidFill>
                  <a:srgbClr val="626B7B"/>
                </a:solidFill>
                <a:effectLst/>
                <a:uFillTx/>
                <a:latin typeface="Aptos"/>
                <a:ea typeface="Aptos"/>
              </a:defRPr>
            </a:lvl1pPr>
          </a:lstStyle>
          <a:p>
            <a:pPr indent="0" defTabSz="914400">
              <a:lnSpc>
                <a:spcPct val="100000"/>
              </a:lnSpc>
              <a:buNone/>
            </a:pPr>
            <a:fld id="{C222669D-918E-4EF3-9238-787DED508820}" type="slidenum">
              <a:rPr b="0" lang="en-US" sz="700" strike="noStrike" u="none">
                <a:solidFill>
                  <a:srgbClr val="626B7B"/>
                </a:solidFill>
                <a:effectLst/>
                <a:uFillTx/>
                <a:latin typeface="Aptos"/>
                <a:ea typeface="Aptos"/>
              </a:rPr>
              <a:t>2</a:t>
            </a:fld>
            <a:endParaRPr b="0" lang="en-US" sz="700" strike="noStrike" u="none">
              <a:solidFill>
                <a:srgbClr val="2D2F38"/>
              </a:solidFill>
              <a:effectLst/>
              <a:uFillTx/>
              <a:latin typeface="Times New Roman"/>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0" name="Text 0"/>
          <p:cNvSpPr/>
          <p:nvPr/>
        </p:nvSpPr>
        <p:spPr>
          <a:xfrm>
            <a:off x="567000" y="384120"/>
            <a:ext cx="10881000" cy="1825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900" spc="181" strike="noStrike" u="none">
                <a:solidFill>
                  <a:srgbClr val="39466C"/>
                </a:solidFill>
                <a:effectLst/>
                <a:uFillTx/>
                <a:latin typeface="Aptos"/>
                <a:ea typeface="Aptos"/>
              </a:rPr>
              <a:t>02 / SOLUTION</a:t>
            </a:r>
            <a:endParaRPr b="0" lang="en-US" sz="900" strike="noStrike" u="none">
              <a:solidFill>
                <a:srgbClr val="2D2F38"/>
              </a:solidFill>
              <a:effectLst/>
              <a:uFillTx/>
              <a:latin typeface="Arial"/>
            </a:endParaRPr>
          </a:p>
        </p:txBody>
      </p:sp>
      <p:sp>
        <p:nvSpPr>
          <p:cNvPr id="71" name="Text 1"/>
          <p:cNvSpPr/>
          <p:nvPr/>
        </p:nvSpPr>
        <p:spPr>
          <a:xfrm>
            <a:off x="567000" y="658440"/>
            <a:ext cx="11018160" cy="4752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2600" strike="noStrike" u="none">
                <a:solidFill>
                  <a:srgbClr val="2D2F38"/>
                </a:solidFill>
                <a:effectLst/>
                <a:uFillTx/>
                <a:latin typeface="Aptos"/>
                <a:ea typeface="Aptos"/>
              </a:rPr>
              <a:t>An evidence-reconciliation workbench</a:t>
            </a:r>
            <a:endParaRPr b="0" lang="en-US" sz="2600" strike="noStrike" u="none">
              <a:solidFill>
                <a:srgbClr val="2D2F38"/>
              </a:solidFill>
              <a:effectLst/>
              <a:uFillTx/>
              <a:latin typeface="Arial"/>
            </a:endParaRPr>
          </a:p>
        </p:txBody>
      </p:sp>
      <p:sp>
        <p:nvSpPr>
          <p:cNvPr id="72" name="Text 2"/>
          <p:cNvSpPr/>
          <p:nvPr/>
        </p:nvSpPr>
        <p:spPr>
          <a:xfrm>
            <a:off x="585360" y="1197720"/>
            <a:ext cx="10972440" cy="383760"/>
          </a:xfrm>
          <a:prstGeom prst="rect">
            <a:avLst/>
          </a:prstGeom>
          <a:noFill/>
          <a:ln w="0">
            <a:noFill/>
          </a:ln>
        </p:spPr>
        <p:style>
          <a:lnRef idx="0"/>
          <a:fillRef idx="0"/>
          <a:effectRef idx="0"/>
          <a:fontRef idx="minor"/>
        </p:style>
        <p:txBody>
          <a:bodyPr lIns="0" rIns="0" tIns="0" bIns="0" anchor="t">
            <a:normAutofit/>
          </a:bodyPr>
          <a:p>
            <a:pPr defTabSz="914400">
              <a:lnSpc>
                <a:spcPct val="100000"/>
              </a:lnSpc>
              <a:tabLst>
                <a:tab algn="l" pos="0"/>
              </a:tabLst>
            </a:pPr>
            <a:r>
              <a:rPr b="0" lang="en-US" sz="1250" strike="noStrike" u="none">
                <a:solidFill>
                  <a:srgbClr val="626B7B"/>
                </a:solidFill>
                <a:effectLst/>
                <a:uFillTx/>
                <a:latin typeface="Aptos"/>
                <a:ea typeface="Aptos"/>
              </a:rPr>
              <a:t>Klarrow helps turn existing records into reviewable claims and a trace with visible uncertainty.</a:t>
            </a:r>
            <a:endParaRPr b="0" lang="en-US" sz="1250" strike="noStrike" u="none">
              <a:solidFill>
                <a:srgbClr val="2D2F38"/>
              </a:solidFill>
              <a:effectLst/>
              <a:uFillTx/>
              <a:latin typeface="Arial"/>
            </a:endParaRPr>
          </a:p>
        </p:txBody>
      </p:sp>
      <p:sp>
        <p:nvSpPr>
          <p:cNvPr id="73" name="Shape 3"/>
          <p:cNvSpPr/>
          <p:nvPr/>
        </p:nvSpPr>
        <p:spPr>
          <a:xfrm>
            <a:off x="640080" y="2011680"/>
            <a:ext cx="2267280" cy="2559960"/>
          </a:xfrm>
          <a:prstGeom prst="roundRect">
            <a:avLst>
              <a:gd name="adj" fmla="val 4839"/>
            </a:avLst>
          </a:prstGeom>
          <a:solidFill>
            <a:srgbClr val="ffffff"/>
          </a:solidFill>
          <a:ln w="10160">
            <a:solidFill>
              <a:srgbClr val="E5E8F0"/>
            </a:solidFill>
            <a:round/>
          </a:ln>
        </p:spPr>
        <p:style>
          <a:lnRef idx="0"/>
          <a:fillRef idx="0"/>
          <a:effectRef idx="0"/>
          <a:fontRef idx="minor"/>
        </p:style>
        <p:txBody>
          <a:bodyPr lIns="90000" rIns="90000" tIns="45000" bIns="45000" anchor="t">
            <a:noAutofit/>
          </a:bodyPr>
          <a:p>
            <a:endParaRPr b="0" lang="en-US" sz="1800" strike="noStrike" u="none">
              <a:solidFill>
                <a:srgbClr val="2D2F38"/>
              </a:solidFill>
              <a:effectLst/>
              <a:uFillTx/>
              <a:latin typeface="Arial"/>
            </a:endParaRPr>
          </a:p>
        </p:txBody>
      </p:sp>
      <p:sp>
        <p:nvSpPr>
          <p:cNvPr id="74" name="Shape 4"/>
          <p:cNvSpPr/>
          <p:nvPr/>
        </p:nvSpPr>
        <p:spPr>
          <a:xfrm>
            <a:off x="822960" y="2221920"/>
            <a:ext cx="429480" cy="264960"/>
          </a:xfrm>
          <a:prstGeom prst="roundRect">
            <a:avLst>
              <a:gd name="adj" fmla="val 24138"/>
            </a:avLst>
          </a:prstGeom>
          <a:solidFill>
            <a:srgbClr val="E7EBF4"/>
          </a:solidFill>
          <a:ln w="8890">
            <a:solidFill>
              <a:srgbClr val="E7EBF4"/>
            </a:solidFill>
            <a:round/>
          </a:ln>
        </p:spPr>
        <p:style>
          <a:lnRef idx="0"/>
          <a:fillRef idx="0"/>
          <a:effectRef idx="0"/>
          <a:fontRef idx="minor"/>
        </p:style>
        <p:txBody>
          <a:bodyPr lIns="90000" rIns="90000" tIns="45000" bIns="45000" anchor="t">
            <a:noAutofit/>
          </a:bodyPr>
          <a:p>
            <a:endParaRPr b="0" lang="en-US" sz="1800" strike="noStrike" u="none">
              <a:solidFill>
                <a:srgbClr val="2D2F38"/>
              </a:solidFill>
              <a:effectLst/>
              <a:uFillTx/>
              <a:latin typeface="Arial"/>
            </a:endParaRPr>
          </a:p>
        </p:txBody>
      </p:sp>
      <p:sp>
        <p:nvSpPr>
          <p:cNvPr id="75" name="Text 5"/>
          <p:cNvSpPr/>
          <p:nvPr/>
        </p:nvSpPr>
        <p:spPr>
          <a:xfrm>
            <a:off x="887040" y="2240280"/>
            <a:ext cx="301320" cy="2098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860" strike="noStrike" u="none">
                <a:solidFill>
                  <a:srgbClr val="39466C"/>
                </a:solidFill>
                <a:effectLst/>
                <a:uFillTx/>
                <a:latin typeface="Aptos"/>
                <a:ea typeface="Aptos"/>
              </a:rPr>
              <a:t>01</a:t>
            </a:r>
            <a:endParaRPr b="0" lang="en-US" sz="860" strike="noStrike" u="none">
              <a:solidFill>
                <a:srgbClr val="2D2F38"/>
              </a:solidFill>
              <a:effectLst/>
              <a:uFillTx/>
              <a:latin typeface="Arial"/>
            </a:endParaRPr>
          </a:p>
        </p:txBody>
      </p:sp>
      <p:sp>
        <p:nvSpPr>
          <p:cNvPr id="76" name="Text 6"/>
          <p:cNvSpPr/>
          <p:nvPr/>
        </p:nvSpPr>
        <p:spPr>
          <a:xfrm>
            <a:off x="822960" y="2743200"/>
            <a:ext cx="1901520" cy="3837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700" strike="noStrike" u="none">
                <a:solidFill>
                  <a:srgbClr val="2D2F38"/>
                </a:solidFill>
                <a:effectLst/>
                <a:uFillTx/>
                <a:latin typeface="Aptos"/>
                <a:ea typeface="Aptos"/>
              </a:rPr>
              <a:t>Ingest</a:t>
            </a:r>
            <a:endParaRPr b="0" lang="en-US" sz="1700" strike="noStrike" u="none">
              <a:solidFill>
                <a:srgbClr val="2D2F38"/>
              </a:solidFill>
              <a:effectLst/>
              <a:uFillTx/>
              <a:latin typeface="Arial"/>
            </a:endParaRPr>
          </a:p>
        </p:txBody>
      </p:sp>
      <p:sp>
        <p:nvSpPr>
          <p:cNvPr id="77" name="Text 7"/>
          <p:cNvSpPr/>
          <p:nvPr/>
        </p:nvSpPr>
        <p:spPr>
          <a:xfrm>
            <a:off x="822960" y="3291840"/>
            <a:ext cx="1874160" cy="849960"/>
          </a:xfrm>
          <a:prstGeom prst="rect">
            <a:avLst/>
          </a:prstGeom>
          <a:noFill/>
          <a:ln w="0">
            <a:noFill/>
          </a:ln>
        </p:spPr>
        <p:style>
          <a:lnRef idx="0"/>
          <a:fillRef idx="0"/>
          <a:effectRef idx="0"/>
          <a:fontRef idx="minor"/>
        </p:style>
        <p:txBody>
          <a:bodyPr lIns="0" rIns="0" tIns="0" bIns="0" anchor="t">
            <a:normAutofit/>
          </a:bodyPr>
          <a:p>
            <a:pPr defTabSz="914400">
              <a:lnSpc>
                <a:spcPct val="100000"/>
              </a:lnSpc>
              <a:tabLst>
                <a:tab algn="l" pos="0"/>
              </a:tabLst>
            </a:pPr>
            <a:r>
              <a:rPr b="0" lang="en-US" sz="1200" strike="noStrike" u="none">
                <a:solidFill>
                  <a:srgbClr val="626B7B"/>
                </a:solidFill>
                <a:effectLst/>
                <a:uFillTx/>
                <a:latin typeface="Aptos"/>
                <a:ea typeface="Aptos"/>
              </a:rPr>
              <a:t>Keep originals. Parse supported text and tables.</a:t>
            </a:r>
            <a:endParaRPr b="0" lang="en-US" sz="1200" strike="noStrike" u="none">
              <a:solidFill>
                <a:srgbClr val="2D2F38"/>
              </a:solidFill>
              <a:effectLst/>
              <a:uFillTx/>
              <a:latin typeface="Arial"/>
            </a:endParaRPr>
          </a:p>
        </p:txBody>
      </p:sp>
      <p:sp>
        <p:nvSpPr>
          <p:cNvPr id="78" name="Shape 8"/>
          <p:cNvSpPr/>
          <p:nvPr/>
        </p:nvSpPr>
        <p:spPr>
          <a:xfrm>
            <a:off x="2971800" y="3273480"/>
            <a:ext cx="457200" cy="360"/>
          </a:xfrm>
          <a:prstGeom prst="line">
            <a:avLst/>
          </a:prstGeom>
          <a:ln w="22860">
            <a:solidFill>
              <a:srgbClr val="39466C"/>
            </a:solidFill>
            <a:round/>
          </a:ln>
        </p:spPr>
        <p:style>
          <a:lnRef idx="0"/>
          <a:fillRef idx="0"/>
          <a:effectRef idx="0"/>
          <a:fontRef idx="minor"/>
        </p:style>
        <p:txBody>
          <a:bodyPr lIns="90000" rIns="90000" tIns="-44640" bIns="-44640" anchor="t" anchorCtr="1">
            <a:noAutofit/>
          </a:bodyPr>
          <a:p>
            <a:endParaRPr b="0" lang="en-US" sz="1800" strike="noStrike" u="none">
              <a:solidFill>
                <a:srgbClr val="2D2F38"/>
              </a:solidFill>
              <a:effectLst/>
              <a:uFillTx/>
              <a:latin typeface="Arial"/>
            </a:endParaRPr>
          </a:p>
        </p:txBody>
      </p:sp>
      <p:sp>
        <p:nvSpPr>
          <p:cNvPr id="79" name="Shape 9"/>
          <p:cNvSpPr/>
          <p:nvPr/>
        </p:nvSpPr>
        <p:spPr>
          <a:xfrm>
            <a:off x="3273480" y="3154680"/>
            <a:ext cx="182520" cy="237240"/>
          </a:xfrm>
          <a:prstGeom prst="chevron">
            <a:avLst>
              <a:gd name="adj" fmla="val 50000"/>
            </a:avLst>
          </a:prstGeom>
          <a:solidFill>
            <a:srgbClr val="39466C"/>
          </a:solidFill>
          <a:ln w="12700">
            <a:solidFill>
              <a:srgbClr val="39466C"/>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80" name="Shape 10"/>
          <p:cNvSpPr/>
          <p:nvPr/>
        </p:nvSpPr>
        <p:spPr>
          <a:xfrm>
            <a:off x="3520440" y="2011680"/>
            <a:ext cx="2267280" cy="2559960"/>
          </a:xfrm>
          <a:prstGeom prst="roundRect">
            <a:avLst>
              <a:gd name="adj" fmla="val 4839"/>
            </a:avLst>
          </a:prstGeom>
          <a:solidFill>
            <a:srgbClr val="ffffff"/>
          </a:solidFill>
          <a:ln w="10160">
            <a:solidFill>
              <a:srgbClr val="E5E8F0"/>
            </a:solidFill>
            <a:round/>
          </a:ln>
        </p:spPr>
        <p:style>
          <a:lnRef idx="0"/>
          <a:fillRef idx="0"/>
          <a:effectRef idx="0"/>
          <a:fontRef idx="minor"/>
        </p:style>
        <p:txBody>
          <a:bodyPr lIns="90000" rIns="90000" tIns="45000" bIns="45000" anchor="t">
            <a:noAutofit/>
          </a:bodyPr>
          <a:p>
            <a:endParaRPr b="0" lang="en-US" sz="1800" strike="noStrike" u="none">
              <a:solidFill>
                <a:srgbClr val="2D2F38"/>
              </a:solidFill>
              <a:effectLst/>
              <a:uFillTx/>
              <a:latin typeface="Arial"/>
            </a:endParaRPr>
          </a:p>
        </p:txBody>
      </p:sp>
      <p:sp>
        <p:nvSpPr>
          <p:cNvPr id="81" name="Shape 11"/>
          <p:cNvSpPr/>
          <p:nvPr/>
        </p:nvSpPr>
        <p:spPr>
          <a:xfrm>
            <a:off x="3703320" y="2221920"/>
            <a:ext cx="429480" cy="264960"/>
          </a:xfrm>
          <a:prstGeom prst="roundRect">
            <a:avLst>
              <a:gd name="adj" fmla="val 24138"/>
            </a:avLst>
          </a:prstGeom>
          <a:solidFill>
            <a:srgbClr val="E7EBF4"/>
          </a:solidFill>
          <a:ln w="8890">
            <a:solidFill>
              <a:srgbClr val="E7EBF4"/>
            </a:solidFill>
            <a:round/>
          </a:ln>
        </p:spPr>
        <p:style>
          <a:lnRef idx="0"/>
          <a:fillRef idx="0"/>
          <a:effectRef idx="0"/>
          <a:fontRef idx="minor"/>
        </p:style>
        <p:txBody>
          <a:bodyPr lIns="90000" rIns="90000" tIns="45000" bIns="45000" anchor="t">
            <a:noAutofit/>
          </a:bodyPr>
          <a:p>
            <a:endParaRPr b="0" lang="en-US" sz="1800" strike="noStrike" u="none">
              <a:solidFill>
                <a:srgbClr val="2D2F38"/>
              </a:solidFill>
              <a:effectLst/>
              <a:uFillTx/>
              <a:latin typeface="Arial"/>
            </a:endParaRPr>
          </a:p>
        </p:txBody>
      </p:sp>
      <p:sp>
        <p:nvSpPr>
          <p:cNvPr id="82" name="Text 12"/>
          <p:cNvSpPr/>
          <p:nvPr/>
        </p:nvSpPr>
        <p:spPr>
          <a:xfrm>
            <a:off x="3767400" y="2240280"/>
            <a:ext cx="301320" cy="2098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860" strike="noStrike" u="none">
                <a:solidFill>
                  <a:srgbClr val="39466C"/>
                </a:solidFill>
                <a:effectLst/>
                <a:uFillTx/>
                <a:latin typeface="Aptos"/>
                <a:ea typeface="Aptos"/>
              </a:rPr>
              <a:t>02</a:t>
            </a:r>
            <a:endParaRPr b="0" lang="en-US" sz="860" strike="noStrike" u="none">
              <a:solidFill>
                <a:srgbClr val="2D2F38"/>
              </a:solidFill>
              <a:effectLst/>
              <a:uFillTx/>
              <a:latin typeface="Arial"/>
            </a:endParaRPr>
          </a:p>
        </p:txBody>
      </p:sp>
      <p:sp>
        <p:nvSpPr>
          <p:cNvPr id="83" name="Text 13"/>
          <p:cNvSpPr/>
          <p:nvPr/>
        </p:nvSpPr>
        <p:spPr>
          <a:xfrm>
            <a:off x="3703320" y="2743200"/>
            <a:ext cx="1901520" cy="3837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700" strike="noStrike" u="none">
                <a:solidFill>
                  <a:srgbClr val="2D2F38"/>
                </a:solidFill>
                <a:effectLst/>
                <a:uFillTx/>
                <a:latin typeface="Aptos"/>
                <a:ea typeface="Aptos"/>
              </a:rPr>
              <a:t>Extract</a:t>
            </a:r>
            <a:endParaRPr b="0" lang="en-US" sz="1700" strike="noStrike" u="none">
              <a:solidFill>
                <a:srgbClr val="2D2F38"/>
              </a:solidFill>
              <a:effectLst/>
              <a:uFillTx/>
              <a:latin typeface="Arial"/>
            </a:endParaRPr>
          </a:p>
        </p:txBody>
      </p:sp>
      <p:sp>
        <p:nvSpPr>
          <p:cNvPr id="84" name="Text 14"/>
          <p:cNvSpPr/>
          <p:nvPr/>
        </p:nvSpPr>
        <p:spPr>
          <a:xfrm>
            <a:off x="3703320" y="3291840"/>
            <a:ext cx="1874160" cy="849960"/>
          </a:xfrm>
          <a:prstGeom prst="rect">
            <a:avLst/>
          </a:prstGeom>
          <a:noFill/>
          <a:ln w="0">
            <a:noFill/>
          </a:ln>
        </p:spPr>
        <p:style>
          <a:lnRef idx="0"/>
          <a:fillRef idx="0"/>
          <a:effectRef idx="0"/>
          <a:fontRef idx="minor"/>
        </p:style>
        <p:txBody>
          <a:bodyPr lIns="0" rIns="0" tIns="0" bIns="0" anchor="t">
            <a:normAutofit/>
          </a:bodyPr>
          <a:p>
            <a:pPr defTabSz="914400">
              <a:lnSpc>
                <a:spcPct val="100000"/>
              </a:lnSpc>
              <a:tabLst>
                <a:tab algn="l" pos="0"/>
              </a:tabLst>
            </a:pPr>
            <a:r>
              <a:rPr b="0" lang="en-US" sz="1200" strike="noStrike" u="none">
                <a:solidFill>
                  <a:srgbClr val="626B7B"/>
                </a:solidFill>
                <a:effectLst/>
                <a:uFillTx/>
                <a:latin typeface="Aptos"/>
                <a:ea typeface="Aptos"/>
              </a:rPr>
              <a:t>Local Llama proposes candidate facts with source evidence.</a:t>
            </a:r>
            <a:endParaRPr b="0" lang="en-US" sz="1200" strike="noStrike" u="none">
              <a:solidFill>
                <a:srgbClr val="2D2F38"/>
              </a:solidFill>
              <a:effectLst/>
              <a:uFillTx/>
              <a:latin typeface="Arial"/>
            </a:endParaRPr>
          </a:p>
        </p:txBody>
      </p:sp>
      <p:sp>
        <p:nvSpPr>
          <p:cNvPr id="85" name="Shape 15"/>
          <p:cNvSpPr/>
          <p:nvPr/>
        </p:nvSpPr>
        <p:spPr>
          <a:xfrm>
            <a:off x="5852160" y="3273480"/>
            <a:ext cx="457200" cy="360"/>
          </a:xfrm>
          <a:prstGeom prst="line">
            <a:avLst/>
          </a:prstGeom>
          <a:ln w="22860">
            <a:solidFill>
              <a:srgbClr val="39466C"/>
            </a:solidFill>
            <a:round/>
          </a:ln>
        </p:spPr>
        <p:style>
          <a:lnRef idx="0"/>
          <a:fillRef idx="0"/>
          <a:effectRef idx="0"/>
          <a:fontRef idx="minor"/>
        </p:style>
        <p:txBody>
          <a:bodyPr lIns="90000" rIns="90000" tIns="-44640" bIns="-44640" anchor="t" anchorCtr="1">
            <a:noAutofit/>
          </a:bodyPr>
          <a:p>
            <a:endParaRPr b="0" lang="en-US" sz="1800" strike="noStrike" u="none">
              <a:solidFill>
                <a:srgbClr val="2D2F38"/>
              </a:solidFill>
              <a:effectLst/>
              <a:uFillTx/>
              <a:latin typeface="Arial"/>
            </a:endParaRPr>
          </a:p>
        </p:txBody>
      </p:sp>
      <p:sp>
        <p:nvSpPr>
          <p:cNvPr id="86" name="Shape 16"/>
          <p:cNvSpPr/>
          <p:nvPr/>
        </p:nvSpPr>
        <p:spPr>
          <a:xfrm>
            <a:off x="6153840" y="3154680"/>
            <a:ext cx="182520" cy="237240"/>
          </a:xfrm>
          <a:prstGeom prst="chevron">
            <a:avLst>
              <a:gd name="adj" fmla="val 50000"/>
            </a:avLst>
          </a:prstGeom>
          <a:solidFill>
            <a:srgbClr val="39466C"/>
          </a:solidFill>
          <a:ln w="12700">
            <a:solidFill>
              <a:srgbClr val="39466C"/>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87" name="Shape 17"/>
          <p:cNvSpPr/>
          <p:nvPr/>
        </p:nvSpPr>
        <p:spPr>
          <a:xfrm>
            <a:off x="6400800" y="2011680"/>
            <a:ext cx="2267280" cy="2559960"/>
          </a:xfrm>
          <a:prstGeom prst="roundRect">
            <a:avLst>
              <a:gd name="adj" fmla="val 4839"/>
            </a:avLst>
          </a:prstGeom>
          <a:solidFill>
            <a:srgbClr val="ffffff"/>
          </a:solidFill>
          <a:ln w="10160">
            <a:solidFill>
              <a:srgbClr val="E5E8F0"/>
            </a:solidFill>
            <a:round/>
          </a:ln>
        </p:spPr>
        <p:style>
          <a:lnRef idx="0"/>
          <a:fillRef idx="0"/>
          <a:effectRef idx="0"/>
          <a:fontRef idx="minor"/>
        </p:style>
        <p:txBody>
          <a:bodyPr lIns="90000" rIns="90000" tIns="45000" bIns="45000" anchor="t">
            <a:noAutofit/>
          </a:bodyPr>
          <a:p>
            <a:endParaRPr b="0" lang="en-US" sz="1800" strike="noStrike" u="none">
              <a:solidFill>
                <a:srgbClr val="2D2F38"/>
              </a:solidFill>
              <a:effectLst/>
              <a:uFillTx/>
              <a:latin typeface="Arial"/>
            </a:endParaRPr>
          </a:p>
        </p:txBody>
      </p:sp>
      <p:sp>
        <p:nvSpPr>
          <p:cNvPr id="88" name="Shape 18"/>
          <p:cNvSpPr/>
          <p:nvPr/>
        </p:nvSpPr>
        <p:spPr>
          <a:xfrm>
            <a:off x="6583680" y="2221920"/>
            <a:ext cx="429480" cy="264960"/>
          </a:xfrm>
          <a:prstGeom prst="roundRect">
            <a:avLst>
              <a:gd name="adj" fmla="val 24138"/>
            </a:avLst>
          </a:prstGeom>
          <a:solidFill>
            <a:srgbClr val="E7EBF4"/>
          </a:solidFill>
          <a:ln w="8890">
            <a:solidFill>
              <a:srgbClr val="E7EBF4"/>
            </a:solidFill>
            <a:round/>
          </a:ln>
        </p:spPr>
        <p:style>
          <a:lnRef idx="0"/>
          <a:fillRef idx="0"/>
          <a:effectRef idx="0"/>
          <a:fontRef idx="minor"/>
        </p:style>
        <p:txBody>
          <a:bodyPr lIns="90000" rIns="90000" tIns="45000" bIns="45000" anchor="t">
            <a:noAutofit/>
          </a:bodyPr>
          <a:p>
            <a:endParaRPr b="0" lang="en-US" sz="1800" strike="noStrike" u="none">
              <a:solidFill>
                <a:srgbClr val="2D2F38"/>
              </a:solidFill>
              <a:effectLst/>
              <a:uFillTx/>
              <a:latin typeface="Arial"/>
            </a:endParaRPr>
          </a:p>
        </p:txBody>
      </p:sp>
      <p:sp>
        <p:nvSpPr>
          <p:cNvPr id="89" name="Text 19"/>
          <p:cNvSpPr/>
          <p:nvPr/>
        </p:nvSpPr>
        <p:spPr>
          <a:xfrm>
            <a:off x="6647760" y="2240280"/>
            <a:ext cx="301320" cy="2098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860" strike="noStrike" u="none">
                <a:solidFill>
                  <a:srgbClr val="39466C"/>
                </a:solidFill>
                <a:effectLst/>
                <a:uFillTx/>
                <a:latin typeface="Aptos"/>
                <a:ea typeface="Aptos"/>
              </a:rPr>
              <a:t>03</a:t>
            </a:r>
            <a:endParaRPr b="0" lang="en-US" sz="860" strike="noStrike" u="none">
              <a:solidFill>
                <a:srgbClr val="2D2F38"/>
              </a:solidFill>
              <a:effectLst/>
              <a:uFillTx/>
              <a:latin typeface="Arial"/>
            </a:endParaRPr>
          </a:p>
        </p:txBody>
      </p:sp>
      <p:sp>
        <p:nvSpPr>
          <p:cNvPr id="90" name="Text 20"/>
          <p:cNvSpPr/>
          <p:nvPr/>
        </p:nvSpPr>
        <p:spPr>
          <a:xfrm>
            <a:off x="6583680" y="2743200"/>
            <a:ext cx="1901520" cy="3837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700" strike="noStrike" u="none">
                <a:solidFill>
                  <a:srgbClr val="2D2F38"/>
                </a:solidFill>
                <a:effectLst/>
                <a:uFillTx/>
                <a:latin typeface="Aptos"/>
                <a:ea typeface="Aptos"/>
              </a:rPr>
              <a:t>Review</a:t>
            </a:r>
            <a:endParaRPr b="0" lang="en-US" sz="1700" strike="noStrike" u="none">
              <a:solidFill>
                <a:srgbClr val="2D2F38"/>
              </a:solidFill>
              <a:effectLst/>
              <a:uFillTx/>
              <a:latin typeface="Arial"/>
            </a:endParaRPr>
          </a:p>
        </p:txBody>
      </p:sp>
      <p:sp>
        <p:nvSpPr>
          <p:cNvPr id="91" name="Text 21"/>
          <p:cNvSpPr/>
          <p:nvPr/>
        </p:nvSpPr>
        <p:spPr>
          <a:xfrm>
            <a:off x="6583680" y="3291840"/>
            <a:ext cx="1874160" cy="849960"/>
          </a:xfrm>
          <a:prstGeom prst="rect">
            <a:avLst/>
          </a:prstGeom>
          <a:noFill/>
          <a:ln w="0">
            <a:noFill/>
          </a:ln>
        </p:spPr>
        <p:style>
          <a:lnRef idx="0"/>
          <a:fillRef idx="0"/>
          <a:effectRef idx="0"/>
          <a:fontRef idx="minor"/>
        </p:style>
        <p:txBody>
          <a:bodyPr lIns="0" rIns="0" tIns="0" bIns="0" anchor="t">
            <a:normAutofit/>
          </a:bodyPr>
          <a:p>
            <a:pPr defTabSz="914400">
              <a:lnSpc>
                <a:spcPct val="100000"/>
              </a:lnSpc>
              <a:tabLst>
                <a:tab algn="l" pos="0"/>
              </a:tabLst>
            </a:pPr>
            <a:r>
              <a:rPr b="0" lang="en-US" sz="1200" strike="noStrike" u="none">
                <a:solidFill>
                  <a:srgbClr val="626B7B"/>
                </a:solidFill>
                <a:effectLst/>
                <a:uFillTx/>
                <a:latin typeface="Aptos"/>
                <a:ea typeface="Aptos"/>
              </a:rPr>
              <a:t>Resolve identities and relationships with a human decision.</a:t>
            </a:r>
            <a:endParaRPr b="0" lang="en-US" sz="1200" strike="noStrike" u="none">
              <a:solidFill>
                <a:srgbClr val="2D2F38"/>
              </a:solidFill>
              <a:effectLst/>
              <a:uFillTx/>
              <a:latin typeface="Arial"/>
            </a:endParaRPr>
          </a:p>
        </p:txBody>
      </p:sp>
      <p:sp>
        <p:nvSpPr>
          <p:cNvPr id="92" name="Shape 22"/>
          <p:cNvSpPr/>
          <p:nvPr/>
        </p:nvSpPr>
        <p:spPr>
          <a:xfrm>
            <a:off x="8732520" y="3273480"/>
            <a:ext cx="457200" cy="360"/>
          </a:xfrm>
          <a:prstGeom prst="line">
            <a:avLst/>
          </a:prstGeom>
          <a:ln w="22860">
            <a:solidFill>
              <a:srgbClr val="39466C"/>
            </a:solidFill>
            <a:round/>
          </a:ln>
        </p:spPr>
        <p:style>
          <a:lnRef idx="0"/>
          <a:fillRef idx="0"/>
          <a:effectRef idx="0"/>
          <a:fontRef idx="minor"/>
        </p:style>
        <p:txBody>
          <a:bodyPr lIns="90000" rIns="90000" tIns="-44640" bIns="-44640" anchor="t" anchorCtr="1">
            <a:noAutofit/>
          </a:bodyPr>
          <a:p>
            <a:endParaRPr b="0" lang="en-US" sz="1800" strike="noStrike" u="none">
              <a:solidFill>
                <a:srgbClr val="2D2F38"/>
              </a:solidFill>
              <a:effectLst/>
              <a:uFillTx/>
              <a:latin typeface="Arial"/>
            </a:endParaRPr>
          </a:p>
        </p:txBody>
      </p:sp>
      <p:sp>
        <p:nvSpPr>
          <p:cNvPr id="93" name="Shape 23"/>
          <p:cNvSpPr/>
          <p:nvPr/>
        </p:nvSpPr>
        <p:spPr>
          <a:xfrm>
            <a:off x="9034200" y="3154680"/>
            <a:ext cx="182520" cy="237240"/>
          </a:xfrm>
          <a:prstGeom prst="chevron">
            <a:avLst>
              <a:gd name="adj" fmla="val 50000"/>
            </a:avLst>
          </a:prstGeom>
          <a:solidFill>
            <a:srgbClr val="39466C"/>
          </a:solidFill>
          <a:ln w="12700">
            <a:solidFill>
              <a:srgbClr val="39466C"/>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94" name="Shape 24"/>
          <p:cNvSpPr/>
          <p:nvPr/>
        </p:nvSpPr>
        <p:spPr>
          <a:xfrm>
            <a:off x="9281160" y="2011680"/>
            <a:ext cx="2267280" cy="2559960"/>
          </a:xfrm>
          <a:prstGeom prst="roundRect">
            <a:avLst>
              <a:gd name="adj" fmla="val 4839"/>
            </a:avLst>
          </a:prstGeom>
          <a:solidFill>
            <a:srgbClr val="ffffff"/>
          </a:solidFill>
          <a:ln w="10160">
            <a:solidFill>
              <a:srgbClr val="E5E8F0"/>
            </a:solidFill>
            <a:round/>
          </a:ln>
        </p:spPr>
        <p:style>
          <a:lnRef idx="0"/>
          <a:fillRef idx="0"/>
          <a:effectRef idx="0"/>
          <a:fontRef idx="minor"/>
        </p:style>
        <p:txBody>
          <a:bodyPr lIns="90000" rIns="90000" tIns="45000" bIns="45000" anchor="t">
            <a:noAutofit/>
          </a:bodyPr>
          <a:p>
            <a:endParaRPr b="0" lang="en-US" sz="1800" strike="noStrike" u="none">
              <a:solidFill>
                <a:srgbClr val="2D2F38"/>
              </a:solidFill>
              <a:effectLst/>
              <a:uFillTx/>
              <a:latin typeface="Arial"/>
            </a:endParaRPr>
          </a:p>
        </p:txBody>
      </p:sp>
      <p:sp>
        <p:nvSpPr>
          <p:cNvPr id="95" name="Shape 25"/>
          <p:cNvSpPr/>
          <p:nvPr/>
        </p:nvSpPr>
        <p:spPr>
          <a:xfrm>
            <a:off x="9464040" y="2221920"/>
            <a:ext cx="429480" cy="264960"/>
          </a:xfrm>
          <a:prstGeom prst="roundRect">
            <a:avLst>
              <a:gd name="adj" fmla="val 24138"/>
            </a:avLst>
          </a:prstGeom>
          <a:solidFill>
            <a:srgbClr val="E7EBF4"/>
          </a:solidFill>
          <a:ln w="8890">
            <a:solidFill>
              <a:srgbClr val="E7EBF4"/>
            </a:solidFill>
            <a:round/>
          </a:ln>
        </p:spPr>
        <p:style>
          <a:lnRef idx="0"/>
          <a:fillRef idx="0"/>
          <a:effectRef idx="0"/>
          <a:fontRef idx="minor"/>
        </p:style>
        <p:txBody>
          <a:bodyPr lIns="90000" rIns="90000" tIns="45000" bIns="45000" anchor="t">
            <a:noAutofit/>
          </a:bodyPr>
          <a:p>
            <a:endParaRPr b="0" lang="en-US" sz="1800" strike="noStrike" u="none">
              <a:solidFill>
                <a:srgbClr val="2D2F38"/>
              </a:solidFill>
              <a:effectLst/>
              <a:uFillTx/>
              <a:latin typeface="Arial"/>
            </a:endParaRPr>
          </a:p>
        </p:txBody>
      </p:sp>
      <p:sp>
        <p:nvSpPr>
          <p:cNvPr id="96" name="Text 26"/>
          <p:cNvSpPr/>
          <p:nvPr/>
        </p:nvSpPr>
        <p:spPr>
          <a:xfrm>
            <a:off x="9528120" y="2240280"/>
            <a:ext cx="301320" cy="2098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860" strike="noStrike" u="none">
                <a:solidFill>
                  <a:srgbClr val="39466C"/>
                </a:solidFill>
                <a:effectLst/>
                <a:uFillTx/>
                <a:latin typeface="Aptos"/>
                <a:ea typeface="Aptos"/>
              </a:rPr>
              <a:t>04</a:t>
            </a:r>
            <a:endParaRPr b="0" lang="en-US" sz="860" strike="noStrike" u="none">
              <a:solidFill>
                <a:srgbClr val="2D2F38"/>
              </a:solidFill>
              <a:effectLst/>
              <a:uFillTx/>
              <a:latin typeface="Arial"/>
            </a:endParaRPr>
          </a:p>
        </p:txBody>
      </p:sp>
      <p:sp>
        <p:nvSpPr>
          <p:cNvPr id="97" name="Text 27"/>
          <p:cNvSpPr/>
          <p:nvPr/>
        </p:nvSpPr>
        <p:spPr>
          <a:xfrm>
            <a:off x="9464040" y="2743200"/>
            <a:ext cx="1901520" cy="3837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700" strike="noStrike" u="none">
                <a:solidFill>
                  <a:srgbClr val="2D2F38"/>
                </a:solidFill>
                <a:effectLst/>
                <a:uFillTx/>
                <a:latin typeface="Aptos"/>
                <a:ea typeface="Aptos"/>
              </a:rPr>
              <a:t>Trace</a:t>
            </a:r>
            <a:endParaRPr b="0" lang="en-US" sz="1700" strike="noStrike" u="none">
              <a:solidFill>
                <a:srgbClr val="2D2F38"/>
              </a:solidFill>
              <a:effectLst/>
              <a:uFillTx/>
              <a:latin typeface="Arial"/>
            </a:endParaRPr>
          </a:p>
        </p:txBody>
      </p:sp>
      <p:sp>
        <p:nvSpPr>
          <p:cNvPr id="98" name="Text 28"/>
          <p:cNvSpPr/>
          <p:nvPr/>
        </p:nvSpPr>
        <p:spPr>
          <a:xfrm>
            <a:off x="9464040" y="3291840"/>
            <a:ext cx="1874160" cy="849960"/>
          </a:xfrm>
          <a:prstGeom prst="rect">
            <a:avLst/>
          </a:prstGeom>
          <a:noFill/>
          <a:ln w="0">
            <a:noFill/>
          </a:ln>
        </p:spPr>
        <p:style>
          <a:lnRef idx="0"/>
          <a:fillRef idx="0"/>
          <a:effectRef idx="0"/>
          <a:fontRef idx="minor"/>
        </p:style>
        <p:txBody>
          <a:bodyPr lIns="0" rIns="0" tIns="0" bIns="0" anchor="t">
            <a:normAutofit/>
          </a:bodyPr>
          <a:p>
            <a:pPr defTabSz="914400">
              <a:lnSpc>
                <a:spcPct val="100000"/>
              </a:lnSpc>
              <a:tabLst>
                <a:tab algn="l" pos="0"/>
              </a:tabLst>
            </a:pPr>
            <a:r>
              <a:rPr b="0" lang="en-US" sz="1200" strike="noStrike" u="none">
                <a:solidFill>
                  <a:srgbClr val="626B7B"/>
                </a:solidFill>
                <a:effectLst/>
                <a:uFillTx/>
                <a:latin typeface="Aptos"/>
                <a:ea typeface="Aptos"/>
              </a:rPr>
              <a:t>Separate confirmed scope, possible exposure, conflicts and gaps.</a:t>
            </a:r>
            <a:endParaRPr b="0" lang="en-US" sz="1200" strike="noStrike" u="none">
              <a:solidFill>
                <a:srgbClr val="2D2F38"/>
              </a:solidFill>
              <a:effectLst/>
              <a:uFillTx/>
              <a:latin typeface="Arial"/>
            </a:endParaRPr>
          </a:p>
        </p:txBody>
      </p:sp>
      <p:sp>
        <p:nvSpPr>
          <p:cNvPr id="99" name="Shape 29"/>
          <p:cNvSpPr/>
          <p:nvPr/>
        </p:nvSpPr>
        <p:spPr>
          <a:xfrm>
            <a:off x="1051560" y="5010840"/>
            <a:ext cx="10076400" cy="712800"/>
          </a:xfrm>
          <a:prstGeom prst="roundRect">
            <a:avLst>
              <a:gd name="adj" fmla="val 15385"/>
            </a:avLst>
          </a:prstGeom>
          <a:solidFill>
            <a:srgbClr val="E7EBF4"/>
          </a:solidFill>
          <a:ln w="10160">
            <a:solidFill>
              <a:srgbClr val="D6DBE5"/>
            </a:solidFill>
            <a:round/>
          </a:ln>
        </p:spPr>
        <p:style>
          <a:lnRef idx="0"/>
          <a:fillRef idx="0"/>
          <a:effectRef idx="0"/>
          <a:fontRef idx="minor"/>
        </p:style>
        <p:txBody>
          <a:bodyPr lIns="90000" rIns="90000" tIns="45000" bIns="45000" anchor="t">
            <a:noAutofit/>
          </a:bodyPr>
          <a:p>
            <a:endParaRPr b="0" lang="en-US" sz="1800" strike="noStrike" u="none">
              <a:solidFill>
                <a:srgbClr val="2D2F38"/>
              </a:solidFill>
              <a:effectLst/>
              <a:uFillTx/>
              <a:latin typeface="Arial"/>
            </a:endParaRPr>
          </a:p>
        </p:txBody>
      </p:sp>
      <p:sp>
        <p:nvSpPr>
          <p:cNvPr id="100" name="Text 30"/>
          <p:cNvSpPr/>
          <p:nvPr/>
        </p:nvSpPr>
        <p:spPr>
          <a:xfrm>
            <a:off x="1280160" y="5175360"/>
            <a:ext cx="1005480" cy="2008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000" spc="111" strike="noStrike" u="none">
                <a:solidFill>
                  <a:srgbClr val="39466C"/>
                </a:solidFill>
                <a:effectLst/>
                <a:uFillTx/>
                <a:latin typeface="Aptos"/>
                <a:ea typeface="Aptos"/>
              </a:rPr>
              <a:t>Positioning</a:t>
            </a:r>
            <a:endParaRPr b="0" lang="en-US" sz="1000" strike="noStrike" u="none">
              <a:solidFill>
                <a:srgbClr val="2D2F38"/>
              </a:solidFill>
              <a:effectLst/>
              <a:uFillTx/>
              <a:latin typeface="Arial"/>
            </a:endParaRPr>
          </a:p>
        </p:txBody>
      </p:sp>
      <p:sp>
        <p:nvSpPr>
          <p:cNvPr id="101" name="Text 31"/>
          <p:cNvSpPr/>
          <p:nvPr/>
        </p:nvSpPr>
        <p:spPr>
          <a:xfrm>
            <a:off x="2331720" y="5129640"/>
            <a:ext cx="8137800" cy="2829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600" strike="noStrike" u="none">
                <a:solidFill>
                  <a:srgbClr val="39466C"/>
                </a:solidFill>
                <a:effectLst/>
                <a:uFillTx/>
                <a:latin typeface="Aptos"/>
                <a:ea typeface="Aptos"/>
              </a:rPr>
              <a:t>Designed to work beside existing systems-not replace an ERP.</a:t>
            </a:r>
            <a:endParaRPr b="0" lang="en-US" sz="1600" strike="noStrike" u="none">
              <a:solidFill>
                <a:srgbClr val="2D2F38"/>
              </a:solidFill>
              <a:effectLst/>
              <a:uFillTx/>
              <a:latin typeface="Arial"/>
            </a:endParaRPr>
          </a:p>
        </p:txBody>
      </p:sp>
      <p:sp>
        <p:nvSpPr>
          <p:cNvPr id="102" name="Text 32"/>
          <p:cNvSpPr/>
          <p:nvPr/>
        </p:nvSpPr>
        <p:spPr>
          <a:xfrm>
            <a:off x="1280160" y="5879520"/>
            <a:ext cx="9509400" cy="2098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1050" strike="noStrike" u="none">
                <a:solidFill>
                  <a:srgbClr val="626B7B"/>
                </a:solidFill>
                <a:effectLst/>
                <a:uFillTx/>
                <a:latin typeface="Aptos"/>
                <a:ea typeface="Aptos"/>
              </a:rPr>
              <a:t>That interoperability advantage is a product hypothesis; no ERP integration has been demonstrated.</a:t>
            </a:r>
            <a:endParaRPr b="0" lang="en-US" sz="1050" strike="noStrike" u="none">
              <a:solidFill>
                <a:srgbClr val="2D2F38"/>
              </a:solidFill>
              <a:effectLst/>
              <a:uFillTx/>
              <a:latin typeface="Arial"/>
            </a:endParaRPr>
          </a:p>
        </p:txBody>
      </p:sp>
      <p:sp>
        <p:nvSpPr>
          <p:cNvPr id="103" name="PlaceHolder 1"/>
          <p:cNvSpPr>
            <a:spLocks noGrp="1"/>
          </p:cNvSpPr>
          <p:nvPr>
            <p:ph type="sldNum" idx="6"/>
          </p:nvPr>
        </p:nvSpPr>
        <p:spPr>
          <a:xfrm>
            <a:off x="11685960" y="6565320"/>
            <a:ext cx="799560" cy="299520"/>
          </a:xfrm>
          <a:prstGeom prst="rect">
            <a:avLst/>
          </a:prstGeom>
          <a:noFill/>
          <a:ln w="0">
            <a:noFill/>
          </a:ln>
        </p:spPr>
        <p:txBody>
          <a:bodyPr lIns="90000" rIns="90000" tIns="45000" bIns="45000" anchor="t">
            <a:noAutofit/>
          </a:bodyPr>
          <a:lstStyle>
            <a:lvl1pPr indent="0" defTabSz="914400">
              <a:lnSpc>
                <a:spcPct val="100000"/>
              </a:lnSpc>
              <a:buNone/>
              <a:defRPr b="0" lang="en-US" sz="700" strike="noStrike" u="none">
                <a:solidFill>
                  <a:srgbClr val="626B7B"/>
                </a:solidFill>
                <a:effectLst/>
                <a:uFillTx/>
                <a:latin typeface="Aptos"/>
                <a:ea typeface="Aptos"/>
              </a:defRPr>
            </a:lvl1pPr>
          </a:lstStyle>
          <a:p>
            <a:pPr indent="0" defTabSz="914400">
              <a:lnSpc>
                <a:spcPct val="100000"/>
              </a:lnSpc>
              <a:buNone/>
            </a:pPr>
            <a:fld id="{530BF158-E295-4F03-BA60-7033F9243461}" type="slidenum">
              <a:rPr b="0" lang="en-US" sz="700" strike="noStrike" u="none">
                <a:solidFill>
                  <a:srgbClr val="626B7B"/>
                </a:solidFill>
                <a:effectLst/>
                <a:uFillTx/>
                <a:latin typeface="Aptos"/>
                <a:ea typeface="Aptos"/>
              </a:rPr>
              <a:t>3</a:t>
            </a:fld>
            <a:endParaRPr b="0" lang="en-US" sz="700" strike="noStrike" u="none">
              <a:solidFill>
                <a:srgbClr val="2D2F38"/>
              </a:solidFill>
              <a:effectLst/>
              <a:uFillTx/>
              <a:latin typeface="Times New Roman"/>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4" name="Text 0"/>
          <p:cNvSpPr/>
          <p:nvPr/>
        </p:nvSpPr>
        <p:spPr>
          <a:xfrm>
            <a:off x="567000" y="384120"/>
            <a:ext cx="10881000" cy="1825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900" spc="181" strike="noStrike" u="none">
                <a:solidFill>
                  <a:srgbClr val="39466C"/>
                </a:solidFill>
                <a:effectLst/>
                <a:uFillTx/>
                <a:latin typeface="Aptos"/>
                <a:ea typeface="Aptos"/>
              </a:rPr>
              <a:t>03 / HOW IT WORKS</a:t>
            </a:r>
            <a:endParaRPr b="0" lang="en-US" sz="900" strike="noStrike" u="none">
              <a:solidFill>
                <a:srgbClr val="2D2F38"/>
              </a:solidFill>
              <a:effectLst/>
              <a:uFillTx/>
              <a:latin typeface="Arial"/>
            </a:endParaRPr>
          </a:p>
        </p:txBody>
      </p:sp>
      <p:sp>
        <p:nvSpPr>
          <p:cNvPr id="105" name="Text 1"/>
          <p:cNvSpPr/>
          <p:nvPr/>
        </p:nvSpPr>
        <p:spPr>
          <a:xfrm>
            <a:off x="567000" y="658440"/>
            <a:ext cx="11018160" cy="4752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2600" strike="noStrike" u="none">
                <a:solidFill>
                  <a:srgbClr val="2D2F38"/>
                </a:solidFill>
                <a:effectLst/>
                <a:uFillTx/>
                <a:latin typeface="Aptos"/>
                <a:ea typeface="Aptos"/>
              </a:rPr>
              <a:t>AI proposes. Evidence and people control the trace.</a:t>
            </a:r>
            <a:endParaRPr b="0" lang="en-US" sz="2600" strike="noStrike" u="none">
              <a:solidFill>
                <a:srgbClr val="2D2F38"/>
              </a:solidFill>
              <a:effectLst/>
              <a:uFillTx/>
              <a:latin typeface="Arial"/>
            </a:endParaRPr>
          </a:p>
        </p:txBody>
      </p:sp>
      <p:sp>
        <p:nvSpPr>
          <p:cNvPr id="106" name="Text 2"/>
          <p:cNvSpPr/>
          <p:nvPr/>
        </p:nvSpPr>
        <p:spPr>
          <a:xfrm>
            <a:off x="585360" y="1197720"/>
            <a:ext cx="10972440" cy="383760"/>
          </a:xfrm>
          <a:prstGeom prst="rect">
            <a:avLst/>
          </a:prstGeom>
          <a:noFill/>
          <a:ln w="0">
            <a:noFill/>
          </a:ln>
        </p:spPr>
        <p:style>
          <a:lnRef idx="0"/>
          <a:fillRef idx="0"/>
          <a:effectRef idx="0"/>
          <a:fontRef idx="minor"/>
        </p:style>
        <p:txBody>
          <a:bodyPr lIns="0" rIns="0" tIns="0" bIns="0" anchor="t">
            <a:normAutofit/>
          </a:bodyPr>
          <a:p>
            <a:pPr defTabSz="914400">
              <a:lnSpc>
                <a:spcPct val="100000"/>
              </a:lnSpc>
              <a:tabLst>
                <a:tab algn="l" pos="0"/>
              </a:tabLst>
            </a:pPr>
            <a:r>
              <a:rPr b="0" lang="en-US" sz="1250" strike="noStrike" u="none">
                <a:solidFill>
                  <a:srgbClr val="626B7B"/>
                </a:solidFill>
                <a:effectLst/>
                <a:uFillTx/>
                <a:latin typeface="Aptos"/>
                <a:ea typeface="Aptos"/>
              </a:rPr>
              <a:t>A short, inspectable chain from a document to a relationship decision.</a:t>
            </a:r>
            <a:endParaRPr b="0" lang="en-US" sz="1250" strike="noStrike" u="none">
              <a:solidFill>
                <a:srgbClr val="2D2F38"/>
              </a:solidFill>
              <a:effectLst/>
              <a:uFillTx/>
              <a:latin typeface="Arial"/>
            </a:endParaRPr>
          </a:p>
        </p:txBody>
      </p:sp>
      <p:sp>
        <p:nvSpPr>
          <p:cNvPr id="107" name="Shape 3"/>
          <p:cNvSpPr/>
          <p:nvPr/>
        </p:nvSpPr>
        <p:spPr>
          <a:xfrm>
            <a:off x="530280" y="2148840"/>
            <a:ext cx="1846800" cy="1234080"/>
          </a:xfrm>
          <a:prstGeom prst="roundRect">
            <a:avLst>
              <a:gd name="adj" fmla="val 8148"/>
            </a:avLst>
          </a:prstGeom>
          <a:solidFill>
            <a:srgbClr val="ffffff"/>
          </a:solidFill>
          <a:ln w="10160">
            <a:solidFill>
              <a:srgbClr val="E5E8F0"/>
            </a:solidFill>
            <a:round/>
          </a:ln>
        </p:spPr>
        <p:style>
          <a:lnRef idx="0"/>
          <a:fillRef idx="0"/>
          <a:effectRef idx="0"/>
          <a:fontRef idx="minor"/>
        </p:style>
        <p:txBody>
          <a:bodyPr lIns="90000" rIns="90000" tIns="45000" bIns="45000" anchor="t">
            <a:noAutofit/>
          </a:bodyPr>
          <a:p>
            <a:endParaRPr b="0" lang="en-US" sz="1800" strike="noStrike" u="none">
              <a:solidFill>
                <a:srgbClr val="2D2F38"/>
              </a:solidFill>
              <a:effectLst/>
              <a:uFillTx/>
              <a:latin typeface="Arial"/>
            </a:endParaRPr>
          </a:p>
        </p:txBody>
      </p:sp>
      <p:sp>
        <p:nvSpPr>
          <p:cNvPr id="108" name="Text 4"/>
          <p:cNvSpPr/>
          <p:nvPr/>
        </p:nvSpPr>
        <p:spPr>
          <a:xfrm>
            <a:off x="649080" y="2368440"/>
            <a:ext cx="1608840" cy="2098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900" spc="79" strike="noStrike" u="none">
                <a:solidFill>
                  <a:srgbClr val="626B7B"/>
                </a:solidFill>
                <a:effectLst/>
                <a:uFillTx/>
                <a:latin typeface="Aptos"/>
                <a:ea typeface="Aptos"/>
              </a:rPr>
              <a:t>SOURCE FILES</a:t>
            </a:r>
            <a:endParaRPr b="0" lang="en-US" sz="900" strike="noStrike" u="none">
              <a:solidFill>
                <a:srgbClr val="2D2F38"/>
              </a:solidFill>
              <a:effectLst/>
              <a:uFillTx/>
              <a:latin typeface="Arial"/>
            </a:endParaRPr>
          </a:p>
        </p:txBody>
      </p:sp>
      <p:sp>
        <p:nvSpPr>
          <p:cNvPr id="109" name="Text 5"/>
          <p:cNvSpPr/>
          <p:nvPr/>
        </p:nvSpPr>
        <p:spPr>
          <a:xfrm>
            <a:off x="640080" y="2761560"/>
            <a:ext cx="1627200" cy="36540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250" strike="noStrike" u="none">
                <a:solidFill>
                  <a:srgbClr val="2D2F38"/>
                </a:solidFill>
                <a:effectLst/>
                <a:uFillTx/>
                <a:latin typeface="Aptos"/>
                <a:ea typeface="Aptos"/>
              </a:rPr>
              <a:t>7 scenario docs</a:t>
            </a:r>
            <a:endParaRPr b="0" lang="en-US" sz="1250" strike="noStrike" u="none">
              <a:solidFill>
                <a:srgbClr val="2D2F38"/>
              </a:solidFill>
              <a:effectLst/>
              <a:uFillTx/>
              <a:latin typeface="Arial"/>
            </a:endParaRPr>
          </a:p>
        </p:txBody>
      </p:sp>
      <p:sp>
        <p:nvSpPr>
          <p:cNvPr id="110" name="Shape 6"/>
          <p:cNvSpPr/>
          <p:nvPr/>
        </p:nvSpPr>
        <p:spPr>
          <a:xfrm>
            <a:off x="2404800" y="2770560"/>
            <a:ext cx="155520" cy="360"/>
          </a:xfrm>
          <a:prstGeom prst="line">
            <a:avLst/>
          </a:prstGeom>
          <a:ln w="20320">
            <a:solidFill>
              <a:srgbClr val="39466C"/>
            </a:solidFill>
            <a:round/>
          </a:ln>
        </p:spPr>
        <p:style>
          <a:lnRef idx="0"/>
          <a:fillRef idx="0"/>
          <a:effectRef idx="0"/>
          <a:fontRef idx="minor"/>
        </p:style>
        <p:txBody>
          <a:bodyPr lIns="90000" rIns="90000" tIns="-44640" bIns="-44640" anchor="t" anchorCtr="1">
            <a:noAutofit/>
          </a:bodyPr>
          <a:p>
            <a:endParaRPr b="0" lang="en-US" sz="1800" strike="noStrike" u="none">
              <a:solidFill>
                <a:srgbClr val="2D2F38"/>
              </a:solidFill>
              <a:effectLst/>
              <a:uFillTx/>
              <a:latin typeface="Arial"/>
            </a:endParaRPr>
          </a:p>
        </p:txBody>
      </p:sp>
      <p:sp>
        <p:nvSpPr>
          <p:cNvPr id="111" name="Shape 7"/>
          <p:cNvSpPr/>
          <p:nvPr/>
        </p:nvSpPr>
        <p:spPr>
          <a:xfrm>
            <a:off x="2496240" y="2670120"/>
            <a:ext cx="145800" cy="200880"/>
          </a:xfrm>
          <a:prstGeom prst="chevron">
            <a:avLst>
              <a:gd name="adj" fmla="val 50000"/>
            </a:avLst>
          </a:prstGeom>
          <a:solidFill>
            <a:srgbClr val="39466C"/>
          </a:solidFill>
          <a:ln w="12700">
            <a:solidFill>
              <a:srgbClr val="39466C"/>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112" name="Shape 8"/>
          <p:cNvSpPr/>
          <p:nvPr/>
        </p:nvSpPr>
        <p:spPr>
          <a:xfrm>
            <a:off x="2761560" y="2148840"/>
            <a:ext cx="1992960" cy="1234080"/>
          </a:xfrm>
          <a:prstGeom prst="roundRect">
            <a:avLst>
              <a:gd name="adj" fmla="val 8148"/>
            </a:avLst>
          </a:prstGeom>
          <a:solidFill>
            <a:srgbClr val="ffffff"/>
          </a:solidFill>
          <a:ln w="10160">
            <a:solidFill>
              <a:srgbClr val="E5E8F0"/>
            </a:solidFill>
            <a:round/>
          </a:ln>
        </p:spPr>
        <p:style>
          <a:lnRef idx="0"/>
          <a:fillRef idx="0"/>
          <a:effectRef idx="0"/>
          <a:fontRef idx="minor"/>
        </p:style>
        <p:txBody>
          <a:bodyPr lIns="90000" rIns="90000" tIns="45000" bIns="45000" anchor="t">
            <a:noAutofit/>
          </a:bodyPr>
          <a:p>
            <a:endParaRPr b="0" lang="en-US" sz="1800" strike="noStrike" u="none">
              <a:solidFill>
                <a:srgbClr val="2D2F38"/>
              </a:solidFill>
              <a:effectLst/>
              <a:uFillTx/>
              <a:latin typeface="Arial"/>
            </a:endParaRPr>
          </a:p>
        </p:txBody>
      </p:sp>
      <p:sp>
        <p:nvSpPr>
          <p:cNvPr id="113" name="Text 9"/>
          <p:cNvSpPr/>
          <p:nvPr/>
        </p:nvSpPr>
        <p:spPr>
          <a:xfrm>
            <a:off x="2880360" y="2368440"/>
            <a:ext cx="1755360" cy="2098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900" spc="79" strike="noStrike" u="none">
                <a:solidFill>
                  <a:srgbClr val="626B7B"/>
                </a:solidFill>
                <a:effectLst/>
                <a:uFillTx/>
                <a:latin typeface="Aptos"/>
                <a:ea typeface="Aptos"/>
              </a:rPr>
              <a:t>PARSER + LLAMA</a:t>
            </a:r>
            <a:endParaRPr b="0" lang="en-US" sz="900" strike="noStrike" u="none">
              <a:solidFill>
                <a:srgbClr val="2D2F38"/>
              </a:solidFill>
              <a:effectLst/>
              <a:uFillTx/>
              <a:latin typeface="Arial"/>
            </a:endParaRPr>
          </a:p>
        </p:txBody>
      </p:sp>
      <p:sp>
        <p:nvSpPr>
          <p:cNvPr id="114" name="Text 10"/>
          <p:cNvSpPr/>
          <p:nvPr/>
        </p:nvSpPr>
        <p:spPr>
          <a:xfrm>
            <a:off x="2871360" y="2761560"/>
            <a:ext cx="1773720" cy="36540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250" strike="noStrike" u="none">
                <a:solidFill>
                  <a:srgbClr val="2D2F38"/>
                </a:solidFill>
                <a:effectLst/>
                <a:uFillTx/>
                <a:latin typeface="Aptos"/>
                <a:ea typeface="Aptos"/>
              </a:rPr>
              <a:t>Candidate claims</a:t>
            </a:r>
            <a:endParaRPr b="0" lang="en-US" sz="1250" strike="noStrike" u="none">
              <a:solidFill>
                <a:srgbClr val="2D2F38"/>
              </a:solidFill>
              <a:effectLst/>
              <a:uFillTx/>
              <a:latin typeface="Arial"/>
            </a:endParaRPr>
          </a:p>
        </p:txBody>
      </p:sp>
      <p:sp>
        <p:nvSpPr>
          <p:cNvPr id="115" name="Shape 11"/>
          <p:cNvSpPr/>
          <p:nvPr/>
        </p:nvSpPr>
        <p:spPr>
          <a:xfrm>
            <a:off x="4782240" y="2770560"/>
            <a:ext cx="155520" cy="360"/>
          </a:xfrm>
          <a:prstGeom prst="line">
            <a:avLst/>
          </a:prstGeom>
          <a:ln w="20320">
            <a:solidFill>
              <a:srgbClr val="39466C"/>
            </a:solidFill>
            <a:round/>
          </a:ln>
        </p:spPr>
        <p:style>
          <a:lnRef idx="0"/>
          <a:fillRef idx="0"/>
          <a:effectRef idx="0"/>
          <a:fontRef idx="minor"/>
        </p:style>
        <p:txBody>
          <a:bodyPr lIns="90000" rIns="90000" tIns="-44640" bIns="-44640" anchor="t" anchorCtr="1">
            <a:noAutofit/>
          </a:bodyPr>
          <a:p>
            <a:endParaRPr b="0" lang="en-US" sz="1800" strike="noStrike" u="none">
              <a:solidFill>
                <a:srgbClr val="2D2F38"/>
              </a:solidFill>
              <a:effectLst/>
              <a:uFillTx/>
              <a:latin typeface="Arial"/>
            </a:endParaRPr>
          </a:p>
        </p:txBody>
      </p:sp>
      <p:sp>
        <p:nvSpPr>
          <p:cNvPr id="116" name="Shape 12"/>
          <p:cNvSpPr/>
          <p:nvPr/>
        </p:nvSpPr>
        <p:spPr>
          <a:xfrm>
            <a:off x="4873680" y="2670120"/>
            <a:ext cx="145800" cy="200880"/>
          </a:xfrm>
          <a:prstGeom prst="chevron">
            <a:avLst>
              <a:gd name="adj" fmla="val 50000"/>
            </a:avLst>
          </a:prstGeom>
          <a:solidFill>
            <a:srgbClr val="39466C"/>
          </a:solidFill>
          <a:ln w="12700">
            <a:solidFill>
              <a:srgbClr val="39466C"/>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117" name="Shape 13"/>
          <p:cNvSpPr/>
          <p:nvPr/>
        </p:nvSpPr>
        <p:spPr>
          <a:xfrm>
            <a:off x="5139000" y="2148840"/>
            <a:ext cx="2057040" cy="1234080"/>
          </a:xfrm>
          <a:prstGeom prst="roundRect">
            <a:avLst>
              <a:gd name="adj" fmla="val 8148"/>
            </a:avLst>
          </a:prstGeom>
          <a:solidFill>
            <a:srgbClr val="ffffff"/>
          </a:solidFill>
          <a:ln w="10160">
            <a:solidFill>
              <a:srgbClr val="E5E8F0"/>
            </a:solidFill>
            <a:round/>
          </a:ln>
        </p:spPr>
        <p:style>
          <a:lnRef idx="0"/>
          <a:fillRef idx="0"/>
          <a:effectRef idx="0"/>
          <a:fontRef idx="minor"/>
        </p:style>
        <p:txBody>
          <a:bodyPr lIns="90000" rIns="90000" tIns="45000" bIns="45000" anchor="t">
            <a:noAutofit/>
          </a:bodyPr>
          <a:p>
            <a:endParaRPr b="0" lang="en-US" sz="1800" strike="noStrike" u="none">
              <a:solidFill>
                <a:srgbClr val="2D2F38"/>
              </a:solidFill>
              <a:effectLst/>
              <a:uFillTx/>
              <a:latin typeface="Arial"/>
            </a:endParaRPr>
          </a:p>
        </p:txBody>
      </p:sp>
      <p:sp>
        <p:nvSpPr>
          <p:cNvPr id="118" name="Text 14"/>
          <p:cNvSpPr/>
          <p:nvPr/>
        </p:nvSpPr>
        <p:spPr>
          <a:xfrm>
            <a:off x="5257800" y="2368440"/>
            <a:ext cx="1819440" cy="2098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900" spc="79" strike="noStrike" u="none">
                <a:solidFill>
                  <a:srgbClr val="626B7B"/>
                </a:solidFill>
                <a:effectLst/>
                <a:uFillTx/>
                <a:latin typeface="Aptos"/>
                <a:ea typeface="Aptos"/>
              </a:rPr>
              <a:t>GROUNDING CHECK</a:t>
            </a:r>
            <a:endParaRPr b="0" lang="en-US" sz="900" strike="noStrike" u="none">
              <a:solidFill>
                <a:srgbClr val="2D2F38"/>
              </a:solidFill>
              <a:effectLst/>
              <a:uFillTx/>
              <a:latin typeface="Arial"/>
            </a:endParaRPr>
          </a:p>
        </p:txBody>
      </p:sp>
      <p:sp>
        <p:nvSpPr>
          <p:cNvPr id="119" name="Text 15"/>
          <p:cNvSpPr/>
          <p:nvPr/>
        </p:nvSpPr>
        <p:spPr>
          <a:xfrm>
            <a:off x="5248800" y="2761560"/>
            <a:ext cx="1837440" cy="36540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250" strike="noStrike" u="none">
                <a:solidFill>
                  <a:srgbClr val="2D2F38"/>
                </a:solidFill>
                <a:effectLst/>
                <a:uFillTx/>
                <a:latin typeface="Aptos"/>
                <a:ea typeface="Aptos"/>
              </a:rPr>
              <a:t>Verbatim quote / flag</a:t>
            </a:r>
            <a:endParaRPr b="0" lang="en-US" sz="1250" strike="noStrike" u="none">
              <a:solidFill>
                <a:srgbClr val="2D2F38"/>
              </a:solidFill>
              <a:effectLst/>
              <a:uFillTx/>
              <a:latin typeface="Arial"/>
            </a:endParaRPr>
          </a:p>
        </p:txBody>
      </p:sp>
      <p:sp>
        <p:nvSpPr>
          <p:cNvPr id="120" name="Shape 16"/>
          <p:cNvSpPr/>
          <p:nvPr/>
        </p:nvSpPr>
        <p:spPr>
          <a:xfrm>
            <a:off x="7223760" y="2770560"/>
            <a:ext cx="155160" cy="360"/>
          </a:xfrm>
          <a:prstGeom prst="line">
            <a:avLst/>
          </a:prstGeom>
          <a:ln w="20320">
            <a:solidFill>
              <a:srgbClr val="39466C"/>
            </a:solidFill>
            <a:round/>
          </a:ln>
        </p:spPr>
        <p:style>
          <a:lnRef idx="0"/>
          <a:fillRef idx="0"/>
          <a:effectRef idx="0"/>
          <a:fontRef idx="minor"/>
        </p:style>
        <p:txBody>
          <a:bodyPr lIns="90000" rIns="90000" tIns="-44640" bIns="-44640" anchor="t" anchorCtr="1">
            <a:noAutofit/>
          </a:bodyPr>
          <a:p>
            <a:endParaRPr b="0" lang="en-US" sz="1800" strike="noStrike" u="none">
              <a:solidFill>
                <a:srgbClr val="2D2F38"/>
              </a:solidFill>
              <a:effectLst/>
              <a:uFillTx/>
              <a:latin typeface="Arial"/>
            </a:endParaRPr>
          </a:p>
        </p:txBody>
      </p:sp>
      <p:sp>
        <p:nvSpPr>
          <p:cNvPr id="121" name="Shape 17"/>
          <p:cNvSpPr/>
          <p:nvPr/>
        </p:nvSpPr>
        <p:spPr>
          <a:xfrm>
            <a:off x="7315200" y="2670120"/>
            <a:ext cx="145800" cy="200880"/>
          </a:xfrm>
          <a:prstGeom prst="chevron">
            <a:avLst>
              <a:gd name="adj" fmla="val 50000"/>
            </a:avLst>
          </a:prstGeom>
          <a:solidFill>
            <a:srgbClr val="39466C"/>
          </a:solidFill>
          <a:ln w="12700">
            <a:solidFill>
              <a:srgbClr val="39466C"/>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122" name="Shape 18"/>
          <p:cNvSpPr/>
          <p:nvPr/>
        </p:nvSpPr>
        <p:spPr>
          <a:xfrm>
            <a:off x="7580520" y="2148840"/>
            <a:ext cx="1992960" cy="1234080"/>
          </a:xfrm>
          <a:prstGeom prst="roundRect">
            <a:avLst>
              <a:gd name="adj" fmla="val 8148"/>
            </a:avLst>
          </a:prstGeom>
          <a:solidFill>
            <a:srgbClr val="E7EBF4"/>
          </a:solidFill>
          <a:ln w="10160">
            <a:solidFill>
              <a:srgbClr val="A0A6B4"/>
            </a:solidFill>
            <a:round/>
          </a:ln>
        </p:spPr>
        <p:style>
          <a:lnRef idx="0"/>
          <a:fillRef idx="0"/>
          <a:effectRef idx="0"/>
          <a:fontRef idx="minor"/>
        </p:style>
        <p:txBody>
          <a:bodyPr lIns="90000" rIns="90000" tIns="45000" bIns="45000" anchor="t">
            <a:noAutofit/>
          </a:bodyPr>
          <a:p>
            <a:endParaRPr b="0" lang="en-US" sz="1800" strike="noStrike" u="none">
              <a:solidFill>
                <a:srgbClr val="2D2F38"/>
              </a:solidFill>
              <a:effectLst/>
              <a:uFillTx/>
              <a:latin typeface="Arial"/>
            </a:endParaRPr>
          </a:p>
        </p:txBody>
      </p:sp>
      <p:sp>
        <p:nvSpPr>
          <p:cNvPr id="123" name="Text 19"/>
          <p:cNvSpPr/>
          <p:nvPr/>
        </p:nvSpPr>
        <p:spPr>
          <a:xfrm>
            <a:off x="7699320" y="2368440"/>
            <a:ext cx="1755360" cy="2098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900" spc="79" strike="noStrike" u="none">
                <a:solidFill>
                  <a:srgbClr val="39466C"/>
                </a:solidFill>
                <a:effectLst/>
                <a:uFillTx/>
                <a:latin typeface="Aptos"/>
                <a:ea typeface="Aptos"/>
              </a:rPr>
              <a:t>HUMAN REVIEW</a:t>
            </a:r>
            <a:endParaRPr b="0" lang="en-US" sz="900" strike="noStrike" u="none">
              <a:solidFill>
                <a:srgbClr val="2D2F38"/>
              </a:solidFill>
              <a:effectLst/>
              <a:uFillTx/>
              <a:latin typeface="Arial"/>
            </a:endParaRPr>
          </a:p>
        </p:txBody>
      </p:sp>
      <p:sp>
        <p:nvSpPr>
          <p:cNvPr id="124" name="Text 20"/>
          <p:cNvSpPr/>
          <p:nvPr/>
        </p:nvSpPr>
        <p:spPr>
          <a:xfrm>
            <a:off x="7689960" y="2761560"/>
            <a:ext cx="1773720" cy="365400"/>
          </a:xfrm>
          <a:prstGeom prst="rect">
            <a:avLst/>
          </a:prstGeom>
          <a:noFill/>
          <a:ln w="0">
            <a:noFill/>
          </a:ln>
        </p:spPr>
        <p:style>
          <a:lnRef idx="0"/>
          <a:fillRef idx="0"/>
          <a:effectRef idx="0"/>
          <a:fontRef idx="minor"/>
        </p:style>
        <p:txBody>
          <a:bodyPr lIns="0" rIns="0" tIns="0" bIns="0" anchor="ctr">
            <a:normAutofit lnSpcReduction="9999"/>
          </a:bodyPr>
          <a:p>
            <a:pPr algn="ctr" defTabSz="914400">
              <a:lnSpc>
                <a:spcPct val="100000"/>
              </a:lnSpc>
              <a:tabLst>
                <a:tab algn="l" pos="0"/>
              </a:tabLst>
            </a:pPr>
            <a:r>
              <a:rPr b="1" lang="en-US" sz="1250" strike="noStrike" u="none">
                <a:solidFill>
                  <a:srgbClr val="2D2F38"/>
                </a:solidFill>
                <a:effectLst/>
                <a:uFillTx/>
                <a:latin typeface="Aptos"/>
                <a:ea typeface="Aptos"/>
              </a:rPr>
              <a:t>Confirm / reject / defer</a:t>
            </a:r>
            <a:endParaRPr b="0" lang="en-US" sz="1250" strike="noStrike" u="none">
              <a:solidFill>
                <a:srgbClr val="2D2F38"/>
              </a:solidFill>
              <a:effectLst/>
              <a:uFillTx/>
              <a:latin typeface="Arial"/>
            </a:endParaRPr>
          </a:p>
        </p:txBody>
      </p:sp>
      <p:sp>
        <p:nvSpPr>
          <p:cNvPr id="125" name="Shape 21"/>
          <p:cNvSpPr/>
          <p:nvPr/>
        </p:nvSpPr>
        <p:spPr>
          <a:xfrm>
            <a:off x="9601200" y="2770560"/>
            <a:ext cx="155160" cy="360"/>
          </a:xfrm>
          <a:prstGeom prst="line">
            <a:avLst/>
          </a:prstGeom>
          <a:ln w="20320">
            <a:solidFill>
              <a:srgbClr val="39466C"/>
            </a:solidFill>
            <a:round/>
          </a:ln>
        </p:spPr>
        <p:style>
          <a:lnRef idx="0"/>
          <a:fillRef idx="0"/>
          <a:effectRef idx="0"/>
          <a:fontRef idx="minor"/>
        </p:style>
        <p:txBody>
          <a:bodyPr lIns="90000" rIns="90000" tIns="-44640" bIns="-44640" anchor="t" anchorCtr="1">
            <a:noAutofit/>
          </a:bodyPr>
          <a:p>
            <a:endParaRPr b="0" lang="en-US" sz="1800" strike="noStrike" u="none">
              <a:solidFill>
                <a:srgbClr val="2D2F38"/>
              </a:solidFill>
              <a:effectLst/>
              <a:uFillTx/>
              <a:latin typeface="Arial"/>
            </a:endParaRPr>
          </a:p>
        </p:txBody>
      </p:sp>
      <p:sp>
        <p:nvSpPr>
          <p:cNvPr id="126" name="Shape 22"/>
          <p:cNvSpPr/>
          <p:nvPr/>
        </p:nvSpPr>
        <p:spPr>
          <a:xfrm>
            <a:off x="9692640" y="2670120"/>
            <a:ext cx="145800" cy="200880"/>
          </a:xfrm>
          <a:prstGeom prst="chevron">
            <a:avLst>
              <a:gd name="adj" fmla="val 50000"/>
            </a:avLst>
          </a:prstGeom>
          <a:solidFill>
            <a:srgbClr val="39466C"/>
          </a:solidFill>
          <a:ln w="12700">
            <a:solidFill>
              <a:srgbClr val="39466C"/>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127" name="Shape 23"/>
          <p:cNvSpPr/>
          <p:nvPr/>
        </p:nvSpPr>
        <p:spPr>
          <a:xfrm>
            <a:off x="9957960" y="2148840"/>
            <a:ext cx="1846800" cy="1234080"/>
          </a:xfrm>
          <a:prstGeom prst="roundRect">
            <a:avLst>
              <a:gd name="adj" fmla="val 8148"/>
            </a:avLst>
          </a:prstGeom>
          <a:solidFill>
            <a:srgbClr val="ffffff"/>
          </a:solidFill>
          <a:ln w="10160">
            <a:solidFill>
              <a:srgbClr val="E5E8F0"/>
            </a:solidFill>
            <a:round/>
          </a:ln>
        </p:spPr>
        <p:style>
          <a:lnRef idx="0"/>
          <a:fillRef idx="0"/>
          <a:effectRef idx="0"/>
          <a:fontRef idx="minor"/>
        </p:style>
        <p:txBody>
          <a:bodyPr lIns="90000" rIns="90000" tIns="45000" bIns="45000" anchor="t">
            <a:noAutofit/>
          </a:bodyPr>
          <a:p>
            <a:endParaRPr b="0" lang="en-US" sz="1800" strike="noStrike" u="none">
              <a:solidFill>
                <a:srgbClr val="2D2F38"/>
              </a:solidFill>
              <a:effectLst/>
              <a:uFillTx/>
              <a:latin typeface="Arial"/>
            </a:endParaRPr>
          </a:p>
        </p:txBody>
      </p:sp>
      <p:sp>
        <p:nvSpPr>
          <p:cNvPr id="128" name="Text 24"/>
          <p:cNvSpPr/>
          <p:nvPr/>
        </p:nvSpPr>
        <p:spPr>
          <a:xfrm>
            <a:off x="10076760" y="2368440"/>
            <a:ext cx="1608840" cy="2098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900" spc="79" strike="noStrike" u="none">
                <a:solidFill>
                  <a:srgbClr val="626B7B"/>
                </a:solidFill>
                <a:effectLst/>
                <a:uFillTx/>
                <a:latin typeface="Aptos"/>
                <a:ea typeface="Aptos"/>
              </a:rPr>
              <a:t>TRACE + EXPORT</a:t>
            </a:r>
            <a:endParaRPr b="0" lang="en-US" sz="900" strike="noStrike" u="none">
              <a:solidFill>
                <a:srgbClr val="2D2F38"/>
              </a:solidFill>
              <a:effectLst/>
              <a:uFillTx/>
              <a:latin typeface="Arial"/>
            </a:endParaRPr>
          </a:p>
        </p:txBody>
      </p:sp>
      <p:sp>
        <p:nvSpPr>
          <p:cNvPr id="129" name="Text 25"/>
          <p:cNvSpPr/>
          <p:nvPr/>
        </p:nvSpPr>
        <p:spPr>
          <a:xfrm>
            <a:off x="10067400" y="2761560"/>
            <a:ext cx="1627200" cy="36540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250" strike="noStrike" u="none">
                <a:solidFill>
                  <a:srgbClr val="2D2F38"/>
                </a:solidFill>
                <a:effectLst/>
                <a:uFillTx/>
                <a:latin typeface="Aptos"/>
                <a:ea typeface="Aptos"/>
              </a:rPr>
              <a:t>Snapshot + caveats</a:t>
            </a:r>
            <a:endParaRPr b="0" lang="en-US" sz="1250" strike="noStrike" u="none">
              <a:solidFill>
                <a:srgbClr val="2D2F38"/>
              </a:solidFill>
              <a:effectLst/>
              <a:uFillTx/>
              <a:latin typeface="Arial"/>
            </a:endParaRPr>
          </a:p>
        </p:txBody>
      </p:sp>
      <p:sp>
        <p:nvSpPr>
          <p:cNvPr id="130" name="Shape 26"/>
          <p:cNvSpPr/>
          <p:nvPr/>
        </p:nvSpPr>
        <p:spPr>
          <a:xfrm>
            <a:off x="777240" y="4005000"/>
            <a:ext cx="5074560" cy="438480"/>
          </a:xfrm>
          <a:prstGeom prst="roundRect">
            <a:avLst>
              <a:gd name="adj" fmla="val 20833"/>
            </a:avLst>
          </a:prstGeom>
          <a:solidFill>
            <a:srgbClr val="ffffff"/>
          </a:solidFill>
          <a:ln w="10160">
            <a:solidFill>
              <a:srgbClr val="E5E8F0"/>
            </a:solidFill>
            <a:round/>
          </a:ln>
        </p:spPr>
        <p:style>
          <a:lnRef idx="0"/>
          <a:fillRef idx="0"/>
          <a:effectRef idx="0"/>
          <a:fontRef idx="minor"/>
        </p:style>
        <p:txBody>
          <a:bodyPr lIns="90000" rIns="90000" tIns="45000" bIns="45000" anchor="t">
            <a:noAutofit/>
          </a:bodyPr>
          <a:p>
            <a:endParaRPr b="0" lang="en-US" sz="1800" strike="noStrike" u="none">
              <a:solidFill>
                <a:srgbClr val="2D2F38"/>
              </a:solidFill>
              <a:effectLst/>
              <a:uFillTx/>
              <a:latin typeface="Arial"/>
            </a:endParaRPr>
          </a:p>
        </p:txBody>
      </p:sp>
      <p:sp>
        <p:nvSpPr>
          <p:cNvPr id="131" name="Shape 27"/>
          <p:cNvSpPr/>
          <p:nvPr/>
        </p:nvSpPr>
        <p:spPr>
          <a:xfrm>
            <a:off x="777240" y="4005000"/>
            <a:ext cx="54360" cy="438480"/>
          </a:xfrm>
          <a:prstGeom prst="rect">
            <a:avLst/>
          </a:prstGeom>
          <a:solidFill>
            <a:srgbClr val="39466C"/>
          </a:solidFill>
          <a:ln w="12700">
            <a:solidFill>
              <a:srgbClr val="39466C"/>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132" name="Text 28"/>
          <p:cNvSpPr/>
          <p:nvPr/>
        </p:nvSpPr>
        <p:spPr>
          <a:xfrm>
            <a:off x="941760" y="4050720"/>
            <a:ext cx="4818600" cy="3286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350" strike="noStrike" u="none">
                <a:solidFill>
                  <a:srgbClr val="2D2F38"/>
                </a:solidFill>
                <a:effectLst/>
                <a:uFillTx/>
                <a:latin typeface="Aptos"/>
                <a:ea typeface="Aptos"/>
              </a:rPr>
              <a:t>Guardrails in the current implementation</a:t>
            </a:r>
            <a:endParaRPr b="0" lang="en-US" sz="1350" strike="noStrike" u="none">
              <a:solidFill>
                <a:srgbClr val="2D2F38"/>
              </a:solidFill>
              <a:effectLst/>
              <a:uFillTx/>
              <a:latin typeface="Arial"/>
            </a:endParaRPr>
          </a:p>
        </p:txBody>
      </p:sp>
      <p:sp>
        <p:nvSpPr>
          <p:cNvPr id="133" name="Shape 29"/>
          <p:cNvSpPr/>
          <p:nvPr/>
        </p:nvSpPr>
        <p:spPr>
          <a:xfrm>
            <a:off x="960120" y="4709160"/>
            <a:ext cx="63720" cy="63720"/>
          </a:xfrm>
          <a:prstGeom prst="ellipse">
            <a:avLst/>
          </a:prstGeom>
          <a:solidFill>
            <a:srgbClr val="39466C"/>
          </a:solidFill>
          <a:ln w="7620">
            <a:solidFill>
              <a:srgbClr val="39466C"/>
            </a:solidFill>
            <a:round/>
          </a:ln>
        </p:spPr>
        <p:style>
          <a:lnRef idx="0"/>
          <a:fillRef idx="0"/>
          <a:effectRef idx="0"/>
          <a:fontRef idx="minor"/>
        </p:style>
        <p:txBody>
          <a:bodyPr lIns="90000" rIns="90000" tIns="0" bIns="0" anchor="t">
            <a:noAutofit/>
          </a:bodyPr>
          <a:p>
            <a:endParaRPr b="0" lang="en-US" sz="1800" strike="noStrike" u="none">
              <a:solidFill>
                <a:srgbClr val="ffffff"/>
              </a:solidFill>
              <a:effectLst/>
              <a:uFillTx/>
              <a:latin typeface="Arial"/>
            </a:endParaRPr>
          </a:p>
        </p:txBody>
      </p:sp>
      <p:sp>
        <p:nvSpPr>
          <p:cNvPr id="134" name="Text 30"/>
          <p:cNvSpPr/>
          <p:nvPr/>
        </p:nvSpPr>
        <p:spPr>
          <a:xfrm>
            <a:off x="1115640" y="4617720"/>
            <a:ext cx="4416120" cy="301320"/>
          </a:xfrm>
          <a:prstGeom prst="rect">
            <a:avLst/>
          </a:prstGeom>
          <a:noFill/>
          <a:ln w="0">
            <a:noFill/>
          </a:ln>
        </p:spPr>
        <p:style>
          <a:lnRef idx="0"/>
          <a:fillRef idx="0"/>
          <a:effectRef idx="0"/>
          <a:fontRef idx="minor"/>
        </p:style>
        <p:txBody>
          <a:bodyPr lIns="0" rIns="0" tIns="0" bIns="0" anchor="t">
            <a:normAutofit/>
          </a:bodyPr>
          <a:p>
            <a:pPr defTabSz="914400">
              <a:lnSpc>
                <a:spcPct val="100000"/>
              </a:lnSpc>
              <a:tabLst>
                <a:tab algn="l" pos="0"/>
              </a:tabLst>
            </a:pPr>
            <a:r>
              <a:rPr b="0" lang="en-US" sz="1130" strike="noStrike" u="none">
                <a:solidFill>
                  <a:srgbClr val="626B7B"/>
                </a:solidFill>
                <a:effectLst/>
                <a:uFillTx/>
                <a:latin typeface="Aptos"/>
                <a:ea typeface="Aptos"/>
              </a:rPr>
              <a:t>AI facts remain unreviewed candidates.</a:t>
            </a:r>
            <a:endParaRPr b="0" lang="en-US" sz="1130" strike="noStrike" u="none">
              <a:solidFill>
                <a:srgbClr val="2D2F38"/>
              </a:solidFill>
              <a:effectLst/>
              <a:uFillTx/>
              <a:latin typeface="Arial"/>
            </a:endParaRPr>
          </a:p>
        </p:txBody>
      </p:sp>
      <p:sp>
        <p:nvSpPr>
          <p:cNvPr id="135" name="Shape 31"/>
          <p:cNvSpPr/>
          <p:nvPr/>
        </p:nvSpPr>
        <p:spPr>
          <a:xfrm>
            <a:off x="960120" y="5029200"/>
            <a:ext cx="63720" cy="63720"/>
          </a:xfrm>
          <a:prstGeom prst="ellipse">
            <a:avLst/>
          </a:prstGeom>
          <a:solidFill>
            <a:srgbClr val="39466C"/>
          </a:solidFill>
          <a:ln w="7620">
            <a:solidFill>
              <a:srgbClr val="39466C"/>
            </a:solidFill>
            <a:round/>
          </a:ln>
        </p:spPr>
        <p:style>
          <a:lnRef idx="0"/>
          <a:fillRef idx="0"/>
          <a:effectRef idx="0"/>
          <a:fontRef idx="minor"/>
        </p:style>
        <p:txBody>
          <a:bodyPr lIns="90000" rIns="90000" tIns="0" bIns="0" anchor="t">
            <a:noAutofit/>
          </a:bodyPr>
          <a:p>
            <a:endParaRPr b="0" lang="en-US" sz="1800" strike="noStrike" u="none">
              <a:solidFill>
                <a:srgbClr val="ffffff"/>
              </a:solidFill>
              <a:effectLst/>
              <a:uFillTx/>
              <a:latin typeface="Arial"/>
            </a:endParaRPr>
          </a:p>
        </p:txBody>
      </p:sp>
      <p:sp>
        <p:nvSpPr>
          <p:cNvPr id="136" name="Text 32"/>
          <p:cNvSpPr/>
          <p:nvPr/>
        </p:nvSpPr>
        <p:spPr>
          <a:xfrm>
            <a:off x="1115640" y="4937760"/>
            <a:ext cx="4416120" cy="301320"/>
          </a:xfrm>
          <a:prstGeom prst="rect">
            <a:avLst/>
          </a:prstGeom>
          <a:noFill/>
          <a:ln w="0">
            <a:noFill/>
          </a:ln>
        </p:spPr>
        <p:style>
          <a:lnRef idx="0"/>
          <a:fillRef idx="0"/>
          <a:effectRef idx="0"/>
          <a:fontRef idx="minor"/>
        </p:style>
        <p:txBody>
          <a:bodyPr lIns="0" rIns="0" tIns="0" bIns="0" anchor="t">
            <a:normAutofit/>
          </a:bodyPr>
          <a:p>
            <a:pPr defTabSz="914400">
              <a:lnSpc>
                <a:spcPct val="100000"/>
              </a:lnSpc>
              <a:tabLst>
                <a:tab algn="l" pos="0"/>
              </a:tabLst>
            </a:pPr>
            <a:r>
              <a:rPr b="0" lang="en-US" sz="1130" strike="noStrike" u="none">
                <a:solidFill>
                  <a:srgbClr val="626B7B"/>
                </a:solidFill>
                <a:effectLst/>
                <a:uFillTx/>
                <a:latin typeface="Aptos"/>
                <a:ea typeface="Aptos"/>
              </a:rPr>
              <a:t>Unverifiable values can be flagged without a locator.</a:t>
            </a:r>
            <a:endParaRPr b="0" lang="en-US" sz="1130" strike="noStrike" u="none">
              <a:solidFill>
                <a:srgbClr val="2D2F38"/>
              </a:solidFill>
              <a:effectLst/>
              <a:uFillTx/>
              <a:latin typeface="Arial"/>
            </a:endParaRPr>
          </a:p>
        </p:txBody>
      </p:sp>
      <p:sp>
        <p:nvSpPr>
          <p:cNvPr id="137" name="Shape 33"/>
          <p:cNvSpPr/>
          <p:nvPr/>
        </p:nvSpPr>
        <p:spPr>
          <a:xfrm>
            <a:off x="960120" y="5349240"/>
            <a:ext cx="63720" cy="63720"/>
          </a:xfrm>
          <a:prstGeom prst="ellipse">
            <a:avLst/>
          </a:prstGeom>
          <a:solidFill>
            <a:srgbClr val="39466C"/>
          </a:solidFill>
          <a:ln w="7620">
            <a:solidFill>
              <a:srgbClr val="39466C"/>
            </a:solidFill>
            <a:round/>
          </a:ln>
        </p:spPr>
        <p:style>
          <a:lnRef idx="0"/>
          <a:fillRef idx="0"/>
          <a:effectRef idx="0"/>
          <a:fontRef idx="minor"/>
        </p:style>
        <p:txBody>
          <a:bodyPr lIns="90000" rIns="90000" tIns="0" bIns="0" anchor="t">
            <a:noAutofit/>
          </a:bodyPr>
          <a:p>
            <a:endParaRPr b="0" lang="en-US" sz="1800" strike="noStrike" u="none">
              <a:solidFill>
                <a:srgbClr val="ffffff"/>
              </a:solidFill>
              <a:effectLst/>
              <a:uFillTx/>
              <a:latin typeface="Arial"/>
            </a:endParaRPr>
          </a:p>
        </p:txBody>
      </p:sp>
      <p:sp>
        <p:nvSpPr>
          <p:cNvPr id="138" name="Text 34"/>
          <p:cNvSpPr/>
          <p:nvPr/>
        </p:nvSpPr>
        <p:spPr>
          <a:xfrm>
            <a:off x="1115640" y="5257800"/>
            <a:ext cx="4416120" cy="301320"/>
          </a:xfrm>
          <a:prstGeom prst="rect">
            <a:avLst/>
          </a:prstGeom>
          <a:noFill/>
          <a:ln w="0">
            <a:noFill/>
          </a:ln>
        </p:spPr>
        <p:style>
          <a:lnRef idx="0"/>
          <a:fillRef idx="0"/>
          <a:effectRef idx="0"/>
          <a:fontRef idx="minor"/>
        </p:style>
        <p:txBody>
          <a:bodyPr lIns="0" rIns="0" tIns="0" bIns="0" anchor="t">
            <a:normAutofit/>
          </a:bodyPr>
          <a:p>
            <a:pPr defTabSz="914400">
              <a:lnSpc>
                <a:spcPct val="100000"/>
              </a:lnSpc>
              <a:tabLst>
                <a:tab algn="l" pos="0"/>
              </a:tabLst>
            </a:pPr>
            <a:r>
              <a:rPr b="0" lang="en-US" sz="1130" strike="noStrike" u="none">
                <a:solidFill>
                  <a:srgbClr val="626B7B"/>
                </a:solidFill>
                <a:effectLst/>
                <a:uFillTx/>
                <a:latin typeface="Aptos"/>
                <a:ea typeface="Aptos"/>
              </a:rPr>
              <a:t>A rejected or edited support fact can demote dependent links.</a:t>
            </a:r>
            <a:endParaRPr b="0" lang="en-US" sz="1130" strike="noStrike" u="none">
              <a:solidFill>
                <a:srgbClr val="2D2F38"/>
              </a:solidFill>
              <a:effectLst/>
              <a:uFillTx/>
              <a:latin typeface="Arial"/>
            </a:endParaRPr>
          </a:p>
        </p:txBody>
      </p:sp>
      <p:sp>
        <p:nvSpPr>
          <p:cNvPr id="139" name="Shape 35"/>
          <p:cNvSpPr/>
          <p:nvPr/>
        </p:nvSpPr>
        <p:spPr>
          <a:xfrm>
            <a:off x="960120" y="5669280"/>
            <a:ext cx="63720" cy="63720"/>
          </a:xfrm>
          <a:prstGeom prst="ellipse">
            <a:avLst/>
          </a:prstGeom>
          <a:solidFill>
            <a:srgbClr val="39466C"/>
          </a:solidFill>
          <a:ln w="7620">
            <a:solidFill>
              <a:srgbClr val="39466C"/>
            </a:solidFill>
            <a:round/>
          </a:ln>
        </p:spPr>
        <p:style>
          <a:lnRef idx="0"/>
          <a:fillRef idx="0"/>
          <a:effectRef idx="0"/>
          <a:fontRef idx="minor"/>
        </p:style>
        <p:txBody>
          <a:bodyPr lIns="90000" rIns="90000" tIns="0" bIns="0" anchor="t">
            <a:noAutofit/>
          </a:bodyPr>
          <a:p>
            <a:endParaRPr b="0" lang="en-US" sz="1800" strike="noStrike" u="none">
              <a:solidFill>
                <a:srgbClr val="ffffff"/>
              </a:solidFill>
              <a:effectLst/>
              <a:uFillTx/>
              <a:latin typeface="Arial"/>
            </a:endParaRPr>
          </a:p>
        </p:txBody>
      </p:sp>
      <p:sp>
        <p:nvSpPr>
          <p:cNvPr id="140" name="Text 36"/>
          <p:cNvSpPr/>
          <p:nvPr/>
        </p:nvSpPr>
        <p:spPr>
          <a:xfrm>
            <a:off x="1115640" y="5577840"/>
            <a:ext cx="4416120" cy="301320"/>
          </a:xfrm>
          <a:prstGeom prst="rect">
            <a:avLst/>
          </a:prstGeom>
          <a:noFill/>
          <a:ln w="0">
            <a:noFill/>
          </a:ln>
        </p:spPr>
        <p:style>
          <a:lnRef idx="0"/>
          <a:fillRef idx="0"/>
          <a:effectRef idx="0"/>
          <a:fontRef idx="minor"/>
        </p:style>
        <p:txBody>
          <a:bodyPr lIns="0" rIns="0" tIns="0" bIns="0" anchor="t">
            <a:normAutofit/>
          </a:bodyPr>
          <a:p>
            <a:pPr defTabSz="914400">
              <a:lnSpc>
                <a:spcPct val="100000"/>
              </a:lnSpc>
              <a:tabLst>
                <a:tab algn="l" pos="0"/>
              </a:tabLst>
            </a:pPr>
            <a:r>
              <a:rPr b="0" lang="en-US" sz="1130" strike="noStrike" u="none">
                <a:solidFill>
                  <a:srgbClr val="626B7B"/>
                </a:solidFill>
                <a:effectLst/>
                <a:uFillTx/>
                <a:latin typeface="Aptos"/>
                <a:ea typeface="Aptos"/>
              </a:rPr>
              <a:t>Trace snapshots are stored and reloaded read-only.</a:t>
            </a:r>
            <a:endParaRPr b="0" lang="en-US" sz="1130" strike="noStrike" u="none">
              <a:solidFill>
                <a:srgbClr val="2D2F38"/>
              </a:solidFill>
              <a:effectLst/>
              <a:uFillTx/>
              <a:latin typeface="Arial"/>
            </a:endParaRPr>
          </a:p>
        </p:txBody>
      </p:sp>
      <p:sp>
        <p:nvSpPr>
          <p:cNvPr id="141" name="Shape 37"/>
          <p:cNvSpPr/>
          <p:nvPr/>
        </p:nvSpPr>
        <p:spPr>
          <a:xfrm>
            <a:off x="6291000" y="4005000"/>
            <a:ext cx="5074560" cy="438480"/>
          </a:xfrm>
          <a:prstGeom prst="roundRect">
            <a:avLst>
              <a:gd name="adj" fmla="val 20833"/>
            </a:avLst>
          </a:prstGeom>
          <a:solidFill>
            <a:srgbClr val="ffffff"/>
          </a:solidFill>
          <a:ln w="10160">
            <a:solidFill>
              <a:srgbClr val="E5E8F0"/>
            </a:solidFill>
            <a:round/>
          </a:ln>
        </p:spPr>
        <p:style>
          <a:lnRef idx="0"/>
          <a:fillRef idx="0"/>
          <a:effectRef idx="0"/>
          <a:fontRef idx="minor"/>
        </p:style>
        <p:txBody>
          <a:bodyPr lIns="90000" rIns="90000" tIns="45000" bIns="45000" anchor="t">
            <a:noAutofit/>
          </a:bodyPr>
          <a:p>
            <a:endParaRPr b="0" lang="en-US" sz="1800" strike="noStrike" u="none">
              <a:solidFill>
                <a:srgbClr val="2D2F38"/>
              </a:solidFill>
              <a:effectLst/>
              <a:uFillTx/>
              <a:latin typeface="Arial"/>
            </a:endParaRPr>
          </a:p>
        </p:txBody>
      </p:sp>
      <p:sp>
        <p:nvSpPr>
          <p:cNvPr id="142" name="Shape 38"/>
          <p:cNvSpPr/>
          <p:nvPr/>
        </p:nvSpPr>
        <p:spPr>
          <a:xfrm>
            <a:off x="6291000" y="4005000"/>
            <a:ext cx="54360" cy="438480"/>
          </a:xfrm>
          <a:prstGeom prst="rect">
            <a:avLst/>
          </a:prstGeom>
          <a:solidFill>
            <a:srgbClr val="2D3858"/>
          </a:solidFill>
          <a:ln w="12700">
            <a:solidFill>
              <a:srgbClr val="2D3858"/>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143" name="Text 39"/>
          <p:cNvSpPr/>
          <p:nvPr/>
        </p:nvSpPr>
        <p:spPr>
          <a:xfrm>
            <a:off x="6455520" y="4050720"/>
            <a:ext cx="4818600" cy="3286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350" strike="noStrike" u="none">
                <a:solidFill>
                  <a:srgbClr val="2D2F38"/>
                </a:solidFill>
                <a:effectLst/>
                <a:uFillTx/>
                <a:latin typeface="Aptos"/>
                <a:ea typeface="Aptos"/>
              </a:rPr>
              <a:t>Known capability boundary</a:t>
            </a:r>
            <a:endParaRPr b="0" lang="en-US" sz="1350" strike="noStrike" u="none">
              <a:solidFill>
                <a:srgbClr val="2D2F38"/>
              </a:solidFill>
              <a:effectLst/>
              <a:uFillTx/>
              <a:latin typeface="Arial"/>
            </a:endParaRPr>
          </a:p>
        </p:txBody>
      </p:sp>
      <p:sp>
        <p:nvSpPr>
          <p:cNvPr id="144" name="Shape 40"/>
          <p:cNvSpPr/>
          <p:nvPr/>
        </p:nvSpPr>
        <p:spPr>
          <a:xfrm>
            <a:off x="6473880" y="4709160"/>
            <a:ext cx="63720" cy="63720"/>
          </a:xfrm>
          <a:prstGeom prst="ellipse">
            <a:avLst/>
          </a:prstGeom>
          <a:solidFill>
            <a:srgbClr val="2D3858"/>
          </a:solidFill>
          <a:ln w="7620">
            <a:solidFill>
              <a:srgbClr val="2D3858"/>
            </a:solidFill>
            <a:round/>
          </a:ln>
        </p:spPr>
        <p:style>
          <a:lnRef idx="0"/>
          <a:fillRef idx="0"/>
          <a:effectRef idx="0"/>
          <a:fontRef idx="minor"/>
        </p:style>
        <p:txBody>
          <a:bodyPr lIns="90000" rIns="90000" tIns="0" bIns="0" anchor="t">
            <a:noAutofit/>
          </a:bodyPr>
          <a:p>
            <a:endParaRPr b="0" lang="en-US" sz="1800" strike="noStrike" u="none">
              <a:solidFill>
                <a:srgbClr val="ffffff"/>
              </a:solidFill>
              <a:effectLst/>
              <a:uFillTx/>
              <a:latin typeface="Arial"/>
            </a:endParaRPr>
          </a:p>
        </p:txBody>
      </p:sp>
      <p:sp>
        <p:nvSpPr>
          <p:cNvPr id="145" name="Text 41"/>
          <p:cNvSpPr/>
          <p:nvPr/>
        </p:nvSpPr>
        <p:spPr>
          <a:xfrm>
            <a:off x="6629400" y="4617720"/>
            <a:ext cx="4416120" cy="301320"/>
          </a:xfrm>
          <a:prstGeom prst="rect">
            <a:avLst/>
          </a:prstGeom>
          <a:noFill/>
          <a:ln w="0">
            <a:noFill/>
          </a:ln>
        </p:spPr>
        <p:style>
          <a:lnRef idx="0"/>
          <a:fillRef idx="0"/>
          <a:effectRef idx="0"/>
          <a:fontRef idx="minor"/>
        </p:style>
        <p:txBody>
          <a:bodyPr lIns="0" rIns="0" tIns="0" bIns="0" anchor="t">
            <a:normAutofit/>
          </a:bodyPr>
          <a:p>
            <a:pPr defTabSz="914400">
              <a:lnSpc>
                <a:spcPct val="100000"/>
              </a:lnSpc>
              <a:tabLst>
                <a:tab algn="l" pos="0"/>
              </a:tabLst>
            </a:pPr>
            <a:r>
              <a:rPr b="0" lang="en-US" sz="1130" strike="noStrike" u="none">
                <a:solidFill>
                  <a:srgbClr val="626B7B"/>
                </a:solidFill>
                <a:effectLst/>
                <a:uFillTx/>
                <a:latin typeface="Aptos"/>
                <a:ea typeface="Aptos"/>
              </a:rPr>
              <a:t>Text, CSV and spreadsheet extraction are supported.</a:t>
            </a:r>
            <a:endParaRPr b="0" lang="en-US" sz="1130" strike="noStrike" u="none">
              <a:solidFill>
                <a:srgbClr val="2D2F38"/>
              </a:solidFill>
              <a:effectLst/>
              <a:uFillTx/>
              <a:latin typeface="Arial"/>
            </a:endParaRPr>
          </a:p>
        </p:txBody>
      </p:sp>
      <p:sp>
        <p:nvSpPr>
          <p:cNvPr id="146" name="Shape 42"/>
          <p:cNvSpPr/>
          <p:nvPr/>
        </p:nvSpPr>
        <p:spPr>
          <a:xfrm>
            <a:off x="6473880" y="5029200"/>
            <a:ext cx="63720" cy="63720"/>
          </a:xfrm>
          <a:prstGeom prst="ellipse">
            <a:avLst/>
          </a:prstGeom>
          <a:solidFill>
            <a:srgbClr val="2D3858"/>
          </a:solidFill>
          <a:ln w="7620">
            <a:solidFill>
              <a:srgbClr val="2D3858"/>
            </a:solidFill>
            <a:round/>
          </a:ln>
        </p:spPr>
        <p:style>
          <a:lnRef idx="0"/>
          <a:fillRef idx="0"/>
          <a:effectRef idx="0"/>
          <a:fontRef idx="minor"/>
        </p:style>
        <p:txBody>
          <a:bodyPr lIns="90000" rIns="90000" tIns="0" bIns="0" anchor="t">
            <a:noAutofit/>
          </a:bodyPr>
          <a:p>
            <a:endParaRPr b="0" lang="en-US" sz="1800" strike="noStrike" u="none">
              <a:solidFill>
                <a:srgbClr val="ffffff"/>
              </a:solidFill>
              <a:effectLst/>
              <a:uFillTx/>
              <a:latin typeface="Arial"/>
            </a:endParaRPr>
          </a:p>
        </p:txBody>
      </p:sp>
      <p:sp>
        <p:nvSpPr>
          <p:cNvPr id="147" name="Text 43"/>
          <p:cNvSpPr/>
          <p:nvPr/>
        </p:nvSpPr>
        <p:spPr>
          <a:xfrm>
            <a:off x="6629400" y="4937760"/>
            <a:ext cx="4416120" cy="301320"/>
          </a:xfrm>
          <a:prstGeom prst="rect">
            <a:avLst/>
          </a:prstGeom>
          <a:noFill/>
          <a:ln w="0">
            <a:noFill/>
          </a:ln>
        </p:spPr>
        <p:style>
          <a:lnRef idx="0"/>
          <a:fillRef idx="0"/>
          <a:effectRef idx="0"/>
          <a:fontRef idx="minor"/>
        </p:style>
        <p:txBody>
          <a:bodyPr lIns="0" rIns="0" tIns="0" bIns="0" anchor="t">
            <a:normAutofit/>
          </a:bodyPr>
          <a:p>
            <a:pPr defTabSz="914400">
              <a:lnSpc>
                <a:spcPct val="100000"/>
              </a:lnSpc>
              <a:tabLst>
                <a:tab algn="l" pos="0"/>
              </a:tabLst>
            </a:pPr>
            <a:r>
              <a:rPr b="0" lang="en-US" sz="1130" strike="noStrike" u="none">
                <a:solidFill>
                  <a:srgbClr val="626B7B"/>
                </a:solidFill>
                <a:effectLst/>
                <a:uFillTx/>
                <a:latin typeface="Aptos"/>
                <a:ea typeface="Aptos"/>
              </a:rPr>
              <a:t>Scanned PDFs and images are retained, not OCR-read.</a:t>
            </a:r>
            <a:endParaRPr b="0" lang="en-US" sz="1130" strike="noStrike" u="none">
              <a:solidFill>
                <a:srgbClr val="2D2F38"/>
              </a:solidFill>
              <a:effectLst/>
              <a:uFillTx/>
              <a:latin typeface="Arial"/>
            </a:endParaRPr>
          </a:p>
        </p:txBody>
      </p:sp>
      <p:sp>
        <p:nvSpPr>
          <p:cNvPr id="148" name="Shape 44"/>
          <p:cNvSpPr/>
          <p:nvPr/>
        </p:nvSpPr>
        <p:spPr>
          <a:xfrm>
            <a:off x="6473880" y="5349240"/>
            <a:ext cx="63720" cy="63720"/>
          </a:xfrm>
          <a:prstGeom prst="ellipse">
            <a:avLst/>
          </a:prstGeom>
          <a:solidFill>
            <a:srgbClr val="2D3858"/>
          </a:solidFill>
          <a:ln w="7620">
            <a:solidFill>
              <a:srgbClr val="2D3858"/>
            </a:solidFill>
            <a:round/>
          </a:ln>
        </p:spPr>
        <p:style>
          <a:lnRef idx="0"/>
          <a:fillRef idx="0"/>
          <a:effectRef idx="0"/>
          <a:fontRef idx="minor"/>
        </p:style>
        <p:txBody>
          <a:bodyPr lIns="90000" rIns="90000" tIns="0" bIns="0" anchor="t">
            <a:noAutofit/>
          </a:bodyPr>
          <a:p>
            <a:endParaRPr b="0" lang="en-US" sz="1800" strike="noStrike" u="none">
              <a:solidFill>
                <a:srgbClr val="ffffff"/>
              </a:solidFill>
              <a:effectLst/>
              <a:uFillTx/>
              <a:latin typeface="Arial"/>
            </a:endParaRPr>
          </a:p>
        </p:txBody>
      </p:sp>
      <p:sp>
        <p:nvSpPr>
          <p:cNvPr id="149" name="Text 45"/>
          <p:cNvSpPr/>
          <p:nvPr/>
        </p:nvSpPr>
        <p:spPr>
          <a:xfrm>
            <a:off x="6629400" y="5257800"/>
            <a:ext cx="4416120" cy="301320"/>
          </a:xfrm>
          <a:prstGeom prst="rect">
            <a:avLst/>
          </a:prstGeom>
          <a:noFill/>
          <a:ln w="0">
            <a:noFill/>
          </a:ln>
        </p:spPr>
        <p:style>
          <a:lnRef idx="0"/>
          <a:fillRef idx="0"/>
          <a:effectRef idx="0"/>
          <a:fontRef idx="minor"/>
        </p:style>
        <p:txBody>
          <a:bodyPr lIns="0" rIns="0" tIns="0" bIns="0" anchor="t">
            <a:normAutofit/>
          </a:bodyPr>
          <a:p>
            <a:pPr defTabSz="914400">
              <a:lnSpc>
                <a:spcPct val="100000"/>
              </a:lnSpc>
              <a:tabLst>
                <a:tab algn="l" pos="0"/>
              </a:tabLst>
            </a:pPr>
            <a:r>
              <a:rPr b="0" lang="en-US" sz="1130" strike="noStrike" u="none">
                <a:solidFill>
                  <a:srgbClr val="626B7B"/>
                </a:solidFill>
                <a:effectLst/>
                <a:uFillTx/>
                <a:latin typeface="Aptos"/>
                <a:ea typeface="Aptos"/>
              </a:rPr>
              <a:t>A verbatim quote is not proof of semantic correctness.</a:t>
            </a:r>
            <a:endParaRPr b="0" lang="en-US" sz="1130" strike="noStrike" u="none">
              <a:solidFill>
                <a:srgbClr val="2D2F38"/>
              </a:solidFill>
              <a:effectLst/>
              <a:uFillTx/>
              <a:latin typeface="Arial"/>
            </a:endParaRPr>
          </a:p>
        </p:txBody>
      </p:sp>
      <p:sp>
        <p:nvSpPr>
          <p:cNvPr id="150" name="Shape 46"/>
          <p:cNvSpPr/>
          <p:nvPr/>
        </p:nvSpPr>
        <p:spPr>
          <a:xfrm>
            <a:off x="6473880" y="5669280"/>
            <a:ext cx="63720" cy="63720"/>
          </a:xfrm>
          <a:prstGeom prst="ellipse">
            <a:avLst/>
          </a:prstGeom>
          <a:solidFill>
            <a:srgbClr val="2D3858"/>
          </a:solidFill>
          <a:ln w="7620">
            <a:solidFill>
              <a:srgbClr val="2D3858"/>
            </a:solidFill>
            <a:round/>
          </a:ln>
        </p:spPr>
        <p:style>
          <a:lnRef idx="0"/>
          <a:fillRef idx="0"/>
          <a:effectRef idx="0"/>
          <a:fontRef idx="minor"/>
        </p:style>
        <p:txBody>
          <a:bodyPr lIns="90000" rIns="90000" tIns="0" bIns="0" anchor="t">
            <a:noAutofit/>
          </a:bodyPr>
          <a:p>
            <a:endParaRPr b="0" lang="en-US" sz="1800" strike="noStrike" u="none">
              <a:solidFill>
                <a:srgbClr val="ffffff"/>
              </a:solidFill>
              <a:effectLst/>
              <a:uFillTx/>
              <a:latin typeface="Arial"/>
            </a:endParaRPr>
          </a:p>
        </p:txBody>
      </p:sp>
      <p:sp>
        <p:nvSpPr>
          <p:cNvPr id="151" name="Text 47"/>
          <p:cNvSpPr/>
          <p:nvPr/>
        </p:nvSpPr>
        <p:spPr>
          <a:xfrm>
            <a:off x="6629400" y="5577840"/>
            <a:ext cx="4416120" cy="301320"/>
          </a:xfrm>
          <a:prstGeom prst="rect">
            <a:avLst/>
          </a:prstGeom>
          <a:noFill/>
          <a:ln w="0">
            <a:noFill/>
          </a:ln>
        </p:spPr>
        <p:style>
          <a:lnRef idx="0"/>
          <a:fillRef idx="0"/>
          <a:effectRef idx="0"/>
          <a:fontRef idx="minor"/>
        </p:style>
        <p:txBody>
          <a:bodyPr lIns="0" rIns="0" tIns="0" bIns="0" anchor="t">
            <a:normAutofit/>
          </a:bodyPr>
          <a:p>
            <a:pPr defTabSz="914400">
              <a:lnSpc>
                <a:spcPct val="100000"/>
              </a:lnSpc>
              <a:tabLst>
                <a:tab algn="l" pos="0"/>
              </a:tabLst>
            </a:pPr>
            <a:r>
              <a:rPr b="0" lang="en-US" sz="1130" strike="noStrike" u="none">
                <a:solidFill>
                  <a:srgbClr val="626B7B"/>
                </a:solidFill>
                <a:effectLst/>
                <a:uFillTx/>
                <a:latin typeface="Aptos"/>
                <a:ea typeface="Aptos"/>
              </a:rPr>
              <a:t>A human must verify claims before operational reliance.</a:t>
            </a:r>
            <a:endParaRPr b="0" lang="en-US" sz="1130" strike="noStrike" u="none">
              <a:solidFill>
                <a:srgbClr val="2D2F38"/>
              </a:solidFill>
              <a:effectLst/>
              <a:uFillTx/>
              <a:latin typeface="Arial"/>
            </a:endParaRPr>
          </a:p>
        </p:txBody>
      </p:sp>
      <p:sp>
        <p:nvSpPr>
          <p:cNvPr id="152" name="PlaceHolder 1"/>
          <p:cNvSpPr>
            <a:spLocks noGrp="1"/>
          </p:cNvSpPr>
          <p:nvPr>
            <p:ph type="sldNum" idx="7"/>
          </p:nvPr>
        </p:nvSpPr>
        <p:spPr>
          <a:xfrm>
            <a:off x="11685960" y="6565320"/>
            <a:ext cx="799560" cy="299520"/>
          </a:xfrm>
          <a:prstGeom prst="rect">
            <a:avLst/>
          </a:prstGeom>
          <a:noFill/>
          <a:ln w="0">
            <a:noFill/>
          </a:ln>
        </p:spPr>
        <p:txBody>
          <a:bodyPr lIns="90000" rIns="90000" tIns="45000" bIns="45000" anchor="t">
            <a:noAutofit/>
          </a:bodyPr>
          <a:lstStyle>
            <a:lvl1pPr indent="0" defTabSz="914400">
              <a:lnSpc>
                <a:spcPct val="100000"/>
              </a:lnSpc>
              <a:buNone/>
              <a:defRPr b="0" lang="en-US" sz="700" strike="noStrike" u="none">
                <a:solidFill>
                  <a:srgbClr val="626B7B"/>
                </a:solidFill>
                <a:effectLst/>
                <a:uFillTx/>
                <a:latin typeface="Aptos"/>
                <a:ea typeface="Aptos"/>
              </a:defRPr>
            </a:lvl1pPr>
          </a:lstStyle>
          <a:p>
            <a:pPr indent="0" defTabSz="914400">
              <a:lnSpc>
                <a:spcPct val="100000"/>
              </a:lnSpc>
              <a:buNone/>
            </a:pPr>
            <a:fld id="{1C936183-1799-4BD1-913A-48BF7EF19F01}" type="slidenum">
              <a:rPr b="0" lang="en-US" sz="700" strike="noStrike" u="none">
                <a:solidFill>
                  <a:srgbClr val="626B7B"/>
                </a:solidFill>
                <a:effectLst/>
                <a:uFillTx/>
                <a:latin typeface="Aptos"/>
                <a:ea typeface="Aptos"/>
              </a:rPr>
              <a:t>4</a:t>
            </a:fld>
            <a:endParaRPr b="0" lang="en-US" sz="700" strike="noStrike" u="none">
              <a:solidFill>
                <a:srgbClr val="2D2F38"/>
              </a:solidFill>
              <a:effectLst/>
              <a:uFillTx/>
              <a:latin typeface="Times New Roman"/>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3" name="Text 0"/>
          <p:cNvSpPr/>
          <p:nvPr/>
        </p:nvSpPr>
        <p:spPr>
          <a:xfrm>
            <a:off x="567000" y="384120"/>
            <a:ext cx="10881000" cy="1825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900" spc="181" strike="noStrike" u="none">
                <a:solidFill>
                  <a:srgbClr val="39466C"/>
                </a:solidFill>
                <a:effectLst/>
                <a:uFillTx/>
                <a:latin typeface="Aptos"/>
                <a:ea typeface="Aptos"/>
              </a:rPr>
              <a:t>04 / LIVE CASE</a:t>
            </a:r>
            <a:endParaRPr b="0" lang="en-US" sz="900" strike="noStrike" u="none">
              <a:solidFill>
                <a:srgbClr val="2D2F38"/>
              </a:solidFill>
              <a:effectLst/>
              <a:uFillTx/>
              <a:latin typeface="Arial"/>
            </a:endParaRPr>
          </a:p>
        </p:txBody>
      </p:sp>
      <p:sp>
        <p:nvSpPr>
          <p:cNvPr id="154" name="Text 1"/>
          <p:cNvSpPr/>
          <p:nvPr/>
        </p:nvSpPr>
        <p:spPr>
          <a:xfrm>
            <a:off x="567000" y="658440"/>
            <a:ext cx="11018160" cy="4752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2600" strike="noStrike" u="none">
                <a:solidFill>
                  <a:srgbClr val="2D2F38"/>
                </a:solidFill>
                <a:effectLst/>
                <a:uFillTx/>
                <a:latin typeface="Aptos"/>
                <a:ea typeface="Aptos"/>
              </a:rPr>
              <a:t>One authored scenario. A complete investigation path.</a:t>
            </a:r>
            <a:endParaRPr b="0" lang="en-US" sz="2600" strike="noStrike" u="none">
              <a:solidFill>
                <a:srgbClr val="2D2F38"/>
              </a:solidFill>
              <a:effectLst/>
              <a:uFillTx/>
              <a:latin typeface="Arial"/>
            </a:endParaRPr>
          </a:p>
        </p:txBody>
      </p:sp>
      <p:sp>
        <p:nvSpPr>
          <p:cNvPr id="155" name="Text 2"/>
          <p:cNvSpPr/>
          <p:nvPr/>
        </p:nvSpPr>
        <p:spPr>
          <a:xfrm>
            <a:off x="585360" y="1197720"/>
            <a:ext cx="10972440" cy="383760"/>
          </a:xfrm>
          <a:prstGeom prst="rect">
            <a:avLst/>
          </a:prstGeom>
          <a:noFill/>
          <a:ln w="0">
            <a:noFill/>
          </a:ln>
        </p:spPr>
        <p:style>
          <a:lnRef idx="0"/>
          <a:fillRef idx="0"/>
          <a:effectRef idx="0"/>
          <a:fontRef idx="minor"/>
        </p:style>
        <p:txBody>
          <a:bodyPr lIns="0" rIns="0" tIns="0" bIns="0" anchor="t">
            <a:normAutofit/>
          </a:bodyPr>
          <a:p>
            <a:pPr defTabSz="914400">
              <a:lnSpc>
                <a:spcPct val="100000"/>
              </a:lnSpc>
              <a:tabLst>
                <a:tab algn="l" pos="0"/>
              </a:tabLst>
            </a:pPr>
            <a:r>
              <a:rPr b="0" lang="en-US" sz="1250" strike="noStrike" u="none">
                <a:solidFill>
                  <a:srgbClr val="626B7B"/>
                </a:solidFill>
                <a:effectLst/>
                <a:uFillTx/>
                <a:latin typeface="Aptos"/>
                <a:ea typeface="Aptos"/>
              </a:rPr>
              <a:t>Karoo Crunch Foods receives an alert linked to raw-material lot RM-0873.</a:t>
            </a:r>
            <a:endParaRPr b="0" lang="en-US" sz="1250" strike="noStrike" u="none">
              <a:solidFill>
                <a:srgbClr val="2D2F38"/>
              </a:solidFill>
              <a:effectLst/>
              <a:uFillTx/>
              <a:latin typeface="Arial"/>
            </a:endParaRPr>
          </a:p>
        </p:txBody>
      </p:sp>
      <p:sp>
        <p:nvSpPr>
          <p:cNvPr id="156" name="Shape 3"/>
          <p:cNvSpPr/>
          <p:nvPr/>
        </p:nvSpPr>
        <p:spPr>
          <a:xfrm>
            <a:off x="8805600" y="402480"/>
            <a:ext cx="2377080" cy="264960"/>
          </a:xfrm>
          <a:prstGeom prst="roundRect">
            <a:avLst>
              <a:gd name="adj" fmla="val 24138"/>
            </a:avLst>
          </a:prstGeom>
          <a:solidFill>
            <a:srgbClr val="FEF3C7"/>
          </a:solidFill>
          <a:ln w="8890">
            <a:solidFill>
              <a:srgbClr val="FCD34D"/>
            </a:solidFill>
            <a:round/>
          </a:ln>
        </p:spPr>
        <p:style>
          <a:lnRef idx="0"/>
          <a:fillRef idx="0"/>
          <a:effectRef idx="0"/>
          <a:fontRef idx="minor"/>
        </p:style>
        <p:txBody>
          <a:bodyPr lIns="90000" rIns="90000" tIns="45000" bIns="45000" anchor="t">
            <a:noAutofit/>
          </a:bodyPr>
          <a:p>
            <a:endParaRPr b="0" lang="en-US" sz="1800" strike="noStrike" u="none">
              <a:solidFill>
                <a:srgbClr val="2D2F38"/>
              </a:solidFill>
              <a:effectLst/>
              <a:uFillTx/>
              <a:latin typeface="Arial"/>
            </a:endParaRPr>
          </a:p>
        </p:txBody>
      </p:sp>
      <p:sp>
        <p:nvSpPr>
          <p:cNvPr id="157" name="Text 4"/>
          <p:cNvSpPr/>
          <p:nvPr/>
        </p:nvSpPr>
        <p:spPr>
          <a:xfrm>
            <a:off x="8869680" y="420480"/>
            <a:ext cx="2248920" cy="2098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860" strike="noStrike" u="none">
                <a:solidFill>
                  <a:srgbClr val="2D3858"/>
                </a:solidFill>
                <a:effectLst/>
                <a:uFillTx/>
                <a:latin typeface="Aptos"/>
                <a:ea typeface="Aptos"/>
              </a:rPr>
              <a:t>FICTIONAL TEST SCENARIO</a:t>
            </a:r>
            <a:endParaRPr b="0" lang="en-US" sz="860" strike="noStrike" u="none">
              <a:solidFill>
                <a:srgbClr val="2D2F38"/>
              </a:solidFill>
              <a:effectLst/>
              <a:uFillTx/>
              <a:latin typeface="Arial"/>
            </a:endParaRPr>
          </a:p>
        </p:txBody>
      </p:sp>
      <p:sp>
        <p:nvSpPr>
          <p:cNvPr id="158" name="Shape 5"/>
          <p:cNvSpPr/>
          <p:nvPr/>
        </p:nvSpPr>
        <p:spPr>
          <a:xfrm>
            <a:off x="658440" y="1874520"/>
            <a:ext cx="3657240" cy="3428640"/>
          </a:xfrm>
          <a:prstGeom prst="roundRect">
            <a:avLst>
              <a:gd name="adj" fmla="val 3467"/>
            </a:avLst>
          </a:prstGeom>
          <a:solidFill>
            <a:srgbClr val="ffffff"/>
          </a:solidFill>
          <a:ln w="10160">
            <a:solidFill>
              <a:srgbClr val="E5E8F0"/>
            </a:solidFill>
            <a:round/>
          </a:ln>
        </p:spPr>
        <p:style>
          <a:lnRef idx="0"/>
          <a:fillRef idx="0"/>
          <a:effectRef idx="0"/>
          <a:fontRef idx="minor"/>
        </p:style>
        <p:txBody>
          <a:bodyPr lIns="90000" rIns="90000" tIns="45000" bIns="45000" anchor="t">
            <a:noAutofit/>
          </a:bodyPr>
          <a:p>
            <a:endParaRPr b="0" lang="en-US" sz="1800" strike="noStrike" u="none">
              <a:solidFill>
                <a:srgbClr val="2D2F38"/>
              </a:solidFill>
              <a:effectLst/>
              <a:uFillTx/>
              <a:latin typeface="Arial"/>
            </a:endParaRPr>
          </a:p>
        </p:txBody>
      </p:sp>
      <p:sp>
        <p:nvSpPr>
          <p:cNvPr id="159" name="Text 6"/>
          <p:cNvSpPr/>
          <p:nvPr/>
        </p:nvSpPr>
        <p:spPr>
          <a:xfrm>
            <a:off x="914400" y="2139840"/>
            <a:ext cx="3108600" cy="3196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800" strike="noStrike" u="none">
                <a:solidFill>
                  <a:srgbClr val="2D2F38"/>
                </a:solidFill>
                <a:effectLst/>
                <a:uFillTx/>
                <a:latin typeface="Aptos"/>
                <a:ea typeface="Aptos"/>
              </a:rPr>
              <a:t>Input evidence</a:t>
            </a:r>
            <a:endParaRPr b="0" lang="en-US" sz="1800" strike="noStrike" u="none">
              <a:solidFill>
                <a:srgbClr val="2D2F38"/>
              </a:solidFill>
              <a:effectLst/>
              <a:uFillTx/>
              <a:latin typeface="Arial"/>
            </a:endParaRPr>
          </a:p>
        </p:txBody>
      </p:sp>
      <p:sp>
        <p:nvSpPr>
          <p:cNvPr id="160" name="Shape 7"/>
          <p:cNvSpPr/>
          <p:nvPr/>
        </p:nvSpPr>
        <p:spPr>
          <a:xfrm>
            <a:off x="951120" y="2724840"/>
            <a:ext cx="100080" cy="100080"/>
          </a:xfrm>
          <a:prstGeom prst="ellipse">
            <a:avLst/>
          </a:prstGeom>
          <a:solidFill>
            <a:srgbClr val="39466C"/>
          </a:solidFill>
          <a:ln w="7620">
            <a:solidFill>
              <a:srgbClr val="39466C"/>
            </a:solidFill>
            <a:round/>
          </a:ln>
        </p:spPr>
        <p:style>
          <a:lnRef idx="0"/>
          <a:fillRef idx="0"/>
          <a:effectRef idx="0"/>
          <a:fontRef idx="minor"/>
        </p:style>
        <p:txBody>
          <a:bodyPr lIns="90000" rIns="90000" tIns="26280" bIns="26280" anchor="t">
            <a:noAutofit/>
          </a:bodyPr>
          <a:p>
            <a:endParaRPr b="0" lang="en-US" sz="1800" strike="noStrike" u="none">
              <a:solidFill>
                <a:srgbClr val="ffffff"/>
              </a:solidFill>
              <a:effectLst/>
              <a:uFillTx/>
              <a:latin typeface="Arial"/>
            </a:endParaRPr>
          </a:p>
        </p:txBody>
      </p:sp>
      <p:sp>
        <p:nvSpPr>
          <p:cNvPr id="161" name="Text 8"/>
          <p:cNvSpPr/>
          <p:nvPr/>
        </p:nvSpPr>
        <p:spPr>
          <a:xfrm>
            <a:off x="1170360" y="2651760"/>
            <a:ext cx="2651400" cy="2649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250" strike="noStrike" u="none">
                <a:solidFill>
                  <a:srgbClr val="2D2F38"/>
                </a:solidFill>
                <a:effectLst/>
                <a:uFillTx/>
                <a:latin typeface="Aptos"/>
                <a:ea typeface="Aptos"/>
              </a:rPr>
              <a:t>Supplier recall alert</a:t>
            </a:r>
            <a:endParaRPr b="0" lang="en-US" sz="1250" strike="noStrike" u="none">
              <a:solidFill>
                <a:srgbClr val="2D2F38"/>
              </a:solidFill>
              <a:effectLst/>
              <a:uFillTx/>
              <a:latin typeface="Arial"/>
            </a:endParaRPr>
          </a:p>
        </p:txBody>
      </p:sp>
      <p:sp>
        <p:nvSpPr>
          <p:cNvPr id="162" name="Shape 9"/>
          <p:cNvSpPr/>
          <p:nvPr/>
        </p:nvSpPr>
        <p:spPr>
          <a:xfrm>
            <a:off x="951120" y="3173040"/>
            <a:ext cx="100080" cy="100080"/>
          </a:xfrm>
          <a:prstGeom prst="ellipse">
            <a:avLst/>
          </a:prstGeom>
          <a:solidFill>
            <a:srgbClr val="39466C"/>
          </a:solidFill>
          <a:ln w="7620">
            <a:solidFill>
              <a:srgbClr val="39466C"/>
            </a:solidFill>
            <a:round/>
          </a:ln>
        </p:spPr>
        <p:style>
          <a:lnRef idx="0"/>
          <a:fillRef idx="0"/>
          <a:effectRef idx="0"/>
          <a:fontRef idx="minor"/>
        </p:style>
        <p:txBody>
          <a:bodyPr lIns="90000" rIns="90000" tIns="26280" bIns="26280" anchor="t">
            <a:noAutofit/>
          </a:bodyPr>
          <a:p>
            <a:endParaRPr b="0" lang="en-US" sz="1800" strike="noStrike" u="none">
              <a:solidFill>
                <a:srgbClr val="ffffff"/>
              </a:solidFill>
              <a:effectLst/>
              <a:uFillTx/>
              <a:latin typeface="Arial"/>
            </a:endParaRPr>
          </a:p>
        </p:txBody>
      </p:sp>
      <p:sp>
        <p:nvSpPr>
          <p:cNvPr id="163" name="Text 10"/>
          <p:cNvSpPr/>
          <p:nvPr/>
        </p:nvSpPr>
        <p:spPr>
          <a:xfrm>
            <a:off x="1170360" y="3099960"/>
            <a:ext cx="2651400" cy="2649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250" strike="noStrike" u="none">
                <a:solidFill>
                  <a:srgbClr val="2D2F38"/>
                </a:solidFill>
                <a:effectLst/>
                <a:uFillTx/>
                <a:latin typeface="Aptos"/>
                <a:ea typeface="Aptos"/>
              </a:rPr>
              <a:t>Goods-received note</a:t>
            </a:r>
            <a:endParaRPr b="0" lang="en-US" sz="1250" strike="noStrike" u="none">
              <a:solidFill>
                <a:srgbClr val="2D2F38"/>
              </a:solidFill>
              <a:effectLst/>
              <a:uFillTx/>
              <a:latin typeface="Arial"/>
            </a:endParaRPr>
          </a:p>
        </p:txBody>
      </p:sp>
      <p:sp>
        <p:nvSpPr>
          <p:cNvPr id="164" name="Shape 11"/>
          <p:cNvSpPr/>
          <p:nvPr/>
        </p:nvSpPr>
        <p:spPr>
          <a:xfrm>
            <a:off x="951120" y="3620880"/>
            <a:ext cx="100080" cy="100080"/>
          </a:xfrm>
          <a:prstGeom prst="ellipse">
            <a:avLst/>
          </a:prstGeom>
          <a:solidFill>
            <a:srgbClr val="39466C"/>
          </a:solidFill>
          <a:ln w="7620">
            <a:solidFill>
              <a:srgbClr val="39466C"/>
            </a:solidFill>
            <a:round/>
          </a:ln>
        </p:spPr>
        <p:style>
          <a:lnRef idx="0"/>
          <a:fillRef idx="0"/>
          <a:effectRef idx="0"/>
          <a:fontRef idx="minor"/>
        </p:style>
        <p:txBody>
          <a:bodyPr lIns="90000" rIns="90000" tIns="26280" bIns="26280" anchor="t">
            <a:noAutofit/>
          </a:bodyPr>
          <a:p>
            <a:endParaRPr b="0" lang="en-US" sz="1800" strike="noStrike" u="none">
              <a:solidFill>
                <a:srgbClr val="ffffff"/>
              </a:solidFill>
              <a:effectLst/>
              <a:uFillTx/>
              <a:latin typeface="Arial"/>
            </a:endParaRPr>
          </a:p>
        </p:txBody>
      </p:sp>
      <p:sp>
        <p:nvSpPr>
          <p:cNvPr id="165" name="Text 12"/>
          <p:cNvSpPr/>
          <p:nvPr/>
        </p:nvSpPr>
        <p:spPr>
          <a:xfrm>
            <a:off x="1170360" y="3547800"/>
            <a:ext cx="2651400" cy="2649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250" strike="noStrike" u="none">
                <a:solidFill>
                  <a:srgbClr val="2D2F38"/>
                </a:solidFill>
                <a:effectLst/>
                <a:uFillTx/>
                <a:latin typeface="Aptos"/>
                <a:ea typeface="Aptos"/>
              </a:rPr>
              <a:t>Stock ledger + batch sheets</a:t>
            </a:r>
            <a:endParaRPr b="0" lang="en-US" sz="1250" strike="noStrike" u="none">
              <a:solidFill>
                <a:srgbClr val="2D2F38"/>
              </a:solidFill>
              <a:effectLst/>
              <a:uFillTx/>
              <a:latin typeface="Arial"/>
            </a:endParaRPr>
          </a:p>
        </p:txBody>
      </p:sp>
      <p:sp>
        <p:nvSpPr>
          <p:cNvPr id="166" name="Shape 13"/>
          <p:cNvSpPr/>
          <p:nvPr/>
        </p:nvSpPr>
        <p:spPr>
          <a:xfrm>
            <a:off x="951120" y="4069080"/>
            <a:ext cx="100080" cy="100080"/>
          </a:xfrm>
          <a:prstGeom prst="ellipse">
            <a:avLst/>
          </a:prstGeom>
          <a:solidFill>
            <a:srgbClr val="39466C"/>
          </a:solidFill>
          <a:ln w="7620">
            <a:solidFill>
              <a:srgbClr val="39466C"/>
            </a:solidFill>
            <a:round/>
          </a:ln>
        </p:spPr>
        <p:style>
          <a:lnRef idx="0"/>
          <a:fillRef idx="0"/>
          <a:effectRef idx="0"/>
          <a:fontRef idx="minor"/>
        </p:style>
        <p:txBody>
          <a:bodyPr lIns="90000" rIns="90000" tIns="26280" bIns="26280" anchor="t">
            <a:noAutofit/>
          </a:bodyPr>
          <a:p>
            <a:endParaRPr b="0" lang="en-US" sz="1800" strike="noStrike" u="none">
              <a:solidFill>
                <a:srgbClr val="ffffff"/>
              </a:solidFill>
              <a:effectLst/>
              <a:uFillTx/>
              <a:latin typeface="Arial"/>
            </a:endParaRPr>
          </a:p>
        </p:txBody>
      </p:sp>
      <p:sp>
        <p:nvSpPr>
          <p:cNvPr id="167" name="Text 14"/>
          <p:cNvSpPr/>
          <p:nvPr/>
        </p:nvSpPr>
        <p:spPr>
          <a:xfrm>
            <a:off x="1170360" y="3996000"/>
            <a:ext cx="2651400" cy="2649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250" strike="noStrike" u="none">
                <a:solidFill>
                  <a:srgbClr val="2D2F38"/>
                </a:solidFill>
                <a:effectLst/>
                <a:uFillTx/>
                <a:latin typeface="Aptos"/>
                <a:ea typeface="Aptos"/>
              </a:rPr>
              <a:t>Two dispatch notes</a:t>
            </a:r>
            <a:endParaRPr b="0" lang="en-US" sz="1250" strike="noStrike" u="none">
              <a:solidFill>
                <a:srgbClr val="2D2F38"/>
              </a:solidFill>
              <a:effectLst/>
              <a:uFillTx/>
              <a:latin typeface="Arial"/>
            </a:endParaRPr>
          </a:p>
        </p:txBody>
      </p:sp>
      <p:sp>
        <p:nvSpPr>
          <p:cNvPr id="168" name="Text 15"/>
          <p:cNvSpPr/>
          <p:nvPr/>
        </p:nvSpPr>
        <p:spPr>
          <a:xfrm>
            <a:off x="914400" y="4809600"/>
            <a:ext cx="2971440" cy="2556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i="1" lang="en-US" sz="1030" strike="noStrike" u="none">
                <a:solidFill>
                  <a:srgbClr val="626B7B"/>
                </a:solidFill>
                <a:effectLst/>
                <a:uFillTx/>
                <a:latin typeface="Aptos"/>
                <a:ea typeface="Aptos"/>
              </a:rPr>
              <a:t>7 authored documents · SHA-256 recorded</a:t>
            </a:r>
            <a:endParaRPr b="0" lang="en-US" sz="1030" strike="noStrike" u="none">
              <a:solidFill>
                <a:srgbClr val="2D2F38"/>
              </a:solidFill>
              <a:effectLst/>
              <a:uFillTx/>
              <a:latin typeface="Arial"/>
            </a:endParaRPr>
          </a:p>
        </p:txBody>
      </p:sp>
      <p:sp>
        <p:nvSpPr>
          <p:cNvPr id="169" name="Shape 16"/>
          <p:cNvSpPr/>
          <p:nvPr/>
        </p:nvSpPr>
        <p:spPr>
          <a:xfrm>
            <a:off x="4590360" y="1874520"/>
            <a:ext cx="3062880" cy="3428640"/>
          </a:xfrm>
          <a:prstGeom prst="roundRect">
            <a:avLst>
              <a:gd name="adj" fmla="val 3881"/>
            </a:avLst>
          </a:prstGeom>
          <a:solidFill>
            <a:srgbClr val="ffffff"/>
          </a:solidFill>
          <a:ln w="10160">
            <a:solidFill>
              <a:srgbClr val="E5E8F0"/>
            </a:solidFill>
            <a:round/>
          </a:ln>
        </p:spPr>
        <p:style>
          <a:lnRef idx="0"/>
          <a:fillRef idx="0"/>
          <a:effectRef idx="0"/>
          <a:fontRef idx="minor"/>
        </p:style>
        <p:txBody>
          <a:bodyPr lIns="90000" rIns="90000" tIns="45000" bIns="45000" anchor="t">
            <a:noAutofit/>
          </a:bodyPr>
          <a:p>
            <a:endParaRPr b="0" lang="en-US" sz="1800" strike="noStrike" u="none">
              <a:solidFill>
                <a:srgbClr val="2D2F38"/>
              </a:solidFill>
              <a:effectLst/>
              <a:uFillTx/>
              <a:latin typeface="Arial"/>
            </a:endParaRPr>
          </a:p>
        </p:txBody>
      </p:sp>
      <p:sp>
        <p:nvSpPr>
          <p:cNvPr id="170" name="Text 17"/>
          <p:cNvSpPr/>
          <p:nvPr/>
        </p:nvSpPr>
        <p:spPr>
          <a:xfrm>
            <a:off x="4846320" y="2139840"/>
            <a:ext cx="2541600" cy="3196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800" strike="noStrike" u="none">
                <a:solidFill>
                  <a:srgbClr val="2D2F38"/>
                </a:solidFill>
                <a:effectLst/>
                <a:uFillTx/>
                <a:latin typeface="Aptos"/>
                <a:ea typeface="Aptos"/>
              </a:rPr>
              <a:t>Extraction results</a:t>
            </a:r>
            <a:endParaRPr b="0" lang="en-US" sz="1800" strike="noStrike" u="none">
              <a:solidFill>
                <a:srgbClr val="2D2F38"/>
              </a:solidFill>
              <a:effectLst/>
              <a:uFillTx/>
              <a:latin typeface="Arial"/>
            </a:endParaRPr>
          </a:p>
        </p:txBody>
      </p:sp>
      <p:sp>
        <p:nvSpPr>
          <p:cNvPr id="171" name="Text 18"/>
          <p:cNvSpPr/>
          <p:nvPr/>
        </p:nvSpPr>
        <p:spPr>
          <a:xfrm>
            <a:off x="4864680" y="2724840"/>
            <a:ext cx="1023840" cy="5299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3400" strike="noStrike" u="none">
                <a:solidFill>
                  <a:srgbClr val="39466C"/>
                </a:solidFill>
                <a:effectLst/>
                <a:uFillTx/>
                <a:latin typeface="Aptos"/>
                <a:ea typeface="Aptos"/>
              </a:rPr>
              <a:t>13</a:t>
            </a:r>
            <a:endParaRPr b="0" lang="en-US" sz="3400" strike="noStrike" u="none">
              <a:solidFill>
                <a:srgbClr val="2D2F38"/>
              </a:solidFill>
              <a:effectLst/>
              <a:uFillTx/>
              <a:latin typeface="Arial"/>
            </a:endParaRPr>
          </a:p>
        </p:txBody>
      </p:sp>
      <p:sp>
        <p:nvSpPr>
          <p:cNvPr id="172" name="Text 19"/>
          <p:cNvSpPr/>
          <p:nvPr/>
        </p:nvSpPr>
        <p:spPr>
          <a:xfrm>
            <a:off x="5779080" y="2862000"/>
            <a:ext cx="1554120" cy="2282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120" strike="noStrike" u="none">
                <a:solidFill>
                  <a:srgbClr val="626B7B"/>
                </a:solidFill>
                <a:effectLst/>
                <a:uFillTx/>
                <a:latin typeface="Aptos"/>
                <a:ea typeface="Aptos"/>
              </a:rPr>
              <a:t>AI candidate facts</a:t>
            </a:r>
            <a:endParaRPr b="0" lang="en-US" sz="1120" strike="noStrike" u="none">
              <a:solidFill>
                <a:srgbClr val="2D2F38"/>
              </a:solidFill>
              <a:effectLst/>
              <a:uFillTx/>
              <a:latin typeface="Arial"/>
            </a:endParaRPr>
          </a:p>
        </p:txBody>
      </p:sp>
      <p:sp>
        <p:nvSpPr>
          <p:cNvPr id="173" name="Shape 20"/>
          <p:cNvSpPr/>
          <p:nvPr/>
        </p:nvSpPr>
        <p:spPr>
          <a:xfrm>
            <a:off x="4855320" y="3456360"/>
            <a:ext cx="2487240" cy="360"/>
          </a:xfrm>
          <a:prstGeom prst="line">
            <a:avLst/>
          </a:prstGeom>
          <a:ln w="11430">
            <a:solidFill>
              <a:srgbClr val="E5E8F0"/>
            </a:solidFill>
            <a:round/>
          </a:ln>
        </p:spPr>
        <p:style>
          <a:lnRef idx="0"/>
          <a:fillRef idx="0"/>
          <a:effectRef idx="0"/>
          <a:fontRef idx="minor"/>
        </p:style>
        <p:txBody>
          <a:bodyPr lIns="90000" rIns="90000" tIns="-44640" bIns="-44640" anchor="t" anchorCtr="1">
            <a:noAutofit/>
          </a:bodyPr>
          <a:p>
            <a:endParaRPr b="0" lang="en-US" sz="1800" strike="noStrike" u="none">
              <a:solidFill>
                <a:srgbClr val="2D2F38"/>
              </a:solidFill>
              <a:effectLst/>
              <a:uFillTx/>
              <a:latin typeface="Arial"/>
            </a:endParaRPr>
          </a:p>
        </p:txBody>
      </p:sp>
      <p:sp>
        <p:nvSpPr>
          <p:cNvPr id="174" name="Text 21"/>
          <p:cNvSpPr/>
          <p:nvPr/>
        </p:nvSpPr>
        <p:spPr>
          <a:xfrm>
            <a:off x="4864680" y="3694320"/>
            <a:ext cx="511560" cy="3837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2300" strike="noStrike" u="none">
                <a:solidFill>
                  <a:srgbClr val="166534"/>
                </a:solidFill>
                <a:effectLst/>
                <a:uFillTx/>
                <a:latin typeface="Aptos"/>
                <a:ea typeface="Aptos"/>
              </a:rPr>
              <a:t>8</a:t>
            </a:r>
            <a:endParaRPr b="0" lang="en-US" sz="2300" strike="noStrike" u="none">
              <a:solidFill>
                <a:srgbClr val="2D2F38"/>
              </a:solidFill>
              <a:effectLst/>
              <a:uFillTx/>
              <a:latin typeface="Arial"/>
            </a:endParaRPr>
          </a:p>
        </p:txBody>
      </p:sp>
      <p:sp>
        <p:nvSpPr>
          <p:cNvPr id="175" name="Text 22"/>
          <p:cNvSpPr/>
          <p:nvPr/>
        </p:nvSpPr>
        <p:spPr>
          <a:xfrm>
            <a:off x="5449680" y="3749040"/>
            <a:ext cx="1828440" cy="2282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080" strike="noStrike" u="none">
                <a:solidFill>
                  <a:srgbClr val="2D2F38"/>
                </a:solidFill>
                <a:effectLst/>
                <a:uFillTx/>
                <a:latin typeface="Aptos"/>
                <a:ea typeface="Aptos"/>
              </a:rPr>
              <a:t>quote-verbatim at cited line</a:t>
            </a:r>
            <a:endParaRPr b="0" lang="en-US" sz="1080" strike="noStrike" u="none">
              <a:solidFill>
                <a:srgbClr val="2D2F38"/>
              </a:solidFill>
              <a:effectLst/>
              <a:uFillTx/>
              <a:latin typeface="Arial"/>
            </a:endParaRPr>
          </a:p>
        </p:txBody>
      </p:sp>
      <p:sp>
        <p:nvSpPr>
          <p:cNvPr id="176" name="Text 23"/>
          <p:cNvSpPr/>
          <p:nvPr/>
        </p:nvSpPr>
        <p:spPr>
          <a:xfrm>
            <a:off x="4864680" y="4242960"/>
            <a:ext cx="511560" cy="3837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2300" strike="noStrike" u="none">
                <a:solidFill>
                  <a:srgbClr val="2D3858"/>
                </a:solidFill>
                <a:effectLst/>
                <a:uFillTx/>
                <a:latin typeface="Aptos"/>
                <a:ea typeface="Aptos"/>
              </a:rPr>
              <a:t>5</a:t>
            </a:r>
            <a:endParaRPr b="0" lang="en-US" sz="2300" strike="noStrike" u="none">
              <a:solidFill>
                <a:srgbClr val="2D2F38"/>
              </a:solidFill>
              <a:effectLst/>
              <a:uFillTx/>
              <a:latin typeface="Arial"/>
            </a:endParaRPr>
          </a:p>
        </p:txBody>
      </p:sp>
      <p:sp>
        <p:nvSpPr>
          <p:cNvPr id="177" name="Text 24"/>
          <p:cNvSpPr/>
          <p:nvPr/>
        </p:nvSpPr>
        <p:spPr>
          <a:xfrm>
            <a:off x="5449680" y="4297680"/>
            <a:ext cx="1828440" cy="2282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080" strike="noStrike" u="none">
                <a:solidFill>
                  <a:srgbClr val="2D2F38"/>
                </a:solidFill>
                <a:effectLst/>
                <a:uFillTx/>
                <a:latin typeface="Aptos"/>
                <a:ea typeface="Aptos"/>
              </a:rPr>
              <a:t>identifier-only; flagged</a:t>
            </a:r>
            <a:endParaRPr b="0" lang="en-US" sz="1080" strike="noStrike" u="none">
              <a:solidFill>
                <a:srgbClr val="2D2F38"/>
              </a:solidFill>
              <a:effectLst/>
              <a:uFillTx/>
              <a:latin typeface="Arial"/>
            </a:endParaRPr>
          </a:p>
        </p:txBody>
      </p:sp>
      <p:sp>
        <p:nvSpPr>
          <p:cNvPr id="178" name="Text 25"/>
          <p:cNvSpPr/>
          <p:nvPr/>
        </p:nvSpPr>
        <p:spPr>
          <a:xfrm>
            <a:off x="4855320" y="4855320"/>
            <a:ext cx="2468520" cy="2372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030" strike="noStrike" u="none">
                <a:solidFill>
                  <a:srgbClr val="626B7B"/>
                </a:solidFill>
                <a:effectLst/>
                <a:uFillTx/>
                <a:latin typeface="Aptos"/>
                <a:ea typeface="Aptos"/>
              </a:rPr>
              <a:t>35 parser facts · 48 total</a:t>
            </a:r>
            <a:endParaRPr b="0" lang="en-US" sz="1030" strike="noStrike" u="none">
              <a:solidFill>
                <a:srgbClr val="2D2F38"/>
              </a:solidFill>
              <a:effectLst/>
              <a:uFillTx/>
              <a:latin typeface="Arial"/>
            </a:endParaRPr>
          </a:p>
        </p:txBody>
      </p:sp>
      <p:sp>
        <p:nvSpPr>
          <p:cNvPr id="179" name="Shape 26"/>
          <p:cNvSpPr/>
          <p:nvPr/>
        </p:nvSpPr>
        <p:spPr>
          <a:xfrm>
            <a:off x="7927920" y="1874520"/>
            <a:ext cx="3584160" cy="3428640"/>
          </a:xfrm>
          <a:prstGeom prst="roundRect">
            <a:avLst>
              <a:gd name="adj" fmla="val 3467"/>
            </a:avLst>
          </a:prstGeom>
          <a:solidFill>
            <a:srgbClr val="2D2F38"/>
          </a:solidFill>
          <a:ln w="10160">
            <a:solidFill>
              <a:srgbClr val="2D2F38"/>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180" name="Text 27"/>
          <p:cNvSpPr/>
          <p:nvPr/>
        </p:nvSpPr>
        <p:spPr>
          <a:xfrm>
            <a:off x="8211240" y="2139840"/>
            <a:ext cx="2925720" cy="3196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800" strike="noStrike" u="none">
                <a:solidFill>
                  <a:srgbClr val="ffffff"/>
                </a:solidFill>
                <a:effectLst/>
                <a:uFillTx/>
                <a:latin typeface="Aptos"/>
                <a:ea typeface="Aptos"/>
              </a:rPr>
              <a:t>Human gate</a:t>
            </a:r>
            <a:endParaRPr b="0" lang="en-US" sz="1800" strike="noStrike" u="none">
              <a:solidFill>
                <a:srgbClr val="2D2F38"/>
              </a:solidFill>
              <a:effectLst/>
              <a:uFillTx/>
              <a:latin typeface="Arial"/>
            </a:endParaRPr>
          </a:p>
        </p:txBody>
      </p:sp>
      <p:sp>
        <p:nvSpPr>
          <p:cNvPr id="181" name="Text 28"/>
          <p:cNvSpPr/>
          <p:nvPr/>
        </p:nvSpPr>
        <p:spPr>
          <a:xfrm>
            <a:off x="8220600" y="2743200"/>
            <a:ext cx="914040" cy="5299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3400" strike="noStrike" u="none">
                <a:solidFill>
                  <a:srgbClr val="A0A6B4"/>
                </a:solidFill>
                <a:effectLst/>
                <a:uFillTx/>
                <a:latin typeface="Aptos"/>
                <a:ea typeface="Aptos"/>
              </a:rPr>
              <a:t>8</a:t>
            </a:r>
            <a:endParaRPr b="0" lang="en-US" sz="3400" strike="noStrike" u="none">
              <a:solidFill>
                <a:srgbClr val="2D2F38"/>
              </a:solidFill>
              <a:effectLst/>
              <a:uFillTx/>
              <a:latin typeface="Arial"/>
            </a:endParaRPr>
          </a:p>
        </p:txBody>
      </p:sp>
      <p:sp>
        <p:nvSpPr>
          <p:cNvPr id="182" name="Text 29"/>
          <p:cNvSpPr/>
          <p:nvPr/>
        </p:nvSpPr>
        <p:spPr>
          <a:xfrm>
            <a:off x="9098280" y="2862000"/>
            <a:ext cx="1919880" cy="2282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120" strike="noStrike" u="none">
                <a:solidFill>
                  <a:srgbClr val="E5E8F0"/>
                </a:solidFill>
                <a:effectLst/>
                <a:uFillTx/>
                <a:latin typeface="Aptos"/>
                <a:ea typeface="Aptos"/>
              </a:rPr>
              <a:t>relationship proposals</a:t>
            </a:r>
            <a:endParaRPr b="0" lang="en-US" sz="1120" strike="noStrike" u="none">
              <a:solidFill>
                <a:srgbClr val="2D2F38"/>
              </a:solidFill>
              <a:effectLst/>
              <a:uFillTx/>
              <a:latin typeface="Arial"/>
            </a:endParaRPr>
          </a:p>
        </p:txBody>
      </p:sp>
      <p:sp>
        <p:nvSpPr>
          <p:cNvPr id="183" name="Shape 30"/>
          <p:cNvSpPr/>
          <p:nvPr/>
        </p:nvSpPr>
        <p:spPr>
          <a:xfrm>
            <a:off x="8211240" y="3456360"/>
            <a:ext cx="2971800" cy="360"/>
          </a:xfrm>
          <a:prstGeom prst="line">
            <a:avLst/>
          </a:prstGeom>
          <a:ln w="11430">
            <a:solidFill>
              <a:srgbClr val="B9C1D0"/>
            </a:solidFill>
            <a:round/>
          </a:ln>
        </p:spPr>
        <p:style>
          <a:lnRef idx="0"/>
          <a:fillRef idx="0"/>
          <a:effectRef idx="0"/>
          <a:fontRef idx="minor"/>
        </p:style>
        <p:txBody>
          <a:bodyPr lIns="90000" rIns="90000" tIns="-44640" bIns="-44640" anchor="t" anchorCtr="1">
            <a:noAutofit/>
          </a:bodyPr>
          <a:p>
            <a:endParaRPr b="0" lang="en-US" sz="1800" strike="noStrike" u="none">
              <a:solidFill>
                <a:srgbClr val="2D2F38"/>
              </a:solidFill>
              <a:effectLst/>
              <a:uFillTx/>
              <a:latin typeface="Arial"/>
            </a:endParaRPr>
          </a:p>
        </p:txBody>
      </p:sp>
      <p:sp>
        <p:nvSpPr>
          <p:cNvPr id="184" name="Text 31"/>
          <p:cNvSpPr/>
          <p:nvPr/>
        </p:nvSpPr>
        <p:spPr>
          <a:xfrm>
            <a:off x="8229600" y="3703320"/>
            <a:ext cx="511560" cy="3837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2300" strike="noStrike" u="none">
                <a:solidFill>
                  <a:srgbClr val="A0A6B4"/>
                </a:solidFill>
                <a:effectLst/>
                <a:uFillTx/>
                <a:latin typeface="Aptos"/>
                <a:ea typeface="Aptos"/>
              </a:rPr>
              <a:t>7</a:t>
            </a:r>
            <a:endParaRPr b="0" lang="en-US" sz="2300" strike="noStrike" u="none">
              <a:solidFill>
                <a:srgbClr val="2D2F38"/>
              </a:solidFill>
              <a:effectLst/>
              <a:uFillTx/>
              <a:latin typeface="Arial"/>
            </a:endParaRPr>
          </a:p>
        </p:txBody>
      </p:sp>
      <p:sp>
        <p:nvSpPr>
          <p:cNvPr id="185" name="Text 32"/>
          <p:cNvSpPr/>
          <p:nvPr/>
        </p:nvSpPr>
        <p:spPr>
          <a:xfrm>
            <a:off x="8814960" y="3758040"/>
            <a:ext cx="2057040" cy="2282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100" strike="noStrike" u="none">
                <a:solidFill>
                  <a:srgbClr val="ffffff"/>
                </a:solidFill>
                <a:effectLst/>
                <a:uFillTx/>
                <a:latin typeface="Aptos"/>
                <a:ea typeface="Aptos"/>
              </a:rPr>
              <a:t>confirmed by reviewer</a:t>
            </a:r>
            <a:endParaRPr b="0" lang="en-US" sz="1100" strike="noStrike" u="none">
              <a:solidFill>
                <a:srgbClr val="2D2F38"/>
              </a:solidFill>
              <a:effectLst/>
              <a:uFillTx/>
              <a:latin typeface="Arial"/>
            </a:endParaRPr>
          </a:p>
        </p:txBody>
      </p:sp>
      <p:sp>
        <p:nvSpPr>
          <p:cNvPr id="186" name="Text 33"/>
          <p:cNvSpPr/>
          <p:nvPr/>
        </p:nvSpPr>
        <p:spPr>
          <a:xfrm>
            <a:off x="8229600" y="4233600"/>
            <a:ext cx="511560" cy="3837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2300" strike="noStrike" u="none">
                <a:solidFill>
                  <a:srgbClr val="B45309"/>
                </a:solidFill>
                <a:effectLst/>
                <a:uFillTx/>
                <a:latin typeface="Aptos"/>
                <a:ea typeface="Aptos"/>
              </a:rPr>
              <a:t>1</a:t>
            </a:r>
            <a:endParaRPr b="0" lang="en-US" sz="2300" strike="noStrike" u="none">
              <a:solidFill>
                <a:srgbClr val="2D2F38"/>
              </a:solidFill>
              <a:effectLst/>
              <a:uFillTx/>
              <a:latin typeface="Arial"/>
            </a:endParaRPr>
          </a:p>
        </p:txBody>
      </p:sp>
      <p:sp>
        <p:nvSpPr>
          <p:cNvPr id="187" name="Text 34"/>
          <p:cNvSpPr/>
          <p:nvPr/>
        </p:nvSpPr>
        <p:spPr>
          <a:xfrm>
            <a:off x="8814960" y="4288680"/>
            <a:ext cx="2057040" cy="2282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100" strike="noStrike" u="none">
                <a:solidFill>
                  <a:srgbClr val="ffffff"/>
                </a:solidFill>
                <a:effectLst/>
                <a:uFillTx/>
                <a:latin typeface="Aptos"/>
                <a:ea typeface="Aptos"/>
              </a:rPr>
              <a:t>false-positive rejected</a:t>
            </a:r>
            <a:endParaRPr b="0" lang="en-US" sz="1100" strike="noStrike" u="none">
              <a:solidFill>
                <a:srgbClr val="2D2F38"/>
              </a:solidFill>
              <a:effectLst/>
              <a:uFillTx/>
              <a:latin typeface="Arial"/>
            </a:endParaRPr>
          </a:p>
        </p:txBody>
      </p:sp>
      <p:sp>
        <p:nvSpPr>
          <p:cNvPr id="188" name="Text 35"/>
          <p:cNvSpPr/>
          <p:nvPr/>
        </p:nvSpPr>
        <p:spPr>
          <a:xfrm>
            <a:off x="868680" y="5632560"/>
            <a:ext cx="10423800" cy="33804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500" strike="noStrike" u="none">
                <a:solidFill>
                  <a:srgbClr val="39466C"/>
                </a:solidFill>
                <a:effectLst/>
                <a:uFillTx/>
                <a:latin typeface="Aptos"/>
                <a:ea typeface="Aptos"/>
              </a:rPr>
              <a:t>Alias RM-O873 was deferred, not silently merged.</a:t>
            </a:r>
            <a:endParaRPr b="0" lang="en-US" sz="1500" strike="noStrike" u="none">
              <a:solidFill>
                <a:srgbClr val="2D2F38"/>
              </a:solidFill>
              <a:effectLst/>
              <a:uFillTx/>
              <a:latin typeface="Arial"/>
            </a:endParaRPr>
          </a:p>
        </p:txBody>
      </p:sp>
      <p:sp>
        <p:nvSpPr>
          <p:cNvPr id="189" name="Text 36"/>
          <p:cNvSpPr/>
          <p:nvPr/>
        </p:nvSpPr>
        <p:spPr>
          <a:xfrm>
            <a:off x="1005840" y="6062400"/>
            <a:ext cx="10058040" cy="2008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950" strike="noStrike" u="none">
                <a:solidFill>
                  <a:srgbClr val="626B7B"/>
                </a:solidFill>
                <a:effectLst/>
                <a:uFillTx/>
                <a:latin typeface="Aptos"/>
                <a:ea typeface="Aptos"/>
              </a:rPr>
              <a:t>Single authored scenario; extraction grounding is not a semantic accuracy score.</a:t>
            </a:r>
            <a:endParaRPr b="0" lang="en-US" sz="950" strike="noStrike" u="none">
              <a:solidFill>
                <a:srgbClr val="2D2F38"/>
              </a:solidFill>
              <a:effectLst/>
              <a:uFillTx/>
              <a:latin typeface="Arial"/>
            </a:endParaRPr>
          </a:p>
        </p:txBody>
      </p:sp>
      <p:sp>
        <p:nvSpPr>
          <p:cNvPr id="190" name="PlaceHolder 1"/>
          <p:cNvSpPr>
            <a:spLocks noGrp="1"/>
          </p:cNvSpPr>
          <p:nvPr>
            <p:ph type="sldNum" idx="8"/>
          </p:nvPr>
        </p:nvSpPr>
        <p:spPr>
          <a:xfrm>
            <a:off x="11685960" y="6565320"/>
            <a:ext cx="799560" cy="299520"/>
          </a:xfrm>
          <a:prstGeom prst="rect">
            <a:avLst/>
          </a:prstGeom>
          <a:noFill/>
          <a:ln w="0">
            <a:noFill/>
          </a:ln>
        </p:spPr>
        <p:txBody>
          <a:bodyPr lIns="90000" rIns="90000" tIns="45000" bIns="45000" anchor="t">
            <a:noAutofit/>
          </a:bodyPr>
          <a:lstStyle>
            <a:lvl1pPr indent="0" defTabSz="914400">
              <a:lnSpc>
                <a:spcPct val="100000"/>
              </a:lnSpc>
              <a:buNone/>
              <a:defRPr b="0" lang="en-US" sz="700" strike="noStrike" u="none">
                <a:solidFill>
                  <a:srgbClr val="626B7B"/>
                </a:solidFill>
                <a:effectLst/>
                <a:uFillTx/>
                <a:latin typeface="Aptos"/>
                <a:ea typeface="Aptos"/>
              </a:defRPr>
            </a:lvl1pPr>
          </a:lstStyle>
          <a:p>
            <a:pPr indent="0" defTabSz="914400">
              <a:lnSpc>
                <a:spcPct val="100000"/>
              </a:lnSpc>
              <a:buNone/>
            </a:pPr>
            <a:fld id="{095F5545-B4B8-496B-9E44-AA15A1FAFD8D}" type="slidenum">
              <a:rPr b="0" lang="en-US" sz="700" strike="noStrike" u="none">
                <a:solidFill>
                  <a:srgbClr val="626B7B"/>
                </a:solidFill>
                <a:effectLst/>
                <a:uFillTx/>
                <a:latin typeface="Aptos"/>
                <a:ea typeface="Aptos"/>
              </a:rPr>
              <a:t>5</a:t>
            </a:fld>
            <a:endParaRPr b="0" lang="en-US" sz="700" strike="noStrike" u="none">
              <a:solidFill>
                <a:srgbClr val="2D2F38"/>
              </a:solidFill>
              <a:effectLst/>
              <a:uFillTx/>
              <a:latin typeface="Times New Roman"/>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1" name="Text 0"/>
          <p:cNvSpPr/>
          <p:nvPr/>
        </p:nvSpPr>
        <p:spPr>
          <a:xfrm>
            <a:off x="567000" y="384120"/>
            <a:ext cx="10881000" cy="1825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900" spc="181" strike="noStrike" u="none">
                <a:solidFill>
                  <a:srgbClr val="39466C"/>
                </a:solidFill>
                <a:effectLst/>
                <a:uFillTx/>
                <a:latin typeface="Aptos"/>
                <a:ea typeface="Aptos"/>
              </a:rPr>
              <a:t>05 / RESULT</a:t>
            </a:r>
            <a:endParaRPr b="0" lang="en-US" sz="900" strike="noStrike" u="none">
              <a:solidFill>
                <a:srgbClr val="2D2F38"/>
              </a:solidFill>
              <a:effectLst/>
              <a:uFillTx/>
              <a:latin typeface="Arial"/>
            </a:endParaRPr>
          </a:p>
        </p:txBody>
      </p:sp>
      <p:sp>
        <p:nvSpPr>
          <p:cNvPr id="192" name="Text 1"/>
          <p:cNvSpPr/>
          <p:nvPr/>
        </p:nvSpPr>
        <p:spPr>
          <a:xfrm>
            <a:off x="567000" y="658440"/>
            <a:ext cx="11018160" cy="4752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2600" strike="noStrike" u="none">
                <a:solidFill>
                  <a:srgbClr val="2D2F38"/>
                </a:solidFill>
                <a:effectLst/>
                <a:uFillTx/>
                <a:latin typeface="Aptos"/>
                <a:ea typeface="Aptos"/>
              </a:rPr>
              <a:t>A trace that shows both what is supported and what is not</a:t>
            </a:r>
            <a:endParaRPr b="0" lang="en-US" sz="2600" strike="noStrike" u="none">
              <a:solidFill>
                <a:srgbClr val="2D2F38"/>
              </a:solidFill>
              <a:effectLst/>
              <a:uFillTx/>
              <a:latin typeface="Arial"/>
            </a:endParaRPr>
          </a:p>
        </p:txBody>
      </p:sp>
      <p:sp>
        <p:nvSpPr>
          <p:cNvPr id="193" name="Text 2"/>
          <p:cNvSpPr/>
          <p:nvPr/>
        </p:nvSpPr>
        <p:spPr>
          <a:xfrm>
            <a:off x="585360" y="1197720"/>
            <a:ext cx="10972440" cy="383760"/>
          </a:xfrm>
          <a:prstGeom prst="rect">
            <a:avLst/>
          </a:prstGeom>
          <a:noFill/>
          <a:ln w="0">
            <a:noFill/>
          </a:ln>
        </p:spPr>
        <p:style>
          <a:lnRef idx="0"/>
          <a:fillRef idx="0"/>
          <a:effectRef idx="0"/>
          <a:fontRef idx="minor"/>
        </p:style>
        <p:txBody>
          <a:bodyPr lIns="0" rIns="0" tIns="0" bIns="0" anchor="t">
            <a:normAutofit/>
          </a:bodyPr>
          <a:p>
            <a:pPr defTabSz="914400">
              <a:lnSpc>
                <a:spcPct val="100000"/>
              </a:lnSpc>
              <a:tabLst>
                <a:tab algn="l" pos="0"/>
              </a:tabLst>
            </a:pPr>
            <a:r>
              <a:rPr b="0" lang="en-US" sz="1250" strike="noStrike" u="none">
                <a:solidFill>
                  <a:srgbClr val="626B7B"/>
                </a:solidFill>
                <a:effectLst/>
                <a:uFillTx/>
                <a:latin typeface="Aptos"/>
                <a:ea typeface="Aptos"/>
              </a:rPr>
              <a:t>Final run after review: the false-positive customer relationship did not enter the confirmed trace.</a:t>
            </a:r>
            <a:endParaRPr b="0" lang="en-US" sz="1250" strike="noStrike" u="none">
              <a:solidFill>
                <a:srgbClr val="2D2F38"/>
              </a:solidFill>
              <a:effectLst/>
              <a:uFillTx/>
              <a:latin typeface="Arial"/>
            </a:endParaRPr>
          </a:p>
        </p:txBody>
      </p:sp>
      <p:sp>
        <p:nvSpPr>
          <p:cNvPr id="194" name="Shape 3"/>
          <p:cNvSpPr/>
          <p:nvPr/>
        </p:nvSpPr>
        <p:spPr>
          <a:xfrm>
            <a:off x="594360" y="1874520"/>
            <a:ext cx="3794400" cy="3401280"/>
          </a:xfrm>
          <a:prstGeom prst="roundRect">
            <a:avLst>
              <a:gd name="adj" fmla="val 3495"/>
            </a:avLst>
          </a:prstGeom>
          <a:solidFill>
            <a:srgbClr val="ffffff"/>
          </a:solidFill>
          <a:ln w="10160">
            <a:solidFill>
              <a:srgbClr val="E5E8F0"/>
            </a:solidFill>
            <a:round/>
          </a:ln>
        </p:spPr>
        <p:style>
          <a:lnRef idx="0"/>
          <a:fillRef idx="0"/>
          <a:effectRef idx="0"/>
          <a:fontRef idx="minor"/>
        </p:style>
        <p:txBody>
          <a:bodyPr lIns="90000" rIns="90000" tIns="45000" bIns="45000" anchor="t">
            <a:noAutofit/>
          </a:bodyPr>
          <a:p>
            <a:endParaRPr b="0" lang="en-US" sz="1800" strike="noStrike" u="none">
              <a:solidFill>
                <a:srgbClr val="2D2F38"/>
              </a:solidFill>
              <a:effectLst/>
              <a:uFillTx/>
              <a:latin typeface="Arial"/>
            </a:endParaRPr>
          </a:p>
        </p:txBody>
      </p:sp>
      <p:sp>
        <p:nvSpPr>
          <p:cNvPr id="195" name="Text 4"/>
          <p:cNvSpPr/>
          <p:nvPr/>
        </p:nvSpPr>
        <p:spPr>
          <a:xfrm>
            <a:off x="868680" y="2130480"/>
            <a:ext cx="3200040" cy="3286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800" strike="noStrike" u="none">
                <a:solidFill>
                  <a:srgbClr val="166534"/>
                </a:solidFill>
                <a:effectLst/>
                <a:uFillTx/>
                <a:latin typeface="Aptos"/>
                <a:ea typeface="Aptos"/>
              </a:rPr>
              <a:t>Confirmed scope</a:t>
            </a:r>
            <a:endParaRPr b="0" lang="en-US" sz="1800" strike="noStrike" u="none">
              <a:solidFill>
                <a:srgbClr val="2D2F38"/>
              </a:solidFill>
              <a:effectLst/>
              <a:uFillTx/>
              <a:latin typeface="Arial"/>
            </a:endParaRPr>
          </a:p>
        </p:txBody>
      </p:sp>
      <p:sp>
        <p:nvSpPr>
          <p:cNvPr id="196" name="Shape 5"/>
          <p:cNvSpPr/>
          <p:nvPr/>
        </p:nvSpPr>
        <p:spPr>
          <a:xfrm>
            <a:off x="1526760" y="2935080"/>
            <a:ext cx="137160" cy="360"/>
          </a:xfrm>
          <a:prstGeom prst="line">
            <a:avLst/>
          </a:prstGeom>
          <a:ln w="20320">
            <a:solidFill>
              <a:srgbClr val="166534"/>
            </a:solidFill>
            <a:round/>
          </a:ln>
        </p:spPr>
        <p:style>
          <a:lnRef idx="0"/>
          <a:fillRef idx="0"/>
          <a:effectRef idx="0"/>
          <a:fontRef idx="minor"/>
        </p:style>
        <p:txBody>
          <a:bodyPr lIns="90000" rIns="90000" tIns="-44640" bIns="-44640" anchor="t" anchorCtr="1">
            <a:noAutofit/>
          </a:bodyPr>
          <a:p>
            <a:endParaRPr b="0" lang="en-US" sz="1800" strike="noStrike" u="none">
              <a:solidFill>
                <a:srgbClr val="2D2F38"/>
              </a:solidFill>
              <a:effectLst/>
              <a:uFillTx/>
              <a:latin typeface="Arial"/>
            </a:endParaRPr>
          </a:p>
        </p:txBody>
      </p:sp>
      <p:sp>
        <p:nvSpPr>
          <p:cNvPr id="197" name="Shape 6"/>
          <p:cNvSpPr/>
          <p:nvPr/>
        </p:nvSpPr>
        <p:spPr>
          <a:xfrm>
            <a:off x="2541960" y="2935080"/>
            <a:ext cx="146160" cy="360"/>
          </a:xfrm>
          <a:prstGeom prst="line">
            <a:avLst/>
          </a:prstGeom>
          <a:ln w="20320">
            <a:solidFill>
              <a:srgbClr val="166534"/>
            </a:solidFill>
            <a:round/>
          </a:ln>
        </p:spPr>
        <p:style>
          <a:lnRef idx="0"/>
          <a:fillRef idx="0"/>
          <a:effectRef idx="0"/>
          <a:fontRef idx="minor"/>
        </p:style>
        <p:txBody>
          <a:bodyPr lIns="90000" rIns="90000" tIns="-44640" bIns="-44640" anchor="t" anchorCtr="1">
            <a:noAutofit/>
          </a:bodyPr>
          <a:p>
            <a:endParaRPr b="0" lang="en-US" sz="1800" strike="noStrike" u="none">
              <a:solidFill>
                <a:srgbClr val="2D2F38"/>
              </a:solidFill>
              <a:effectLst/>
              <a:uFillTx/>
              <a:latin typeface="Arial"/>
            </a:endParaRPr>
          </a:p>
        </p:txBody>
      </p:sp>
      <p:sp>
        <p:nvSpPr>
          <p:cNvPr id="198" name="Shape 7"/>
          <p:cNvSpPr/>
          <p:nvPr/>
        </p:nvSpPr>
        <p:spPr>
          <a:xfrm>
            <a:off x="3291840" y="3126960"/>
            <a:ext cx="360" cy="329400"/>
          </a:xfrm>
          <a:prstGeom prst="line">
            <a:avLst/>
          </a:prstGeom>
          <a:ln w="20320">
            <a:solidFill>
              <a:srgbClr val="166534"/>
            </a:solidFill>
            <a:round/>
          </a:ln>
        </p:spPr>
        <p:style>
          <a:lnRef idx="0"/>
          <a:fillRef idx="0"/>
          <a:effectRef idx="0"/>
          <a:fontRef idx="minor"/>
        </p:style>
        <p:txBody>
          <a:bodyPr lIns="90000" rIns="90000" tIns="45000" bIns="45000" anchor="t" anchorCtr="1">
            <a:noAutofit/>
          </a:bodyPr>
          <a:p>
            <a:endParaRPr b="0" lang="en-US" sz="1800" strike="noStrike" u="none">
              <a:solidFill>
                <a:srgbClr val="2D2F38"/>
              </a:solidFill>
              <a:effectLst/>
              <a:uFillTx/>
              <a:latin typeface="Arial"/>
            </a:endParaRPr>
          </a:p>
        </p:txBody>
      </p:sp>
      <p:sp>
        <p:nvSpPr>
          <p:cNvPr id="199" name="Shape 8"/>
          <p:cNvSpPr/>
          <p:nvPr/>
        </p:nvSpPr>
        <p:spPr>
          <a:xfrm>
            <a:off x="3291840" y="3840480"/>
            <a:ext cx="360" cy="173520"/>
          </a:xfrm>
          <a:prstGeom prst="line">
            <a:avLst/>
          </a:prstGeom>
          <a:ln w="20320">
            <a:solidFill>
              <a:srgbClr val="166534"/>
            </a:solidFill>
            <a:round/>
          </a:ln>
        </p:spPr>
        <p:style>
          <a:lnRef idx="0"/>
          <a:fillRef idx="0"/>
          <a:effectRef idx="0"/>
          <a:fontRef idx="minor"/>
        </p:style>
        <p:txBody>
          <a:bodyPr lIns="90000" rIns="90000" tIns="45000" bIns="45000" anchor="t" anchorCtr="1">
            <a:noAutofit/>
          </a:bodyPr>
          <a:p>
            <a:endParaRPr b="0" lang="en-US" sz="1800" strike="noStrike" u="none">
              <a:solidFill>
                <a:srgbClr val="2D2F38"/>
              </a:solidFill>
              <a:effectLst/>
              <a:uFillTx/>
              <a:latin typeface="Arial"/>
            </a:endParaRPr>
          </a:p>
        </p:txBody>
      </p:sp>
      <p:sp>
        <p:nvSpPr>
          <p:cNvPr id="200" name="Shape 9"/>
          <p:cNvSpPr/>
          <p:nvPr/>
        </p:nvSpPr>
        <p:spPr>
          <a:xfrm flipH="1">
            <a:off x="1536120" y="4014000"/>
            <a:ext cx="1755720" cy="173880"/>
          </a:xfrm>
          <a:prstGeom prst="line">
            <a:avLst/>
          </a:prstGeom>
          <a:ln w="20320">
            <a:solidFill>
              <a:srgbClr val="166534"/>
            </a:solidFill>
            <a:round/>
          </a:ln>
        </p:spPr>
        <p:style>
          <a:lnRef idx="0"/>
          <a:fillRef idx="0"/>
          <a:effectRef idx="0"/>
          <a:fontRef idx="minor"/>
        </p:style>
        <p:txBody>
          <a:bodyPr lIns="90000" rIns="90000" tIns="45000" bIns="45000" anchor="t" anchorCtr="1">
            <a:noAutofit/>
          </a:bodyPr>
          <a:p>
            <a:endParaRPr b="0" lang="en-US" sz="1800" strike="noStrike" u="none">
              <a:solidFill>
                <a:srgbClr val="2D2F38"/>
              </a:solidFill>
              <a:effectLst/>
              <a:uFillTx/>
              <a:latin typeface="Arial"/>
            </a:endParaRPr>
          </a:p>
        </p:txBody>
      </p:sp>
      <p:sp>
        <p:nvSpPr>
          <p:cNvPr id="201" name="Shape 10"/>
          <p:cNvSpPr/>
          <p:nvPr/>
        </p:nvSpPr>
        <p:spPr>
          <a:xfrm flipH="1">
            <a:off x="3191040" y="4014000"/>
            <a:ext cx="100800" cy="173880"/>
          </a:xfrm>
          <a:prstGeom prst="line">
            <a:avLst/>
          </a:prstGeom>
          <a:ln w="20320">
            <a:solidFill>
              <a:srgbClr val="166534"/>
            </a:solidFill>
            <a:round/>
          </a:ln>
        </p:spPr>
        <p:style>
          <a:lnRef idx="0"/>
          <a:fillRef idx="0"/>
          <a:effectRef idx="0"/>
          <a:fontRef idx="minor"/>
        </p:style>
        <p:txBody>
          <a:bodyPr lIns="90000" rIns="90000" tIns="45000" bIns="45000" anchor="t" anchorCtr="1">
            <a:noAutofit/>
          </a:bodyPr>
          <a:p>
            <a:endParaRPr b="0" lang="en-US" sz="1800" strike="noStrike" u="none">
              <a:solidFill>
                <a:srgbClr val="2D2F38"/>
              </a:solidFill>
              <a:effectLst/>
              <a:uFillTx/>
              <a:latin typeface="Arial"/>
            </a:endParaRPr>
          </a:p>
        </p:txBody>
      </p:sp>
      <p:sp>
        <p:nvSpPr>
          <p:cNvPr id="202" name="Shape 11"/>
          <p:cNvSpPr/>
          <p:nvPr/>
        </p:nvSpPr>
        <p:spPr>
          <a:xfrm>
            <a:off x="831960" y="2743200"/>
            <a:ext cx="694440" cy="383760"/>
          </a:xfrm>
          <a:prstGeom prst="roundRect">
            <a:avLst>
              <a:gd name="adj" fmla="val 19048"/>
            </a:avLst>
          </a:prstGeom>
          <a:solidFill>
            <a:srgbClr val="F4F6FA"/>
          </a:solidFill>
          <a:ln w="10160">
            <a:solidFill>
              <a:srgbClr val="F4F6FA"/>
            </a:solidFill>
            <a:round/>
          </a:ln>
        </p:spPr>
        <p:style>
          <a:lnRef idx="0"/>
          <a:fillRef idx="0"/>
          <a:effectRef idx="0"/>
          <a:fontRef idx="minor"/>
        </p:style>
        <p:txBody>
          <a:bodyPr lIns="90000" rIns="90000" tIns="45000" bIns="45000" anchor="t">
            <a:noAutofit/>
          </a:bodyPr>
          <a:p>
            <a:endParaRPr b="0" lang="en-US" sz="1800" strike="noStrike" u="none">
              <a:solidFill>
                <a:srgbClr val="2D2F38"/>
              </a:solidFill>
              <a:effectLst/>
              <a:uFillTx/>
              <a:latin typeface="Arial"/>
            </a:endParaRPr>
          </a:p>
        </p:txBody>
      </p:sp>
      <p:sp>
        <p:nvSpPr>
          <p:cNvPr id="203" name="Text 12"/>
          <p:cNvSpPr/>
          <p:nvPr/>
        </p:nvSpPr>
        <p:spPr>
          <a:xfrm>
            <a:off x="868680" y="2797920"/>
            <a:ext cx="621360" cy="26496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920" strike="noStrike" u="none">
                <a:solidFill>
                  <a:srgbClr val="626B7B"/>
                </a:solidFill>
                <a:effectLst/>
                <a:uFillTx/>
                <a:latin typeface="Aptos"/>
                <a:ea typeface="Aptos"/>
              </a:rPr>
              <a:t>Supplier</a:t>
            </a:r>
            <a:endParaRPr b="0" lang="en-US" sz="920" strike="noStrike" u="none">
              <a:solidFill>
                <a:srgbClr val="2D2F38"/>
              </a:solidFill>
              <a:effectLst/>
              <a:uFillTx/>
              <a:latin typeface="Arial"/>
            </a:endParaRPr>
          </a:p>
        </p:txBody>
      </p:sp>
      <p:sp>
        <p:nvSpPr>
          <p:cNvPr id="204" name="Shape 13"/>
          <p:cNvSpPr/>
          <p:nvPr/>
        </p:nvSpPr>
        <p:spPr>
          <a:xfrm>
            <a:off x="1664280" y="2743200"/>
            <a:ext cx="877320" cy="383760"/>
          </a:xfrm>
          <a:prstGeom prst="roundRect">
            <a:avLst>
              <a:gd name="adj" fmla="val 19048"/>
            </a:avLst>
          </a:prstGeom>
          <a:solidFill>
            <a:srgbClr val="DCFCE7"/>
          </a:solidFill>
          <a:ln w="10160">
            <a:solidFill>
              <a:srgbClr val="DCFCE7"/>
            </a:solidFill>
            <a:round/>
          </a:ln>
        </p:spPr>
        <p:style>
          <a:lnRef idx="0"/>
          <a:fillRef idx="0"/>
          <a:effectRef idx="0"/>
          <a:fontRef idx="minor"/>
        </p:style>
        <p:txBody>
          <a:bodyPr lIns="90000" rIns="90000" tIns="45000" bIns="45000" anchor="t">
            <a:noAutofit/>
          </a:bodyPr>
          <a:p>
            <a:endParaRPr b="0" lang="en-US" sz="1800" strike="noStrike" u="none">
              <a:solidFill>
                <a:srgbClr val="2D2F38"/>
              </a:solidFill>
              <a:effectLst/>
              <a:uFillTx/>
              <a:latin typeface="Arial"/>
            </a:endParaRPr>
          </a:p>
        </p:txBody>
      </p:sp>
      <p:sp>
        <p:nvSpPr>
          <p:cNvPr id="205" name="Text 14"/>
          <p:cNvSpPr/>
          <p:nvPr/>
        </p:nvSpPr>
        <p:spPr>
          <a:xfrm>
            <a:off x="1700640" y="2797920"/>
            <a:ext cx="804240" cy="26496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920" strike="noStrike" u="none">
                <a:solidFill>
                  <a:srgbClr val="166534"/>
                </a:solidFill>
                <a:effectLst/>
                <a:uFillTx/>
                <a:latin typeface="Aptos"/>
                <a:ea typeface="Aptos"/>
              </a:rPr>
              <a:t>RM-0873</a:t>
            </a:r>
            <a:endParaRPr b="0" lang="en-US" sz="920" strike="noStrike" u="none">
              <a:solidFill>
                <a:srgbClr val="2D2F38"/>
              </a:solidFill>
              <a:effectLst/>
              <a:uFillTx/>
              <a:latin typeface="Arial"/>
            </a:endParaRPr>
          </a:p>
        </p:txBody>
      </p:sp>
      <p:sp>
        <p:nvSpPr>
          <p:cNvPr id="206" name="Shape 15"/>
          <p:cNvSpPr/>
          <p:nvPr/>
        </p:nvSpPr>
        <p:spPr>
          <a:xfrm>
            <a:off x="2688480" y="2743200"/>
            <a:ext cx="1197360" cy="383760"/>
          </a:xfrm>
          <a:prstGeom prst="roundRect">
            <a:avLst>
              <a:gd name="adj" fmla="val 19048"/>
            </a:avLst>
          </a:prstGeom>
          <a:solidFill>
            <a:srgbClr val="E7EBF4"/>
          </a:solidFill>
          <a:ln w="10160">
            <a:solidFill>
              <a:srgbClr val="E7EBF4"/>
            </a:solidFill>
            <a:round/>
          </a:ln>
        </p:spPr>
        <p:style>
          <a:lnRef idx="0"/>
          <a:fillRef idx="0"/>
          <a:effectRef idx="0"/>
          <a:fontRef idx="minor"/>
        </p:style>
        <p:txBody>
          <a:bodyPr lIns="90000" rIns="90000" tIns="45000" bIns="45000" anchor="t">
            <a:noAutofit/>
          </a:bodyPr>
          <a:p>
            <a:endParaRPr b="0" lang="en-US" sz="1800" strike="noStrike" u="none">
              <a:solidFill>
                <a:srgbClr val="2D2F38"/>
              </a:solidFill>
              <a:effectLst/>
              <a:uFillTx/>
              <a:latin typeface="Arial"/>
            </a:endParaRPr>
          </a:p>
        </p:txBody>
      </p:sp>
      <p:sp>
        <p:nvSpPr>
          <p:cNvPr id="207" name="Text 16"/>
          <p:cNvSpPr/>
          <p:nvPr/>
        </p:nvSpPr>
        <p:spPr>
          <a:xfrm>
            <a:off x="2724840" y="2797920"/>
            <a:ext cx="1124280" cy="26496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839" strike="noStrike" u="none">
                <a:solidFill>
                  <a:srgbClr val="39466C"/>
                </a:solidFill>
                <a:effectLst/>
                <a:uFillTx/>
                <a:latin typeface="Aptos"/>
                <a:ea typeface="Aptos"/>
              </a:rPr>
              <a:t>PB-2026-1012-A</a:t>
            </a:r>
            <a:endParaRPr b="0" lang="en-US" sz="839" strike="noStrike" u="none">
              <a:solidFill>
                <a:srgbClr val="2D2F38"/>
              </a:solidFill>
              <a:effectLst/>
              <a:uFillTx/>
              <a:latin typeface="Arial"/>
            </a:endParaRPr>
          </a:p>
        </p:txBody>
      </p:sp>
      <p:sp>
        <p:nvSpPr>
          <p:cNvPr id="208" name="Shape 17"/>
          <p:cNvSpPr/>
          <p:nvPr/>
        </p:nvSpPr>
        <p:spPr>
          <a:xfrm>
            <a:off x="2688480" y="3456360"/>
            <a:ext cx="1197360" cy="383760"/>
          </a:xfrm>
          <a:prstGeom prst="roundRect">
            <a:avLst>
              <a:gd name="adj" fmla="val 19048"/>
            </a:avLst>
          </a:prstGeom>
          <a:solidFill>
            <a:srgbClr val="DCFCE7"/>
          </a:solidFill>
          <a:ln w="10160">
            <a:solidFill>
              <a:srgbClr val="DCFCE7"/>
            </a:solidFill>
            <a:round/>
          </a:ln>
        </p:spPr>
        <p:style>
          <a:lnRef idx="0"/>
          <a:fillRef idx="0"/>
          <a:effectRef idx="0"/>
          <a:fontRef idx="minor"/>
        </p:style>
        <p:txBody>
          <a:bodyPr lIns="90000" rIns="90000" tIns="45000" bIns="45000" anchor="t">
            <a:noAutofit/>
          </a:bodyPr>
          <a:p>
            <a:endParaRPr b="0" lang="en-US" sz="1800" strike="noStrike" u="none">
              <a:solidFill>
                <a:srgbClr val="2D2F38"/>
              </a:solidFill>
              <a:effectLst/>
              <a:uFillTx/>
              <a:latin typeface="Arial"/>
            </a:endParaRPr>
          </a:p>
        </p:txBody>
      </p:sp>
      <p:sp>
        <p:nvSpPr>
          <p:cNvPr id="209" name="Text 18"/>
          <p:cNvSpPr/>
          <p:nvPr/>
        </p:nvSpPr>
        <p:spPr>
          <a:xfrm>
            <a:off x="2724840" y="3511440"/>
            <a:ext cx="1124280" cy="26496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920" strike="noStrike" u="none">
                <a:solidFill>
                  <a:srgbClr val="166534"/>
                </a:solidFill>
                <a:effectLst/>
                <a:uFillTx/>
                <a:latin typeface="Aptos"/>
                <a:ea typeface="Aptos"/>
              </a:rPr>
              <a:t>FL-1021A</a:t>
            </a:r>
            <a:endParaRPr b="0" lang="en-US" sz="920" strike="noStrike" u="none">
              <a:solidFill>
                <a:srgbClr val="2D2F38"/>
              </a:solidFill>
              <a:effectLst/>
              <a:uFillTx/>
              <a:latin typeface="Arial"/>
            </a:endParaRPr>
          </a:p>
        </p:txBody>
      </p:sp>
      <p:sp>
        <p:nvSpPr>
          <p:cNvPr id="210" name="Shape 19"/>
          <p:cNvSpPr/>
          <p:nvPr/>
        </p:nvSpPr>
        <p:spPr>
          <a:xfrm>
            <a:off x="941760" y="4187880"/>
            <a:ext cx="1188360" cy="383760"/>
          </a:xfrm>
          <a:prstGeom prst="roundRect">
            <a:avLst>
              <a:gd name="adj" fmla="val 19048"/>
            </a:avLst>
          </a:prstGeom>
          <a:solidFill>
            <a:srgbClr val="DCFCE7"/>
          </a:solidFill>
          <a:ln w="10160">
            <a:solidFill>
              <a:srgbClr val="DCFCE7"/>
            </a:solidFill>
            <a:round/>
          </a:ln>
        </p:spPr>
        <p:style>
          <a:lnRef idx="0"/>
          <a:fillRef idx="0"/>
          <a:effectRef idx="0"/>
          <a:fontRef idx="minor"/>
        </p:style>
        <p:txBody>
          <a:bodyPr lIns="90000" rIns="90000" tIns="45000" bIns="45000" anchor="t">
            <a:noAutofit/>
          </a:bodyPr>
          <a:p>
            <a:endParaRPr b="0" lang="en-US" sz="1800" strike="noStrike" u="none">
              <a:solidFill>
                <a:srgbClr val="2D2F38"/>
              </a:solidFill>
              <a:effectLst/>
              <a:uFillTx/>
              <a:latin typeface="Arial"/>
            </a:endParaRPr>
          </a:p>
        </p:txBody>
      </p:sp>
      <p:sp>
        <p:nvSpPr>
          <p:cNvPr id="211" name="Text 20"/>
          <p:cNvSpPr/>
          <p:nvPr/>
        </p:nvSpPr>
        <p:spPr>
          <a:xfrm>
            <a:off x="978480" y="4242960"/>
            <a:ext cx="1115280" cy="26496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920" strike="noStrike" u="none">
                <a:solidFill>
                  <a:srgbClr val="166534"/>
                </a:solidFill>
                <a:effectLst/>
                <a:uFillTx/>
                <a:latin typeface="Aptos"/>
                <a:ea typeface="Aptos"/>
              </a:rPr>
              <a:t>Bosveld</a:t>
            </a:r>
            <a:endParaRPr b="0" lang="en-US" sz="920" strike="noStrike" u="none">
              <a:solidFill>
                <a:srgbClr val="2D2F38"/>
              </a:solidFill>
              <a:effectLst/>
              <a:uFillTx/>
              <a:latin typeface="Arial"/>
            </a:endParaRPr>
          </a:p>
        </p:txBody>
      </p:sp>
      <p:sp>
        <p:nvSpPr>
          <p:cNvPr id="212" name="Shape 21"/>
          <p:cNvSpPr/>
          <p:nvPr/>
        </p:nvSpPr>
        <p:spPr>
          <a:xfrm>
            <a:off x="2496240" y="4187880"/>
            <a:ext cx="1389600" cy="383760"/>
          </a:xfrm>
          <a:prstGeom prst="roundRect">
            <a:avLst>
              <a:gd name="adj" fmla="val 19048"/>
            </a:avLst>
          </a:prstGeom>
          <a:solidFill>
            <a:srgbClr val="DCFCE7"/>
          </a:solidFill>
          <a:ln w="10160">
            <a:solidFill>
              <a:srgbClr val="DCFCE7"/>
            </a:solidFill>
            <a:round/>
          </a:ln>
        </p:spPr>
        <p:style>
          <a:lnRef idx="0"/>
          <a:fillRef idx="0"/>
          <a:effectRef idx="0"/>
          <a:fontRef idx="minor"/>
        </p:style>
        <p:txBody>
          <a:bodyPr lIns="90000" rIns="90000" tIns="45000" bIns="45000" anchor="t">
            <a:noAutofit/>
          </a:bodyPr>
          <a:p>
            <a:endParaRPr b="0" lang="en-US" sz="1800" strike="noStrike" u="none">
              <a:solidFill>
                <a:srgbClr val="2D2F38"/>
              </a:solidFill>
              <a:effectLst/>
              <a:uFillTx/>
              <a:latin typeface="Arial"/>
            </a:endParaRPr>
          </a:p>
        </p:txBody>
      </p:sp>
      <p:sp>
        <p:nvSpPr>
          <p:cNvPr id="213" name="Text 22"/>
          <p:cNvSpPr/>
          <p:nvPr/>
        </p:nvSpPr>
        <p:spPr>
          <a:xfrm>
            <a:off x="2532960" y="4242960"/>
            <a:ext cx="1316520" cy="26496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920" strike="noStrike" u="none">
                <a:solidFill>
                  <a:srgbClr val="166534"/>
                </a:solidFill>
                <a:effectLst/>
                <a:uFillTx/>
                <a:latin typeface="Aptos"/>
                <a:ea typeface="Aptos"/>
              </a:rPr>
              <a:t>Highveld</a:t>
            </a:r>
            <a:endParaRPr b="0" lang="en-US" sz="920" strike="noStrike" u="none">
              <a:solidFill>
                <a:srgbClr val="2D2F38"/>
              </a:solidFill>
              <a:effectLst/>
              <a:uFillTx/>
              <a:latin typeface="Arial"/>
            </a:endParaRPr>
          </a:p>
        </p:txBody>
      </p:sp>
      <p:sp>
        <p:nvSpPr>
          <p:cNvPr id="214" name="Text 23"/>
          <p:cNvSpPr/>
          <p:nvPr/>
        </p:nvSpPr>
        <p:spPr>
          <a:xfrm>
            <a:off x="868680" y="4736520"/>
            <a:ext cx="3382920" cy="301320"/>
          </a:xfrm>
          <a:prstGeom prst="rect">
            <a:avLst/>
          </a:prstGeom>
          <a:noFill/>
          <a:ln w="0">
            <a:noFill/>
          </a:ln>
        </p:spPr>
        <p:style>
          <a:lnRef idx="0"/>
          <a:fillRef idx="0"/>
          <a:effectRef idx="0"/>
          <a:fontRef idx="minor"/>
        </p:style>
        <p:txBody>
          <a:bodyPr lIns="0" rIns="0" tIns="0" bIns="0" anchor="ctr">
            <a:normAutofit lnSpcReduction="9999"/>
          </a:bodyPr>
          <a:p>
            <a:pPr algn="ctr" defTabSz="914400">
              <a:lnSpc>
                <a:spcPct val="100000"/>
              </a:lnSpc>
              <a:tabLst>
                <a:tab algn="l" pos="0"/>
              </a:tabLst>
            </a:pPr>
            <a:r>
              <a:rPr b="1" lang="en-US" sz="1040" strike="noStrike" u="none">
                <a:solidFill>
                  <a:srgbClr val="2D2F38"/>
                </a:solidFill>
                <a:effectLst/>
                <a:uFillTx/>
                <a:latin typeface="Aptos"/>
                <a:ea typeface="Aptos"/>
              </a:rPr>
              <a:t>1 finished lot · 2 customers · 5 confirmed trace edges</a:t>
            </a:r>
            <a:endParaRPr b="0" lang="en-US" sz="1040" strike="noStrike" u="none">
              <a:solidFill>
                <a:srgbClr val="2D2F38"/>
              </a:solidFill>
              <a:effectLst/>
              <a:uFillTx/>
              <a:latin typeface="Arial"/>
            </a:endParaRPr>
          </a:p>
        </p:txBody>
      </p:sp>
      <p:sp>
        <p:nvSpPr>
          <p:cNvPr id="215" name="Shape 24"/>
          <p:cNvSpPr/>
          <p:nvPr/>
        </p:nvSpPr>
        <p:spPr>
          <a:xfrm>
            <a:off x="4645080" y="1874520"/>
            <a:ext cx="3154320" cy="3401280"/>
          </a:xfrm>
          <a:prstGeom prst="roundRect">
            <a:avLst>
              <a:gd name="adj" fmla="val 3768"/>
            </a:avLst>
          </a:prstGeom>
          <a:solidFill>
            <a:srgbClr val="ffffff"/>
          </a:solidFill>
          <a:ln w="10160">
            <a:solidFill>
              <a:srgbClr val="E5E8F0"/>
            </a:solidFill>
            <a:round/>
          </a:ln>
        </p:spPr>
        <p:style>
          <a:lnRef idx="0"/>
          <a:fillRef idx="0"/>
          <a:effectRef idx="0"/>
          <a:fontRef idx="minor"/>
        </p:style>
        <p:txBody>
          <a:bodyPr lIns="90000" rIns="90000" tIns="45000" bIns="45000" anchor="t">
            <a:noAutofit/>
          </a:bodyPr>
          <a:p>
            <a:endParaRPr b="0" lang="en-US" sz="1800" strike="noStrike" u="none">
              <a:solidFill>
                <a:srgbClr val="2D2F38"/>
              </a:solidFill>
              <a:effectLst/>
              <a:uFillTx/>
              <a:latin typeface="Arial"/>
            </a:endParaRPr>
          </a:p>
        </p:txBody>
      </p:sp>
      <p:sp>
        <p:nvSpPr>
          <p:cNvPr id="216" name="Text 25"/>
          <p:cNvSpPr/>
          <p:nvPr/>
        </p:nvSpPr>
        <p:spPr>
          <a:xfrm>
            <a:off x="4901040" y="2130480"/>
            <a:ext cx="2651400" cy="3286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800" strike="noStrike" u="none">
                <a:solidFill>
                  <a:srgbClr val="2D2F38"/>
                </a:solidFill>
                <a:effectLst/>
                <a:uFillTx/>
                <a:latin typeface="Aptos"/>
                <a:ea typeface="Aptos"/>
              </a:rPr>
              <a:t>Unresolved evidence</a:t>
            </a:r>
            <a:endParaRPr b="0" lang="en-US" sz="1800" strike="noStrike" u="none">
              <a:solidFill>
                <a:srgbClr val="2D2F38"/>
              </a:solidFill>
              <a:effectLst/>
              <a:uFillTx/>
              <a:latin typeface="Arial"/>
            </a:endParaRPr>
          </a:p>
        </p:txBody>
      </p:sp>
      <p:sp>
        <p:nvSpPr>
          <p:cNvPr id="217" name="Shape 26"/>
          <p:cNvSpPr/>
          <p:nvPr/>
        </p:nvSpPr>
        <p:spPr>
          <a:xfrm>
            <a:off x="4928760" y="2688480"/>
            <a:ext cx="1663920" cy="264960"/>
          </a:xfrm>
          <a:prstGeom prst="roundRect">
            <a:avLst>
              <a:gd name="adj" fmla="val 24138"/>
            </a:avLst>
          </a:prstGeom>
          <a:solidFill>
            <a:srgbClr val="F4F6FA"/>
          </a:solidFill>
          <a:ln w="8890">
            <a:solidFill>
              <a:srgbClr val="B9C1D0"/>
            </a:solidFill>
            <a:round/>
          </a:ln>
        </p:spPr>
        <p:style>
          <a:lnRef idx="0"/>
          <a:fillRef idx="0"/>
          <a:effectRef idx="0"/>
          <a:fontRef idx="minor"/>
        </p:style>
        <p:txBody>
          <a:bodyPr lIns="90000" rIns="90000" tIns="45000" bIns="45000" anchor="t">
            <a:noAutofit/>
          </a:bodyPr>
          <a:p>
            <a:endParaRPr b="0" lang="en-US" sz="1800" strike="noStrike" u="none">
              <a:solidFill>
                <a:srgbClr val="2D2F38"/>
              </a:solidFill>
              <a:effectLst/>
              <a:uFillTx/>
              <a:latin typeface="Arial"/>
            </a:endParaRPr>
          </a:p>
        </p:txBody>
      </p:sp>
      <p:sp>
        <p:nvSpPr>
          <p:cNvPr id="218" name="Text 27"/>
          <p:cNvSpPr/>
          <p:nvPr/>
        </p:nvSpPr>
        <p:spPr>
          <a:xfrm>
            <a:off x="4992480" y="2706480"/>
            <a:ext cx="1535760" cy="2098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860" strike="noStrike" u="none">
                <a:solidFill>
                  <a:srgbClr val="626B7B"/>
                </a:solidFill>
                <a:effectLst/>
                <a:uFillTx/>
                <a:latin typeface="Aptos"/>
                <a:ea typeface="Aptos"/>
              </a:rPr>
              <a:t>INSUFFICIENT DATA</a:t>
            </a:r>
            <a:endParaRPr b="0" lang="en-US" sz="860" strike="noStrike" u="none">
              <a:solidFill>
                <a:srgbClr val="2D2F38"/>
              </a:solidFill>
              <a:effectLst/>
              <a:uFillTx/>
              <a:latin typeface="Arial"/>
            </a:endParaRPr>
          </a:p>
        </p:txBody>
      </p:sp>
      <p:sp>
        <p:nvSpPr>
          <p:cNvPr id="219" name="Text 28"/>
          <p:cNvSpPr/>
          <p:nvPr/>
        </p:nvSpPr>
        <p:spPr>
          <a:xfrm>
            <a:off x="4937760" y="3154680"/>
            <a:ext cx="2468520" cy="2923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400" strike="noStrike" u="none">
                <a:solidFill>
                  <a:srgbClr val="2D2F38"/>
                </a:solidFill>
                <a:effectLst/>
                <a:uFillTx/>
                <a:latin typeface="Aptos"/>
                <a:ea typeface="Aptos"/>
              </a:rPr>
              <a:t>320 kg received</a:t>
            </a:r>
            <a:endParaRPr b="0" lang="en-US" sz="1400" strike="noStrike" u="none">
              <a:solidFill>
                <a:srgbClr val="2D2F38"/>
              </a:solidFill>
              <a:effectLst/>
              <a:uFillTx/>
              <a:latin typeface="Arial"/>
            </a:endParaRPr>
          </a:p>
        </p:txBody>
      </p:sp>
      <p:sp>
        <p:nvSpPr>
          <p:cNvPr id="220" name="Text 29"/>
          <p:cNvSpPr/>
          <p:nvPr/>
        </p:nvSpPr>
        <p:spPr>
          <a:xfrm>
            <a:off x="4937760" y="3557160"/>
            <a:ext cx="2468520" cy="2923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220" strike="noStrike" u="none">
                <a:solidFill>
                  <a:srgbClr val="626B7B"/>
                </a:solidFill>
                <a:effectLst/>
                <a:uFillTx/>
                <a:latin typeface="Aptos"/>
                <a:ea typeface="Aptos"/>
              </a:rPr>
              <a:t>180 kg recorded consumed</a:t>
            </a:r>
            <a:endParaRPr b="0" lang="en-US" sz="1220" strike="noStrike" u="none">
              <a:solidFill>
                <a:srgbClr val="2D2F38"/>
              </a:solidFill>
              <a:effectLst/>
              <a:uFillTx/>
              <a:latin typeface="Arial"/>
            </a:endParaRPr>
          </a:p>
        </p:txBody>
      </p:sp>
      <p:sp>
        <p:nvSpPr>
          <p:cNvPr id="221" name="Text 30"/>
          <p:cNvSpPr/>
          <p:nvPr/>
        </p:nvSpPr>
        <p:spPr>
          <a:xfrm>
            <a:off x="4937760" y="3977640"/>
            <a:ext cx="2468520" cy="2923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220" strike="noStrike" u="none">
                <a:solidFill>
                  <a:srgbClr val="626B7B"/>
                </a:solidFill>
                <a:effectLst/>
                <a:uFillTx/>
                <a:latin typeface="Aptos"/>
                <a:ea typeface="Aptos"/>
              </a:rPr>
              <a:t>6,600 units downstream</a:t>
            </a:r>
            <a:endParaRPr b="0" lang="en-US" sz="1220" strike="noStrike" u="none">
              <a:solidFill>
                <a:srgbClr val="2D2F38"/>
              </a:solidFill>
              <a:effectLst/>
              <a:uFillTx/>
              <a:latin typeface="Arial"/>
            </a:endParaRPr>
          </a:p>
        </p:txBody>
      </p:sp>
      <p:sp>
        <p:nvSpPr>
          <p:cNvPr id="222" name="Text 31"/>
          <p:cNvSpPr/>
          <p:nvPr/>
        </p:nvSpPr>
        <p:spPr>
          <a:xfrm>
            <a:off x="4937760" y="4489560"/>
            <a:ext cx="2505240" cy="502560"/>
          </a:xfrm>
          <a:prstGeom prst="rect">
            <a:avLst/>
          </a:prstGeom>
          <a:noFill/>
          <a:ln w="0">
            <a:noFill/>
          </a:ln>
        </p:spPr>
        <p:style>
          <a:lnRef idx="0"/>
          <a:fillRef idx="0"/>
          <a:effectRef idx="0"/>
          <a:fontRef idx="minor"/>
        </p:style>
        <p:txBody>
          <a:bodyPr lIns="0" rIns="0" tIns="0" bIns="0" anchor="t">
            <a:normAutofit/>
          </a:bodyPr>
          <a:p>
            <a:pPr defTabSz="914400">
              <a:lnSpc>
                <a:spcPct val="100000"/>
              </a:lnSpc>
              <a:tabLst>
                <a:tab algn="l" pos="0"/>
              </a:tabLst>
            </a:pPr>
            <a:r>
              <a:rPr b="0" lang="en-US" sz="1120" strike="noStrike" u="none">
                <a:solidFill>
                  <a:srgbClr val="2D3858"/>
                </a:solidFill>
                <a:effectLst/>
                <a:uFillTx/>
                <a:latin typeface="Aptos"/>
                <a:ea typeface="Aptos"/>
              </a:rPr>
              <a:t>No justified kg-to-unit conversion; mismatch stays open.</a:t>
            </a:r>
            <a:endParaRPr b="0" lang="en-US" sz="1120" strike="noStrike" u="none">
              <a:solidFill>
                <a:srgbClr val="2D2F38"/>
              </a:solidFill>
              <a:effectLst/>
              <a:uFillTx/>
              <a:latin typeface="Arial"/>
            </a:endParaRPr>
          </a:p>
        </p:txBody>
      </p:sp>
      <p:sp>
        <p:nvSpPr>
          <p:cNvPr id="223" name="Shape 32"/>
          <p:cNvSpPr/>
          <p:nvPr/>
        </p:nvSpPr>
        <p:spPr>
          <a:xfrm>
            <a:off x="8046720" y="1874520"/>
            <a:ext cx="3492720" cy="3401280"/>
          </a:xfrm>
          <a:prstGeom prst="roundRect">
            <a:avLst>
              <a:gd name="adj" fmla="val 3495"/>
            </a:avLst>
          </a:prstGeom>
          <a:solidFill>
            <a:srgbClr val="ffffff"/>
          </a:solidFill>
          <a:ln w="10160">
            <a:solidFill>
              <a:srgbClr val="E5E8F0"/>
            </a:solidFill>
            <a:round/>
          </a:ln>
        </p:spPr>
        <p:style>
          <a:lnRef idx="0"/>
          <a:fillRef idx="0"/>
          <a:effectRef idx="0"/>
          <a:fontRef idx="minor"/>
        </p:style>
        <p:txBody>
          <a:bodyPr lIns="90000" rIns="90000" tIns="45000" bIns="45000" anchor="t">
            <a:noAutofit/>
          </a:bodyPr>
          <a:p>
            <a:endParaRPr b="0" lang="en-US" sz="1800" strike="noStrike" u="none">
              <a:solidFill>
                <a:srgbClr val="2D2F38"/>
              </a:solidFill>
              <a:effectLst/>
              <a:uFillTx/>
              <a:latin typeface="Arial"/>
            </a:endParaRPr>
          </a:p>
        </p:txBody>
      </p:sp>
      <p:sp>
        <p:nvSpPr>
          <p:cNvPr id="224" name="Text 33"/>
          <p:cNvSpPr/>
          <p:nvPr/>
        </p:nvSpPr>
        <p:spPr>
          <a:xfrm>
            <a:off x="8321040" y="2130480"/>
            <a:ext cx="2925720" cy="3286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800" strike="noStrike" u="none">
                <a:solidFill>
                  <a:srgbClr val="2D2F38"/>
                </a:solidFill>
                <a:effectLst/>
                <a:uFillTx/>
                <a:latin typeface="Aptos"/>
                <a:ea typeface="Aptos"/>
              </a:rPr>
              <a:t>Decision trace</a:t>
            </a:r>
            <a:endParaRPr b="0" lang="en-US" sz="1800" strike="noStrike" u="none">
              <a:solidFill>
                <a:srgbClr val="2D2F38"/>
              </a:solidFill>
              <a:effectLst/>
              <a:uFillTx/>
              <a:latin typeface="Arial"/>
            </a:endParaRPr>
          </a:p>
        </p:txBody>
      </p:sp>
      <p:sp>
        <p:nvSpPr>
          <p:cNvPr id="225" name="Shape 34"/>
          <p:cNvSpPr/>
          <p:nvPr/>
        </p:nvSpPr>
        <p:spPr>
          <a:xfrm>
            <a:off x="8357760" y="2816280"/>
            <a:ext cx="109440" cy="109440"/>
          </a:xfrm>
          <a:prstGeom prst="ellipse">
            <a:avLst/>
          </a:prstGeom>
          <a:solidFill>
            <a:srgbClr val="991B1B"/>
          </a:solidFill>
          <a:ln w="7620">
            <a:solidFill>
              <a:srgbClr val="991B1B"/>
            </a:solidFill>
            <a:round/>
          </a:ln>
        </p:spPr>
        <p:style>
          <a:lnRef idx="0"/>
          <a:fillRef idx="0"/>
          <a:effectRef idx="0"/>
          <a:fontRef idx="minor"/>
        </p:style>
        <p:txBody>
          <a:bodyPr lIns="90000" rIns="90000" tIns="32760" bIns="32760" anchor="t">
            <a:noAutofit/>
          </a:bodyPr>
          <a:p>
            <a:endParaRPr b="0" lang="en-US" sz="1800" strike="noStrike" u="none">
              <a:solidFill>
                <a:srgbClr val="ffffff"/>
              </a:solidFill>
              <a:effectLst/>
              <a:uFillTx/>
              <a:latin typeface="Arial"/>
            </a:endParaRPr>
          </a:p>
        </p:txBody>
      </p:sp>
      <p:sp>
        <p:nvSpPr>
          <p:cNvPr id="226" name="Text 35"/>
          <p:cNvSpPr/>
          <p:nvPr/>
        </p:nvSpPr>
        <p:spPr>
          <a:xfrm>
            <a:off x="8613720" y="2743200"/>
            <a:ext cx="2331360" cy="2282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240" strike="noStrike" u="none">
                <a:solidFill>
                  <a:srgbClr val="2D2F38"/>
                </a:solidFill>
                <a:effectLst/>
                <a:uFillTx/>
                <a:latin typeface="Aptos"/>
                <a:ea typeface="Aptos"/>
              </a:rPr>
              <a:t>FL-1034C</a:t>
            </a:r>
            <a:endParaRPr b="0" lang="en-US" sz="1240" strike="noStrike" u="none">
              <a:solidFill>
                <a:srgbClr val="2D2F38"/>
              </a:solidFill>
              <a:effectLst/>
              <a:uFillTx/>
              <a:latin typeface="Arial"/>
            </a:endParaRPr>
          </a:p>
        </p:txBody>
      </p:sp>
      <p:sp>
        <p:nvSpPr>
          <p:cNvPr id="227" name="Text 36"/>
          <p:cNvSpPr/>
          <p:nvPr/>
        </p:nvSpPr>
        <p:spPr>
          <a:xfrm>
            <a:off x="8613720" y="2999160"/>
            <a:ext cx="2450160" cy="392760"/>
          </a:xfrm>
          <a:prstGeom prst="rect">
            <a:avLst/>
          </a:prstGeom>
          <a:noFill/>
          <a:ln w="0">
            <a:noFill/>
          </a:ln>
        </p:spPr>
        <p:style>
          <a:lnRef idx="0"/>
          <a:fillRef idx="0"/>
          <a:effectRef idx="0"/>
          <a:fontRef idx="minor"/>
        </p:style>
        <p:txBody>
          <a:bodyPr lIns="0" rIns="0" tIns="0" bIns="0" anchor="t">
            <a:normAutofit/>
          </a:bodyPr>
          <a:p>
            <a:pPr defTabSz="914400">
              <a:lnSpc>
                <a:spcPct val="100000"/>
              </a:lnSpc>
              <a:tabLst>
                <a:tab algn="l" pos="0"/>
              </a:tabLst>
            </a:pPr>
            <a:r>
              <a:rPr b="0" lang="en-US" sz="1030" strike="noStrike" u="none">
                <a:solidFill>
                  <a:srgbClr val="626B7B"/>
                </a:solidFill>
                <a:effectLst/>
                <a:uFillTx/>
                <a:latin typeface="Aptos"/>
                <a:ea typeface="Aptos"/>
              </a:rPr>
              <a:t>excluded after false-positive rejection</a:t>
            </a:r>
            <a:endParaRPr b="0" lang="en-US" sz="1030" strike="noStrike" u="none">
              <a:solidFill>
                <a:srgbClr val="2D2F38"/>
              </a:solidFill>
              <a:effectLst/>
              <a:uFillTx/>
              <a:latin typeface="Arial"/>
            </a:endParaRPr>
          </a:p>
        </p:txBody>
      </p:sp>
      <p:sp>
        <p:nvSpPr>
          <p:cNvPr id="228" name="Shape 37"/>
          <p:cNvSpPr/>
          <p:nvPr/>
        </p:nvSpPr>
        <p:spPr>
          <a:xfrm>
            <a:off x="8357760" y="3566160"/>
            <a:ext cx="109440" cy="109440"/>
          </a:xfrm>
          <a:prstGeom prst="ellipse">
            <a:avLst/>
          </a:prstGeom>
          <a:solidFill>
            <a:srgbClr val="2D3858"/>
          </a:solidFill>
          <a:ln w="7620">
            <a:solidFill>
              <a:srgbClr val="2D3858"/>
            </a:solidFill>
            <a:round/>
          </a:ln>
        </p:spPr>
        <p:style>
          <a:lnRef idx="0"/>
          <a:fillRef idx="0"/>
          <a:effectRef idx="0"/>
          <a:fontRef idx="minor"/>
        </p:style>
        <p:txBody>
          <a:bodyPr lIns="90000" rIns="90000" tIns="32760" bIns="32760" anchor="t">
            <a:noAutofit/>
          </a:bodyPr>
          <a:p>
            <a:endParaRPr b="0" lang="en-US" sz="1800" strike="noStrike" u="none">
              <a:solidFill>
                <a:srgbClr val="ffffff"/>
              </a:solidFill>
              <a:effectLst/>
              <a:uFillTx/>
              <a:latin typeface="Arial"/>
            </a:endParaRPr>
          </a:p>
        </p:txBody>
      </p:sp>
      <p:sp>
        <p:nvSpPr>
          <p:cNvPr id="229" name="Text 38"/>
          <p:cNvSpPr/>
          <p:nvPr/>
        </p:nvSpPr>
        <p:spPr>
          <a:xfrm>
            <a:off x="8613720" y="3493080"/>
            <a:ext cx="2331360" cy="2282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240" strike="noStrike" u="none">
                <a:solidFill>
                  <a:srgbClr val="2D2F38"/>
                </a:solidFill>
                <a:effectLst/>
                <a:uFillTx/>
                <a:latin typeface="Aptos"/>
                <a:ea typeface="Aptos"/>
              </a:rPr>
              <a:t>RM-O873</a:t>
            </a:r>
            <a:endParaRPr b="0" lang="en-US" sz="1240" strike="noStrike" u="none">
              <a:solidFill>
                <a:srgbClr val="2D2F38"/>
              </a:solidFill>
              <a:effectLst/>
              <a:uFillTx/>
              <a:latin typeface="Arial"/>
            </a:endParaRPr>
          </a:p>
        </p:txBody>
      </p:sp>
      <p:sp>
        <p:nvSpPr>
          <p:cNvPr id="230" name="Text 39"/>
          <p:cNvSpPr/>
          <p:nvPr/>
        </p:nvSpPr>
        <p:spPr>
          <a:xfrm>
            <a:off x="8613720" y="3749040"/>
            <a:ext cx="2450160" cy="392760"/>
          </a:xfrm>
          <a:prstGeom prst="rect">
            <a:avLst/>
          </a:prstGeom>
          <a:noFill/>
          <a:ln w="0">
            <a:noFill/>
          </a:ln>
        </p:spPr>
        <p:style>
          <a:lnRef idx="0"/>
          <a:fillRef idx="0"/>
          <a:effectRef idx="0"/>
          <a:fontRef idx="minor"/>
        </p:style>
        <p:txBody>
          <a:bodyPr lIns="0" rIns="0" tIns="0" bIns="0" anchor="t">
            <a:normAutofit/>
          </a:bodyPr>
          <a:p>
            <a:pPr defTabSz="914400">
              <a:lnSpc>
                <a:spcPct val="100000"/>
              </a:lnSpc>
              <a:tabLst>
                <a:tab algn="l" pos="0"/>
              </a:tabLst>
            </a:pPr>
            <a:r>
              <a:rPr b="0" lang="en-US" sz="1030" strike="noStrike" u="none">
                <a:solidFill>
                  <a:srgbClr val="626B7B"/>
                </a:solidFill>
                <a:effectLst/>
                <a:uFillTx/>
                <a:latin typeface="Aptos"/>
                <a:ea typeface="Aptos"/>
              </a:rPr>
              <a:t>ambiguous alias deferred</a:t>
            </a:r>
            <a:endParaRPr b="0" lang="en-US" sz="1030" strike="noStrike" u="none">
              <a:solidFill>
                <a:srgbClr val="2D2F38"/>
              </a:solidFill>
              <a:effectLst/>
              <a:uFillTx/>
              <a:latin typeface="Arial"/>
            </a:endParaRPr>
          </a:p>
        </p:txBody>
      </p:sp>
      <p:sp>
        <p:nvSpPr>
          <p:cNvPr id="231" name="Shape 40"/>
          <p:cNvSpPr/>
          <p:nvPr/>
        </p:nvSpPr>
        <p:spPr>
          <a:xfrm>
            <a:off x="8357760" y="4316040"/>
            <a:ext cx="109440" cy="109440"/>
          </a:xfrm>
          <a:prstGeom prst="ellipse">
            <a:avLst/>
          </a:prstGeom>
          <a:solidFill>
            <a:srgbClr val="39466C"/>
          </a:solidFill>
          <a:ln w="7620">
            <a:solidFill>
              <a:srgbClr val="39466C"/>
            </a:solidFill>
            <a:round/>
          </a:ln>
        </p:spPr>
        <p:style>
          <a:lnRef idx="0"/>
          <a:fillRef idx="0"/>
          <a:effectRef idx="0"/>
          <a:fontRef idx="minor"/>
        </p:style>
        <p:txBody>
          <a:bodyPr lIns="90000" rIns="90000" tIns="32760" bIns="32760" anchor="t">
            <a:noAutofit/>
          </a:bodyPr>
          <a:p>
            <a:endParaRPr b="0" lang="en-US" sz="1800" strike="noStrike" u="none">
              <a:solidFill>
                <a:srgbClr val="ffffff"/>
              </a:solidFill>
              <a:effectLst/>
              <a:uFillTx/>
              <a:latin typeface="Arial"/>
            </a:endParaRPr>
          </a:p>
        </p:txBody>
      </p:sp>
      <p:sp>
        <p:nvSpPr>
          <p:cNvPr id="232" name="Text 41"/>
          <p:cNvSpPr/>
          <p:nvPr/>
        </p:nvSpPr>
        <p:spPr>
          <a:xfrm>
            <a:off x="8613720" y="4242960"/>
            <a:ext cx="2331360" cy="2282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240" strike="noStrike" u="none">
                <a:solidFill>
                  <a:srgbClr val="2D2F38"/>
                </a:solidFill>
                <a:effectLst/>
                <a:uFillTx/>
                <a:latin typeface="Aptos"/>
                <a:ea typeface="Aptos"/>
              </a:rPr>
              <a:t>3 findings</a:t>
            </a:r>
            <a:endParaRPr b="0" lang="en-US" sz="1240" strike="noStrike" u="none">
              <a:solidFill>
                <a:srgbClr val="2D2F38"/>
              </a:solidFill>
              <a:effectLst/>
              <a:uFillTx/>
              <a:latin typeface="Arial"/>
            </a:endParaRPr>
          </a:p>
        </p:txBody>
      </p:sp>
      <p:sp>
        <p:nvSpPr>
          <p:cNvPr id="233" name="Text 42"/>
          <p:cNvSpPr/>
          <p:nvPr/>
        </p:nvSpPr>
        <p:spPr>
          <a:xfrm>
            <a:off x="8613720" y="4498920"/>
            <a:ext cx="2450160" cy="392760"/>
          </a:xfrm>
          <a:prstGeom prst="rect">
            <a:avLst/>
          </a:prstGeom>
          <a:noFill/>
          <a:ln w="0">
            <a:noFill/>
          </a:ln>
        </p:spPr>
        <p:style>
          <a:lnRef idx="0"/>
          <a:fillRef idx="0"/>
          <a:effectRef idx="0"/>
          <a:fontRef idx="minor"/>
        </p:style>
        <p:txBody>
          <a:bodyPr lIns="0" rIns="0" tIns="0" bIns="0" anchor="t">
            <a:normAutofit/>
          </a:bodyPr>
          <a:p>
            <a:pPr defTabSz="914400">
              <a:lnSpc>
                <a:spcPct val="100000"/>
              </a:lnSpc>
              <a:tabLst>
                <a:tab algn="l" pos="0"/>
              </a:tabLst>
            </a:pPr>
            <a:r>
              <a:rPr b="0" lang="en-US" sz="1030" strike="noStrike" u="none">
                <a:solidFill>
                  <a:srgbClr val="626B7B"/>
                </a:solidFill>
                <a:effectLst/>
                <a:uFillTx/>
                <a:latin typeface="Aptos"/>
                <a:ea typeface="Aptos"/>
              </a:rPr>
              <a:t>quantity mismatch, ambiguous ID, unreviewed claims</a:t>
            </a:r>
            <a:endParaRPr b="0" lang="en-US" sz="1030" strike="noStrike" u="none">
              <a:solidFill>
                <a:srgbClr val="2D2F38"/>
              </a:solidFill>
              <a:effectLst/>
              <a:uFillTx/>
              <a:latin typeface="Arial"/>
            </a:endParaRPr>
          </a:p>
        </p:txBody>
      </p:sp>
      <p:sp>
        <p:nvSpPr>
          <p:cNvPr id="234" name="Text 43"/>
          <p:cNvSpPr/>
          <p:nvPr/>
        </p:nvSpPr>
        <p:spPr>
          <a:xfrm>
            <a:off x="850320" y="5650920"/>
            <a:ext cx="10442160" cy="35640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340" strike="noStrike" u="none">
                <a:solidFill>
                  <a:srgbClr val="39466C"/>
                </a:solidFill>
                <a:effectLst/>
                <a:uFillTx/>
                <a:latin typeface="Aptos"/>
                <a:ea typeface="Aptos"/>
              </a:rPr>
              <a:t>Possible scope was empty in the final snapshot; ambiguity remains disclosed in findings.</a:t>
            </a:r>
            <a:endParaRPr b="0" lang="en-US" sz="1340" strike="noStrike" u="none">
              <a:solidFill>
                <a:srgbClr val="2D2F38"/>
              </a:solidFill>
              <a:effectLst/>
              <a:uFillTx/>
              <a:latin typeface="Arial"/>
            </a:endParaRPr>
          </a:p>
        </p:txBody>
      </p:sp>
      <p:sp>
        <p:nvSpPr>
          <p:cNvPr id="235" name="PlaceHolder 1"/>
          <p:cNvSpPr>
            <a:spLocks noGrp="1"/>
          </p:cNvSpPr>
          <p:nvPr>
            <p:ph type="sldNum" idx="9"/>
          </p:nvPr>
        </p:nvSpPr>
        <p:spPr>
          <a:xfrm>
            <a:off x="11685960" y="6565320"/>
            <a:ext cx="799560" cy="299520"/>
          </a:xfrm>
          <a:prstGeom prst="rect">
            <a:avLst/>
          </a:prstGeom>
          <a:noFill/>
          <a:ln w="0">
            <a:noFill/>
          </a:ln>
        </p:spPr>
        <p:txBody>
          <a:bodyPr lIns="90000" rIns="90000" tIns="45000" bIns="45000" anchor="t">
            <a:noAutofit/>
          </a:bodyPr>
          <a:lstStyle>
            <a:lvl1pPr indent="0" defTabSz="914400">
              <a:lnSpc>
                <a:spcPct val="100000"/>
              </a:lnSpc>
              <a:buNone/>
              <a:defRPr b="0" lang="en-US" sz="700" strike="noStrike" u="none">
                <a:solidFill>
                  <a:srgbClr val="626B7B"/>
                </a:solidFill>
                <a:effectLst/>
                <a:uFillTx/>
                <a:latin typeface="Aptos"/>
                <a:ea typeface="Aptos"/>
              </a:defRPr>
            </a:lvl1pPr>
          </a:lstStyle>
          <a:p>
            <a:pPr indent="0" defTabSz="914400">
              <a:lnSpc>
                <a:spcPct val="100000"/>
              </a:lnSpc>
              <a:buNone/>
            </a:pPr>
            <a:fld id="{8D05EF7A-7C13-4F1B-A173-41A487E19727}" type="slidenum">
              <a:rPr b="0" lang="en-US" sz="700" strike="noStrike" u="none">
                <a:solidFill>
                  <a:srgbClr val="626B7B"/>
                </a:solidFill>
                <a:effectLst/>
                <a:uFillTx/>
                <a:latin typeface="Aptos"/>
                <a:ea typeface="Aptos"/>
              </a:rPr>
              <a:t>6</a:t>
            </a:fld>
            <a:endParaRPr b="0" lang="en-US" sz="700" strike="noStrike" u="none">
              <a:solidFill>
                <a:srgbClr val="2D2F38"/>
              </a:solidFill>
              <a:effectLst/>
              <a:uFillTx/>
              <a:latin typeface="Times New Roman"/>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6" name="Text 0"/>
          <p:cNvSpPr/>
          <p:nvPr/>
        </p:nvSpPr>
        <p:spPr>
          <a:xfrm>
            <a:off x="567000" y="384120"/>
            <a:ext cx="10881000" cy="1825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900" spc="181" strike="noStrike" u="none">
                <a:solidFill>
                  <a:srgbClr val="39466C"/>
                </a:solidFill>
                <a:effectLst/>
                <a:uFillTx/>
                <a:latin typeface="Aptos"/>
                <a:ea typeface="Aptos"/>
              </a:rPr>
              <a:t>06 / WHY THIS APPROACH</a:t>
            </a:r>
            <a:endParaRPr b="0" lang="en-US" sz="900" strike="noStrike" u="none">
              <a:solidFill>
                <a:srgbClr val="2D2F38"/>
              </a:solidFill>
              <a:effectLst/>
              <a:uFillTx/>
              <a:latin typeface="Arial"/>
            </a:endParaRPr>
          </a:p>
        </p:txBody>
      </p:sp>
      <p:sp>
        <p:nvSpPr>
          <p:cNvPr id="237" name="Text 1"/>
          <p:cNvSpPr/>
          <p:nvPr/>
        </p:nvSpPr>
        <p:spPr>
          <a:xfrm>
            <a:off x="567000" y="658440"/>
            <a:ext cx="11018160" cy="4752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2600" strike="noStrike" u="none">
                <a:solidFill>
                  <a:srgbClr val="2D2F38"/>
                </a:solidFill>
                <a:effectLst/>
                <a:uFillTx/>
                <a:latin typeface="Aptos"/>
                <a:ea typeface="Aptos"/>
              </a:rPr>
              <a:t>A reviewable evidence layer-not an autonomous recall decision</a:t>
            </a:r>
            <a:endParaRPr b="0" lang="en-US" sz="2600" strike="noStrike" u="none">
              <a:solidFill>
                <a:srgbClr val="2D2F38"/>
              </a:solidFill>
              <a:effectLst/>
              <a:uFillTx/>
              <a:latin typeface="Arial"/>
            </a:endParaRPr>
          </a:p>
        </p:txBody>
      </p:sp>
      <p:sp>
        <p:nvSpPr>
          <p:cNvPr id="238" name="Text 2"/>
          <p:cNvSpPr/>
          <p:nvPr/>
        </p:nvSpPr>
        <p:spPr>
          <a:xfrm>
            <a:off x="585360" y="1197720"/>
            <a:ext cx="10972440" cy="383760"/>
          </a:xfrm>
          <a:prstGeom prst="rect">
            <a:avLst/>
          </a:prstGeom>
          <a:noFill/>
          <a:ln w="0">
            <a:noFill/>
          </a:ln>
        </p:spPr>
        <p:style>
          <a:lnRef idx="0"/>
          <a:fillRef idx="0"/>
          <a:effectRef idx="0"/>
          <a:fontRef idx="minor"/>
        </p:style>
        <p:txBody>
          <a:bodyPr lIns="0" rIns="0" tIns="0" bIns="0" anchor="t">
            <a:normAutofit/>
          </a:bodyPr>
          <a:p>
            <a:pPr defTabSz="914400">
              <a:lnSpc>
                <a:spcPct val="100000"/>
              </a:lnSpc>
              <a:tabLst>
                <a:tab algn="l" pos="0"/>
              </a:tabLst>
            </a:pPr>
            <a:r>
              <a:rPr b="0" lang="en-US" sz="1250" strike="noStrike" u="none">
                <a:solidFill>
                  <a:srgbClr val="626B7B"/>
                </a:solidFill>
                <a:effectLst/>
                <a:uFillTx/>
                <a:latin typeface="Aptos"/>
                <a:ea typeface="Aptos"/>
              </a:rPr>
              <a:t>The intended advantage is preserving ambiguity and provenance across the investigation.</a:t>
            </a:r>
            <a:endParaRPr b="0" lang="en-US" sz="1250" strike="noStrike" u="none">
              <a:solidFill>
                <a:srgbClr val="2D2F38"/>
              </a:solidFill>
              <a:effectLst/>
              <a:uFillTx/>
              <a:latin typeface="Arial"/>
            </a:endParaRPr>
          </a:p>
        </p:txBody>
      </p:sp>
      <p:sp>
        <p:nvSpPr>
          <p:cNvPr id="239" name="Shape 3"/>
          <p:cNvSpPr/>
          <p:nvPr/>
        </p:nvSpPr>
        <p:spPr>
          <a:xfrm>
            <a:off x="685800" y="1828800"/>
            <a:ext cx="5239080" cy="438480"/>
          </a:xfrm>
          <a:prstGeom prst="roundRect">
            <a:avLst>
              <a:gd name="adj" fmla="val 20833"/>
            </a:avLst>
          </a:prstGeom>
          <a:solidFill>
            <a:srgbClr val="ffffff"/>
          </a:solidFill>
          <a:ln w="10160">
            <a:solidFill>
              <a:srgbClr val="E5E8F0"/>
            </a:solidFill>
            <a:round/>
          </a:ln>
        </p:spPr>
        <p:style>
          <a:lnRef idx="0"/>
          <a:fillRef idx="0"/>
          <a:effectRef idx="0"/>
          <a:fontRef idx="minor"/>
        </p:style>
        <p:txBody>
          <a:bodyPr lIns="90000" rIns="90000" tIns="45000" bIns="45000" anchor="t">
            <a:noAutofit/>
          </a:bodyPr>
          <a:p>
            <a:endParaRPr b="0" lang="en-US" sz="1800" strike="noStrike" u="none">
              <a:solidFill>
                <a:srgbClr val="2D2F38"/>
              </a:solidFill>
              <a:effectLst/>
              <a:uFillTx/>
              <a:latin typeface="Arial"/>
            </a:endParaRPr>
          </a:p>
        </p:txBody>
      </p:sp>
      <p:sp>
        <p:nvSpPr>
          <p:cNvPr id="240" name="Shape 4"/>
          <p:cNvSpPr/>
          <p:nvPr/>
        </p:nvSpPr>
        <p:spPr>
          <a:xfrm>
            <a:off x="685800" y="1828800"/>
            <a:ext cx="54360" cy="438480"/>
          </a:xfrm>
          <a:prstGeom prst="rect">
            <a:avLst/>
          </a:prstGeom>
          <a:solidFill>
            <a:srgbClr val="39466C"/>
          </a:solidFill>
          <a:ln w="12700">
            <a:solidFill>
              <a:srgbClr val="39466C"/>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241" name="Text 5"/>
          <p:cNvSpPr/>
          <p:nvPr/>
        </p:nvSpPr>
        <p:spPr>
          <a:xfrm>
            <a:off x="850320" y="1874520"/>
            <a:ext cx="4983120" cy="3286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350" strike="noStrike" u="none">
                <a:solidFill>
                  <a:srgbClr val="2D2F38"/>
                </a:solidFill>
                <a:effectLst/>
                <a:uFillTx/>
                <a:latin typeface="Aptos"/>
                <a:ea typeface="Aptos"/>
              </a:rPr>
              <a:t>What is demonstrated in code</a:t>
            </a:r>
            <a:endParaRPr b="0" lang="en-US" sz="1350" strike="noStrike" u="none">
              <a:solidFill>
                <a:srgbClr val="2D2F38"/>
              </a:solidFill>
              <a:effectLst/>
              <a:uFillTx/>
              <a:latin typeface="Arial"/>
            </a:endParaRPr>
          </a:p>
        </p:txBody>
      </p:sp>
      <p:sp>
        <p:nvSpPr>
          <p:cNvPr id="242" name="Shape 6"/>
          <p:cNvSpPr/>
          <p:nvPr/>
        </p:nvSpPr>
        <p:spPr>
          <a:xfrm>
            <a:off x="905400" y="2514600"/>
            <a:ext cx="63720" cy="63720"/>
          </a:xfrm>
          <a:prstGeom prst="ellipse">
            <a:avLst/>
          </a:prstGeom>
          <a:solidFill>
            <a:srgbClr val="39466C"/>
          </a:solidFill>
          <a:ln w="7620">
            <a:solidFill>
              <a:srgbClr val="39466C"/>
            </a:solidFill>
            <a:round/>
          </a:ln>
        </p:spPr>
        <p:style>
          <a:lnRef idx="0"/>
          <a:fillRef idx="0"/>
          <a:effectRef idx="0"/>
          <a:fontRef idx="minor"/>
        </p:style>
        <p:txBody>
          <a:bodyPr lIns="90000" rIns="90000" tIns="0" bIns="0" anchor="t">
            <a:noAutofit/>
          </a:bodyPr>
          <a:p>
            <a:endParaRPr b="0" lang="en-US" sz="1800" strike="noStrike" u="none">
              <a:solidFill>
                <a:srgbClr val="ffffff"/>
              </a:solidFill>
              <a:effectLst/>
              <a:uFillTx/>
              <a:latin typeface="Arial"/>
            </a:endParaRPr>
          </a:p>
        </p:txBody>
      </p:sp>
      <p:sp>
        <p:nvSpPr>
          <p:cNvPr id="243" name="Text 7"/>
          <p:cNvSpPr/>
          <p:nvPr/>
        </p:nvSpPr>
        <p:spPr>
          <a:xfrm>
            <a:off x="1060560" y="2423160"/>
            <a:ext cx="4672080" cy="465840"/>
          </a:xfrm>
          <a:prstGeom prst="rect">
            <a:avLst/>
          </a:prstGeom>
          <a:noFill/>
          <a:ln w="0">
            <a:noFill/>
          </a:ln>
        </p:spPr>
        <p:style>
          <a:lnRef idx="0"/>
          <a:fillRef idx="0"/>
          <a:effectRef idx="0"/>
          <a:fontRef idx="minor"/>
        </p:style>
        <p:txBody>
          <a:bodyPr lIns="0" rIns="0" tIns="0" bIns="0" anchor="t">
            <a:normAutofit/>
          </a:bodyPr>
          <a:p>
            <a:pPr defTabSz="914400">
              <a:lnSpc>
                <a:spcPct val="100000"/>
              </a:lnSpc>
              <a:tabLst>
                <a:tab algn="l" pos="0"/>
              </a:tabLst>
            </a:pPr>
            <a:r>
              <a:rPr b="0" lang="en-US" sz="1150" strike="noStrike" u="none">
                <a:solidFill>
                  <a:srgbClr val="626B7B"/>
                </a:solidFill>
                <a:effectLst/>
                <a:uFillTx/>
                <a:latin typeface="Aptos"/>
                <a:ea typeface="Aptos"/>
              </a:rPr>
              <a:t>Local Llama can produce candidate facts from supported text records.</a:t>
            </a:r>
            <a:endParaRPr b="0" lang="en-US" sz="1150" strike="noStrike" u="none">
              <a:solidFill>
                <a:srgbClr val="2D2F38"/>
              </a:solidFill>
              <a:effectLst/>
              <a:uFillTx/>
              <a:latin typeface="Arial"/>
            </a:endParaRPr>
          </a:p>
        </p:txBody>
      </p:sp>
      <p:sp>
        <p:nvSpPr>
          <p:cNvPr id="244" name="Shape 8"/>
          <p:cNvSpPr/>
          <p:nvPr/>
        </p:nvSpPr>
        <p:spPr>
          <a:xfrm>
            <a:off x="905400" y="2999160"/>
            <a:ext cx="63720" cy="63720"/>
          </a:xfrm>
          <a:prstGeom prst="ellipse">
            <a:avLst/>
          </a:prstGeom>
          <a:solidFill>
            <a:srgbClr val="39466C"/>
          </a:solidFill>
          <a:ln w="7620">
            <a:solidFill>
              <a:srgbClr val="39466C"/>
            </a:solidFill>
            <a:round/>
          </a:ln>
        </p:spPr>
        <p:style>
          <a:lnRef idx="0"/>
          <a:fillRef idx="0"/>
          <a:effectRef idx="0"/>
          <a:fontRef idx="minor"/>
        </p:style>
        <p:txBody>
          <a:bodyPr lIns="90000" rIns="90000" tIns="0" bIns="0" anchor="t">
            <a:noAutofit/>
          </a:bodyPr>
          <a:p>
            <a:endParaRPr b="0" lang="en-US" sz="1800" strike="noStrike" u="none">
              <a:solidFill>
                <a:srgbClr val="ffffff"/>
              </a:solidFill>
              <a:effectLst/>
              <a:uFillTx/>
              <a:latin typeface="Arial"/>
            </a:endParaRPr>
          </a:p>
        </p:txBody>
      </p:sp>
      <p:sp>
        <p:nvSpPr>
          <p:cNvPr id="245" name="Text 9"/>
          <p:cNvSpPr/>
          <p:nvPr/>
        </p:nvSpPr>
        <p:spPr>
          <a:xfrm>
            <a:off x="1060560" y="2907720"/>
            <a:ext cx="4672080" cy="465840"/>
          </a:xfrm>
          <a:prstGeom prst="rect">
            <a:avLst/>
          </a:prstGeom>
          <a:noFill/>
          <a:ln w="0">
            <a:noFill/>
          </a:ln>
        </p:spPr>
        <p:style>
          <a:lnRef idx="0"/>
          <a:fillRef idx="0"/>
          <a:effectRef idx="0"/>
          <a:fontRef idx="minor"/>
        </p:style>
        <p:txBody>
          <a:bodyPr lIns="0" rIns="0" tIns="0" bIns="0" anchor="t">
            <a:normAutofit/>
          </a:bodyPr>
          <a:p>
            <a:pPr defTabSz="914400">
              <a:lnSpc>
                <a:spcPct val="100000"/>
              </a:lnSpc>
              <a:tabLst>
                <a:tab algn="l" pos="0"/>
              </a:tabLst>
            </a:pPr>
            <a:r>
              <a:rPr b="0" lang="en-US" sz="1150" strike="noStrike" u="none">
                <a:solidFill>
                  <a:srgbClr val="626B7B"/>
                </a:solidFill>
                <a:effectLst/>
                <a:uFillTx/>
                <a:latin typeface="Aptos"/>
                <a:ea typeface="Aptos"/>
              </a:rPr>
              <a:t>Quotes are checked against cited source lines; unverifiable identifier matches are flagged.</a:t>
            </a:r>
            <a:endParaRPr b="0" lang="en-US" sz="1150" strike="noStrike" u="none">
              <a:solidFill>
                <a:srgbClr val="2D2F38"/>
              </a:solidFill>
              <a:effectLst/>
              <a:uFillTx/>
              <a:latin typeface="Arial"/>
            </a:endParaRPr>
          </a:p>
        </p:txBody>
      </p:sp>
      <p:sp>
        <p:nvSpPr>
          <p:cNvPr id="246" name="Shape 10"/>
          <p:cNvSpPr/>
          <p:nvPr/>
        </p:nvSpPr>
        <p:spPr>
          <a:xfrm>
            <a:off x="905400" y="3483720"/>
            <a:ext cx="63720" cy="63720"/>
          </a:xfrm>
          <a:prstGeom prst="ellipse">
            <a:avLst/>
          </a:prstGeom>
          <a:solidFill>
            <a:srgbClr val="39466C"/>
          </a:solidFill>
          <a:ln w="7620">
            <a:solidFill>
              <a:srgbClr val="39466C"/>
            </a:solidFill>
            <a:round/>
          </a:ln>
        </p:spPr>
        <p:style>
          <a:lnRef idx="0"/>
          <a:fillRef idx="0"/>
          <a:effectRef idx="0"/>
          <a:fontRef idx="minor"/>
        </p:style>
        <p:txBody>
          <a:bodyPr lIns="90000" rIns="90000" tIns="0" bIns="0" anchor="t">
            <a:noAutofit/>
          </a:bodyPr>
          <a:p>
            <a:endParaRPr b="0" lang="en-US" sz="1800" strike="noStrike" u="none">
              <a:solidFill>
                <a:srgbClr val="ffffff"/>
              </a:solidFill>
              <a:effectLst/>
              <a:uFillTx/>
              <a:latin typeface="Arial"/>
            </a:endParaRPr>
          </a:p>
        </p:txBody>
      </p:sp>
      <p:sp>
        <p:nvSpPr>
          <p:cNvPr id="247" name="Text 11"/>
          <p:cNvSpPr/>
          <p:nvPr/>
        </p:nvSpPr>
        <p:spPr>
          <a:xfrm>
            <a:off x="1060560" y="3392280"/>
            <a:ext cx="4672080" cy="465840"/>
          </a:xfrm>
          <a:prstGeom prst="rect">
            <a:avLst/>
          </a:prstGeom>
          <a:noFill/>
          <a:ln w="0">
            <a:noFill/>
          </a:ln>
        </p:spPr>
        <p:style>
          <a:lnRef idx="0"/>
          <a:fillRef idx="0"/>
          <a:effectRef idx="0"/>
          <a:fontRef idx="minor"/>
        </p:style>
        <p:txBody>
          <a:bodyPr lIns="0" rIns="0" tIns="0" bIns="0" anchor="t">
            <a:normAutofit/>
          </a:bodyPr>
          <a:p>
            <a:pPr defTabSz="914400">
              <a:lnSpc>
                <a:spcPct val="100000"/>
              </a:lnSpc>
              <a:tabLst>
                <a:tab algn="l" pos="0"/>
              </a:tabLst>
            </a:pPr>
            <a:r>
              <a:rPr b="0" lang="en-US" sz="1150" strike="noStrike" u="none">
                <a:solidFill>
                  <a:srgbClr val="626B7B"/>
                </a:solidFill>
                <a:effectLst/>
                <a:uFillTx/>
                <a:latin typeface="Aptos"/>
                <a:ea typeface="Aptos"/>
              </a:rPr>
              <a:t>Relationships require explicit human decisions.</a:t>
            </a:r>
            <a:endParaRPr b="0" lang="en-US" sz="1150" strike="noStrike" u="none">
              <a:solidFill>
                <a:srgbClr val="2D2F38"/>
              </a:solidFill>
              <a:effectLst/>
              <a:uFillTx/>
              <a:latin typeface="Arial"/>
            </a:endParaRPr>
          </a:p>
        </p:txBody>
      </p:sp>
      <p:sp>
        <p:nvSpPr>
          <p:cNvPr id="248" name="Shape 12"/>
          <p:cNvSpPr/>
          <p:nvPr/>
        </p:nvSpPr>
        <p:spPr>
          <a:xfrm>
            <a:off x="905400" y="3968640"/>
            <a:ext cx="63720" cy="63720"/>
          </a:xfrm>
          <a:prstGeom prst="ellipse">
            <a:avLst/>
          </a:prstGeom>
          <a:solidFill>
            <a:srgbClr val="39466C"/>
          </a:solidFill>
          <a:ln w="7620">
            <a:solidFill>
              <a:srgbClr val="39466C"/>
            </a:solidFill>
            <a:round/>
          </a:ln>
        </p:spPr>
        <p:style>
          <a:lnRef idx="0"/>
          <a:fillRef idx="0"/>
          <a:effectRef idx="0"/>
          <a:fontRef idx="minor"/>
        </p:style>
        <p:txBody>
          <a:bodyPr lIns="90000" rIns="90000" tIns="0" bIns="0" anchor="t">
            <a:noAutofit/>
          </a:bodyPr>
          <a:p>
            <a:endParaRPr b="0" lang="en-US" sz="1800" strike="noStrike" u="none">
              <a:solidFill>
                <a:srgbClr val="ffffff"/>
              </a:solidFill>
              <a:effectLst/>
              <a:uFillTx/>
              <a:latin typeface="Arial"/>
            </a:endParaRPr>
          </a:p>
        </p:txBody>
      </p:sp>
      <p:sp>
        <p:nvSpPr>
          <p:cNvPr id="249" name="Text 13"/>
          <p:cNvSpPr/>
          <p:nvPr/>
        </p:nvSpPr>
        <p:spPr>
          <a:xfrm>
            <a:off x="1060560" y="3877200"/>
            <a:ext cx="4672080" cy="465840"/>
          </a:xfrm>
          <a:prstGeom prst="rect">
            <a:avLst/>
          </a:prstGeom>
          <a:noFill/>
          <a:ln w="0">
            <a:noFill/>
          </a:ln>
        </p:spPr>
        <p:style>
          <a:lnRef idx="0"/>
          <a:fillRef idx="0"/>
          <a:effectRef idx="0"/>
          <a:fontRef idx="minor"/>
        </p:style>
        <p:txBody>
          <a:bodyPr lIns="0" rIns="0" tIns="0" bIns="0" anchor="t">
            <a:normAutofit/>
          </a:bodyPr>
          <a:p>
            <a:pPr defTabSz="914400">
              <a:lnSpc>
                <a:spcPct val="100000"/>
              </a:lnSpc>
              <a:tabLst>
                <a:tab algn="l" pos="0"/>
              </a:tabLst>
            </a:pPr>
            <a:r>
              <a:rPr b="0" lang="en-US" sz="1150" strike="noStrike" u="none">
                <a:solidFill>
                  <a:srgbClr val="626B7B"/>
                </a:solidFill>
                <a:effectLst/>
                <a:uFillTx/>
                <a:latin typeface="Aptos"/>
                <a:ea typeface="Aptos"/>
              </a:rPr>
              <a:t>Rejected/edited supporting claims can demote dependent links.</a:t>
            </a:r>
            <a:endParaRPr b="0" lang="en-US" sz="1150" strike="noStrike" u="none">
              <a:solidFill>
                <a:srgbClr val="2D2F38"/>
              </a:solidFill>
              <a:effectLst/>
              <a:uFillTx/>
              <a:latin typeface="Arial"/>
            </a:endParaRPr>
          </a:p>
        </p:txBody>
      </p:sp>
      <p:sp>
        <p:nvSpPr>
          <p:cNvPr id="250" name="Shape 14"/>
          <p:cNvSpPr/>
          <p:nvPr/>
        </p:nvSpPr>
        <p:spPr>
          <a:xfrm>
            <a:off x="905400" y="4453200"/>
            <a:ext cx="63720" cy="63720"/>
          </a:xfrm>
          <a:prstGeom prst="ellipse">
            <a:avLst/>
          </a:prstGeom>
          <a:solidFill>
            <a:srgbClr val="39466C"/>
          </a:solidFill>
          <a:ln w="7620">
            <a:solidFill>
              <a:srgbClr val="39466C"/>
            </a:solidFill>
            <a:round/>
          </a:ln>
        </p:spPr>
        <p:style>
          <a:lnRef idx="0"/>
          <a:fillRef idx="0"/>
          <a:effectRef idx="0"/>
          <a:fontRef idx="minor"/>
        </p:style>
        <p:txBody>
          <a:bodyPr lIns="90000" rIns="90000" tIns="0" bIns="0" anchor="t">
            <a:noAutofit/>
          </a:bodyPr>
          <a:p>
            <a:endParaRPr b="0" lang="en-US" sz="1800" strike="noStrike" u="none">
              <a:solidFill>
                <a:srgbClr val="ffffff"/>
              </a:solidFill>
              <a:effectLst/>
              <a:uFillTx/>
              <a:latin typeface="Arial"/>
            </a:endParaRPr>
          </a:p>
        </p:txBody>
      </p:sp>
      <p:sp>
        <p:nvSpPr>
          <p:cNvPr id="251" name="Text 15"/>
          <p:cNvSpPr/>
          <p:nvPr/>
        </p:nvSpPr>
        <p:spPr>
          <a:xfrm>
            <a:off x="1060560" y="4361760"/>
            <a:ext cx="4672080" cy="465840"/>
          </a:xfrm>
          <a:prstGeom prst="rect">
            <a:avLst/>
          </a:prstGeom>
          <a:noFill/>
          <a:ln w="0">
            <a:noFill/>
          </a:ln>
        </p:spPr>
        <p:style>
          <a:lnRef idx="0"/>
          <a:fillRef idx="0"/>
          <a:effectRef idx="0"/>
          <a:fontRef idx="minor"/>
        </p:style>
        <p:txBody>
          <a:bodyPr lIns="0" rIns="0" tIns="0" bIns="0" anchor="t">
            <a:normAutofit/>
          </a:bodyPr>
          <a:p>
            <a:pPr defTabSz="914400">
              <a:lnSpc>
                <a:spcPct val="100000"/>
              </a:lnSpc>
              <a:tabLst>
                <a:tab algn="l" pos="0"/>
              </a:tabLst>
            </a:pPr>
            <a:r>
              <a:rPr b="0" lang="en-US" sz="1150" strike="noStrike" u="none">
                <a:solidFill>
                  <a:srgbClr val="626B7B"/>
                </a:solidFill>
                <a:effectLst/>
                <a:uFillTx/>
                <a:latin typeface="Aptos"/>
                <a:ea typeface="Aptos"/>
              </a:rPr>
              <a:t>Trace traversal and snapshots are deterministic.</a:t>
            </a:r>
            <a:endParaRPr b="0" lang="en-US" sz="1150" strike="noStrike" u="none">
              <a:solidFill>
                <a:srgbClr val="2D2F38"/>
              </a:solidFill>
              <a:effectLst/>
              <a:uFillTx/>
              <a:latin typeface="Arial"/>
            </a:endParaRPr>
          </a:p>
        </p:txBody>
      </p:sp>
      <p:sp>
        <p:nvSpPr>
          <p:cNvPr id="252" name="Shape 16"/>
          <p:cNvSpPr/>
          <p:nvPr/>
        </p:nvSpPr>
        <p:spPr>
          <a:xfrm>
            <a:off x="6236280" y="1828800"/>
            <a:ext cx="5239080" cy="438480"/>
          </a:xfrm>
          <a:prstGeom prst="roundRect">
            <a:avLst>
              <a:gd name="adj" fmla="val 20833"/>
            </a:avLst>
          </a:prstGeom>
          <a:solidFill>
            <a:srgbClr val="ffffff"/>
          </a:solidFill>
          <a:ln w="10160">
            <a:solidFill>
              <a:srgbClr val="E5E8F0"/>
            </a:solidFill>
            <a:round/>
          </a:ln>
        </p:spPr>
        <p:style>
          <a:lnRef idx="0"/>
          <a:fillRef idx="0"/>
          <a:effectRef idx="0"/>
          <a:fontRef idx="minor"/>
        </p:style>
        <p:txBody>
          <a:bodyPr lIns="90000" rIns="90000" tIns="45000" bIns="45000" anchor="t">
            <a:noAutofit/>
          </a:bodyPr>
          <a:p>
            <a:endParaRPr b="0" lang="en-US" sz="1800" strike="noStrike" u="none">
              <a:solidFill>
                <a:srgbClr val="2D2F38"/>
              </a:solidFill>
              <a:effectLst/>
              <a:uFillTx/>
              <a:latin typeface="Arial"/>
            </a:endParaRPr>
          </a:p>
        </p:txBody>
      </p:sp>
      <p:sp>
        <p:nvSpPr>
          <p:cNvPr id="253" name="Shape 17"/>
          <p:cNvSpPr/>
          <p:nvPr/>
        </p:nvSpPr>
        <p:spPr>
          <a:xfrm>
            <a:off x="6236280" y="1828800"/>
            <a:ext cx="54360" cy="438480"/>
          </a:xfrm>
          <a:prstGeom prst="rect">
            <a:avLst/>
          </a:prstGeom>
          <a:solidFill>
            <a:srgbClr val="2D3858"/>
          </a:solidFill>
          <a:ln w="12700">
            <a:solidFill>
              <a:srgbClr val="2D3858"/>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254" name="Text 18"/>
          <p:cNvSpPr/>
          <p:nvPr/>
        </p:nvSpPr>
        <p:spPr>
          <a:xfrm>
            <a:off x="6400800" y="1874520"/>
            <a:ext cx="4983120" cy="3286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350" strike="noStrike" u="none">
                <a:solidFill>
                  <a:srgbClr val="2D2F38"/>
                </a:solidFill>
                <a:effectLst/>
                <a:uFillTx/>
                <a:latin typeface="Aptos"/>
                <a:ea typeface="Aptos"/>
              </a:rPr>
              <a:t>What is still a hypothesis or limitation</a:t>
            </a:r>
            <a:endParaRPr b="0" lang="en-US" sz="1350" strike="noStrike" u="none">
              <a:solidFill>
                <a:srgbClr val="2D2F38"/>
              </a:solidFill>
              <a:effectLst/>
              <a:uFillTx/>
              <a:latin typeface="Arial"/>
            </a:endParaRPr>
          </a:p>
        </p:txBody>
      </p:sp>
      <p:sp>
        <p:nvSpPr>
          <p:cNvPr id="255" name="Shape 19"/>
          <p:cNvSpPr/>
          <p:nvPr/>
        </p:nvSpPr>
        <p:spPr>
          <a:xfrm>
            <a:off x="6455520" y="2514600"/>
            <a:ext cx="63720" cy="63720"/>
          </a:xfrm>
          <a:prstGeom prst="ellipse">
            <a:avLst/>
          </a:prstGeom>
          <a:solidFill>
            <a:srgbClr val="2D3858"/>
          </a:solidFill>
          <a:ln w="7620">
            <a:solidFill>
              <a:srgbClr val="2D3858"/>
            </a:solidFill>
            <a:round/>
          </a:ln>
        </p:spPr>
        <p:style>
          <a:lnRef idx="0"/>
          <a:fillRef idx="0"/>
          <a:effectRef idx="0"/>
          <a:fontRef idx="minor"/>
        </p:style>
        <p:txBody>
          <a:bodyPr lIns="90000" rIns="90000" tIns="0" bIns="0" anchor="t">
            <a:noAutofit/>
          </a:bodyPr>
          <a:p>
            <a:endParaRPr b="0" lang="en-US" sz="1800" strike="noStrike" u="none">
              <a:solidFill>
                <a:srgbClr val="ffffff"/>
              </a:solidFill>
              <a:effectLst/>
              <a:uFillTx/>
              <a:latin typeface="Arial"/>
            </a:endParaRPr>
          </a:p>
        </p:txBody>
      </p:sp>
      <p:sp>
        <p:nvSpPr>
          <p:cNvPr id="256" name="Text 20"/>
          <p:cNvSpPr/>
          <p:nvPr/>
        </p:nvSpPr>
        <p:spPr>
          <a:xfrm>
            <a:off x="6611040" y="2423160"/>
            <a:ext cx="4672080" cy="465840"/>
          </a:xfrm>
          <a:prstGeom prst="rect">
            <a:avLst/>
          </a:prstGeom>
          <a:noFill/>
          <a:ln w="0">
            <a:noFill/>
          </a:ln>
        </p:spPr>
        <p:style>
          <a:lnRef idx="0"/>
          <a:fillRef idx="0"/>
          <a:effectRef idx="0"/>
          <a:fontRef idx="minor"/>
        </p:style>
        <p:txBody>
          <a:bodyPr lIns="0" rIns="0" tIns="0" bIns="0" anchor="t">
            <a:normAutofit/>
          </a:bodyPr>
          <a:p>
            <a:pPr defTabSz="914400">
              <a:lnSpc>
                <a:spcPct val="100000"/>
              </a:lnSpc>
              <a:tabLst>
                <a:tab algn="l" pos="0"/>
              </a:tabLst>
            </a:pPr>
            <a:r>
              <a:rPr b="0" lang="en-US" sz="1150" strike="noStrike" u="none">
                <a:solidFill>
                  <a:srgbClr val="626B7B"/>
                </a:solidFill>
                <a:effectLst/>
                <a:uFillTx/>
                <a:latin typeface="Aptos"/>
                <a:ea typeface="Aptos"/>
              </a:rPr>
              <a:t>Faster than manual reconstruction - not measured.</a:t>
            </a:r>
            <a:endParaRPr b="0" lang="en-US" sz="1150" strike="noStrike" u="none">
              <a:solidFill>
                <a:srgbClr val="2D2F38"/>
              </a:solidFill>
              <a:effectLst/>
              <a:uFillTx/>
              <a:latin typeface="Arial"/>
            </a:endParaRPr>
          </a:p>
        </p:txBody>
      </p:sp>
      <p:sp>
        <p:nvSpPr>
          <p:cNvPr id="257" name="Shape 21"/>
          <p:cNvSpPr/>
          <p:nvPr/>
        </p:nvSpPr>
        <p:spPr>
          <a:xfrm>
            <a:off x="6455520" y="2999160"/>
            <a:ext cx="63720" cy="63720"/>
          </a:xfrm>
          <a:prstGeom prst="ellipse">
            <a:avLst/>
          </a:prstGeom>
          <a:solidFill>
            <a:srgbClr val="2D3858"/>
          </a:solidFill>
          <a:ln w="7620">
            <a:solidFill>
              <a:srgbClr val="2D3858"/>
            </a:solidFill>
            <a:round/>
          </a:ln>
        </p:spPr>
        <p:style>
          <a:lnRef idx="0"/>
          <a:fillRef idx="0"/>
          <a:effectRef idx="0"/>
          <a:fontRef idx="minor"/>
        </p:style>
        <p:txBody>
          <a:bodyPr lIns="90000" rIns="90000" tIns="0" bIns="0" anchor="t">
            <a:noAutofit/>
          </a:bodyPr>
          <a:p>
            <a:endParaRPr b="0" lang="en-US" sz="1800" strike="noStrike" u="none">
              <a:solidFill>
                <a:srgbClr val="ffffff"/>
              </a:solidFill>
              <a:effectLst/>
              <a:uFillTx/>
              <a:latin typeface="Arial"/>
            </a:endParaRPr>
          </a:p>
        </p:txBody>
      </p:sp>
      <p:sp>
        <p:nvSpPr>
          <p:cNvPr id="258" name="Text 22"/>
          <p:cNvSpPr/>
          <p:nvPr/>
        </p:nvSpPr>
        <p:spPr>
          <a:xfrm>
            <a:off x="6611040" y="2907720"/>
            <a:ext cx="4672080" cy="465840"/>
          </a:xfrm>
          <a:prstGeom prst="rect">
            <a:avLst/>
          </a:prstGeom>
          <a:noFill/>
          <a:ln w="0">
            <a:noFill/>
          </a:ln>
        </p:spPr>
        <p:style>
          <a:lnRef idx="0"/>
          <a:fillRef idx="0"/>
          <a:effectRef idx="0"/>
          <a:fontRef idx="minor"/>
        </p:style>
        <p:txBody>
          <a:bodyPr lIns="0" rIns="0" tIns="0" bIns="0" anchor="t">
            <a:normAutofit/>
          </a:bodyPr>
          <a:p>
            <a:pPr defTabSz="914400">
              <a:lnSpc>
                <a:spcPct val="100000"/>
              </a:lnSpc>
              <a:tabLst>
                <a:tab algn="l" pos="0"/>
              </a:tabLst>
            </a:pPr>
            <a:r>
              <a:rPr b="0" lang="en-US" sz="1150" strike="noStrike" u="none">
                <a:solidFill>
                  <a:srgbClr val="626B7B"/>
                </a:solidFill>
                <a:effectLst/>
                <a:uFillTx/>
                <a:latin typeface="Aptos"/>
                <a:ea typeface="Aptos"/>
              </a:rPr>
              <a:t>Better than existing traceability software - not validated.</a:t>
            </a:r>
            <a:endParaRPr b="0" lang="en-US" sz="1150" strike="noStrike" u="none">
              <a:solidFill>
                <a:srgbClr val="2D2F38"/>
              </a:solidFill>
              <a:effectLst/>
              <a:uFillTx/>
              <a:latin typeface="Arial"/>
            </a:endParaRPr>
          </a:p>
        </p:txBody>
      </p:sp>
      <p:sp>
        <p:nvSpPr>
          <p:cNvPr id="259" name="Shape 23"/>
          <p:cNvSpPr/>
          <p:nvPr/>
        </p:nvSpPr>
        <p:spPr>
          <a:xfrm>
            <a:off x="6455520" y="3483720"/>
            <a:ext cx="63720" cy="63720"/>
          </a:xfrm>
          <a:prstGeom prst="ellipse">
            <a:avLst/>
          </a:prstGeom>
          <a:solidFill>
            <a:srgbClr val="2D3858"/>
          </a:solidFill>
          <a:ln w="7620">
            <a:solidFill>
              <a:srgbClr val="2D3858"/>
            </a:solidFill>
            <a:round/>
          </a:ln>
        </p:spPr>
        <p:style>
          <a:lnRef idx="0"/>
          <a:fillRef idx="0"/>
          <a:effectRef idx="0"/>
          <a:fontRef idx="minor"/>
        </p:style>
        <p:txBody>
          <a:bodyPr lIns="90000" rIns="90000" tIns="0" bIns="0" anchor="t">
            <a:noAutofit/>
          </a:bodyPr>
          <a:p>
            <a:endParaRPr b="0" lang="en-US" sz="1800" strike="noStrike" u="none">
              <a:solidFill>
                <a:srgbClr val="ffffff"/>
              </a:solidFill>
              <a:effectLst/>
              <a:uFillTx/>
              <a:latin typeface="Arial"/>
            </a:endParaRPr>
          </a:p>
        </p:txBody>
      </p:sp>
      <p:sp>
        <p:nvSpPr>
          <p:cNvPr id="260" name="Text 24"/>
          <p:cNvSpPr/>
          <p:nvPr/>
        </p:nvSpPr>
        <p:spPr>
          <a:xfrm>
            <a:off x="6611040" y="3392280"/>
            <a:ext cx="4672080" cy="465840"/>
          </a:xfrm>
          <a:prstGeom prst="rect">
            <a:avLst/>
          </a:prstGeom>
          <a:noFill/>
          <a:ln w="0">
            <a:noFill/>
          </a:ln>
        </p:spPr>
        <p:style>
          <a:lnRef idx="0"/>
          <a:fillRef idx="0"/>
          <a:effectRef idx="0"/>
          <a:fontRef idx="minor"/>
        </p:style>
        <p:txBody>
          <a:bodyPr lIns="0" rIns="0" tIns="0" bIns="0" anchor="t">
            <a:normAutofit/>
          </a:bodyPr>
          <a:p>
            <a:pPr defTabSz="914400">
              <a:lnSpc>
                <a:spcPct val="100000"/>
              </a:lnSpc>
              <a:tabLst>
                <a:tab algn="l" pos="0"/>
              </a:tabLst>
            </a:pPr>
            <a:r>
              <a:rPr b="0" lang="en-US" sz="1150" strike="noStrike" u="none">
                <a:solidFill>
                  <a:srgbClr val="626B7B"/>
                </a:solidFill>
                <a:effectLst/>
                <a:uFillTx/>
                <a:latin typeface="Aptos"/>
                <a:ea typeface="Aptos"/>
              </a:rPr>
              <a:t>Robust on real business documents - not yet tested.</a:t>
            </a:r>
            <a:endParaRPr b="0" lang="en-US" sz="1150" strike="noStrike" u="none">
              <a:solidFill>
                <a:srgbClr val="2D2F38"/>
              </a:solidFill>
              <a:effectLst/>
              <a:uFillTx/>
              <a:latin typeface="Arial"/>
            </a:endParaRPr>
          </a:p>
        </p:txBody>
      </p:sp>
      <p:sp>
        <p:nvSpPr>
          <p:cNvPr id="261" name="Shape 25"/>
          <p:cNvSpPr/>
          <p:nvPr/>
        </p:nvSpPr>
        <p:spPr>
          <a:xfrm>
            <a:off x="6455520" y="3968640"/>
            <a:ext cx="63720" cy="63720"/>
          </a:xfrm>
          <a:prstGeom prst="ellipse">
            <a:avLst/>
          </a:prstGeom>
          <a:solidFill>
            <a:srgbClr val="2D3858"/>
          </a:solidFill>
          <a:ln w="7620">
            <a:solidFill>
              <a:srgbClr val="2D3858"/>
            </a:solidFill>
            <a:round/>
          </a:ln>
        </p:spPr>
        <p:style>
          <a:lnRef idx="0"/>
          <a:fillRef idx="0"/>
          <a:effectRef idx="0"/>
          <a:fontRef idx="minor"/>
        </p:style>
        <p:txBody>
          <a:bodyPr lIns="90000" rIns="90000" tIns="0" bIns="0" anchor="t">
            <a:noAutofit/>
          </a:bodyPr>
          <a:p>
            <a:endParaRPr b="0" lang="en-US" sz="1800" strike="noStrike" u="none">
              <a:solidFill>
                <a:srgbClr val="ffffff"/>
              </a:solidFill>
              <a:effectLst/>
              <a:uFillTx/>
              <a:latin typeface="Arial"/>
            </a:endParaRPr>
          </a:p>
        </p:txBody>
      </p:sp>
      <p:sp>
        <p:nvSpPr>
          <p:cNvPr id="262" name="Text 26"/>
          <p:cNvSpPr/>
          <p:nvPr/>
        </p:nvSpPr>
        <p:spPr>
          <a:xfrm>
            <a:off x="6611040" y="3877200"/>
            <a:ext cx="4672080" cy="465840"/>
          </a:xfrm>
          <a:prstGeom prst="rect">
            <a:avLst/>
          </a:prstGeom>
          <a:noFill/>
          <a:ln w="0">
            <a:noFill/>
          </a:ln>
        </p:spPr>
        <p:style>
          <a:lnRef idx="0"/>
          <a:fillRef idx="0"/>
          <a:effectRef idx="0"/>
          <a:fontRef idx="minor"/>
        </p:style>
        <p:txBody>
          <a:bodyPr lIns="0" rIns="0" tIns="0" bIns="0" anchor="t">
            <a:normAutofit/>
          </a:bodyPr>
          <a:p>
            <a:pPr defTabSz="914400">
              <a:lnSpc>
                <a:spcPct val="100000"/>
              </a:lnSpc>
              <a:tabLst>
                <a:tab algn="l" pos="0"/>
              </a:tabLst>
            </a:pPr>
            <a:r>
              <a:rPr b="0" lang="en-US" sz="1150" strike="noStrike" u="none">
                <a:solidFill>
                  <a:srgbClr val="626B7B"/>
                </a:solidFill>
                <a:effectLst/>
                <a:uFillTx/>
                <a:latin typeface="Aptos"/>
                <a:ea typeface="Aptos"/>
              </a:rPr>
              <a:t>ERP integrations - not implemented.</a:t>
            </a:r>
            <a:endParaRPr b="0" lang="en-US" sz="1150" strike="noStrike" u="none">
              <a:solidFill>
                <a:srgbClr val="2D2F38"/>
              </a:solidFill>
              <a:effectLst/>
              <a:uFillTx/>
              <a:latin typeface="Arial"/>
            </a:endParaRPr>
          </a:p>
        </p:txBody>
      </p:sp>
      <p:sp>
        <p:nvSpPr>
          <p:cNvPr id="263" name="Shape 27"/>
          <p:cNvSpPr/>
          <p:nvPr/>
        </p:nvSpPr>
        <p:spPr>
          <a:xfrm>
            <a:off x="6455520" y="4453200"/>
            <a:ext cx="63720" cy="63720"/>
          </a:xfrm>
          <a:prstGeom prst="ellipse">
            <a:avLst/>
          </a:prstGeom>
          <a:solidFill>
            <a:srgbClr val="2D3858"/>
          </a:solidFill>
          <a:ln w="7620">
            <a:solidFill>
              <a:srgbClr val="2D3858"/>
            </a:solidFill>
            <a:round/>
          </a:ln>
        </p:spPr>
        <p:style>
          <a:lnRef idx="0"/>
          <a:fillRef idx="0"/>
          <a:effectRef idx="0"/>
          <a:fontRef idx="minor"/>
        </p:style>
        <p:txBody>
          <a:bodyPr lIns="90000" rIns="90000" tIns="0" bIns="0" anchor="t">
            <a:noAutofit/>
          </a:bodyPr>
          <a:p>
            <a:endParaRPr b="0" lang="en-US" sz="1800" strike="noStrike" u="none">
              <a:solidFill>
                <a:srgbClr val="ffffff"/>
              </a:solidFill>
              <a:effectLst/>
              <a:uFillTx/>
              <a:latin typeface="Arial"/>
            </a:endParaRPr>
          </a:p>
        </p:txBody>
      </p:sp>
      <p:sp>
        <p:nvSpPr>
          <p:cNvPr id="264" name="Text 28"/>
          <p:cNvSpPr/>
          <p:nvPr/>
        </p:nvSpPr>
        <p:spPr>
          <a:xfrm>
            <a:off x="6611040" y="4361760"/>
            <a:ext cx="4672080" cy="465840"/>
          </a:xfrm>
          <a:prstGeom prst="rect">
            <a:avLst/>
          </a:prstGeom>
          <a:noFill/>
          <a:ln w="0">
            <a:noFill/>
          </a:ln>
        </p:spPr>
        <p:style>
          <a:lnRef idx="0"/>
          <a:fillRef idx="0"/>
          <a:effectRef idx="0"/>
          <a:fontRef idx="minor"/>
        </p:style>
        <p:txBody>
          <a:bodyPr lIns="0" rIns="0" tIns="0" bIns="0" anchor="t">
            <a:normAutofit/>
          </a:bodyPr>
          <a:p>
            <a:pPr defTabSz="914400">
              <a:lnSpc>
                <a:spcPct val="100000"/>
              </a:lnSpc>
              <a:tabLst>
                <a:tab algn="l" pos="0"/>
              </a:tabLst>
            </a:pPr>
            <a:r>
              <a:rPr b="0" lang="en-US" sz="1150" strike="noStrike" u="none">
                <a:solidFill>
                  <a:srgbClr val="626B7B"/>
                </a:solidFill>
                <a:effectLst/>
                <a:uFillTx/>
                <a:latin typeface="Aptos"/>
                <a:ea typeface="Aptos"/>
              </a:rPr>
              <a:t>Quote-verbatim does not prove the extracted value is semantically correct.</a:t>
            </a:r>
            <a:endParaRPr b="0" lang="en-US" sz="1150" strike="noStrike" u="none">
              <a:solidFill>
                <a:srgbClr val="2D2F38"/>
              </a:solidFill>
              <a:effectLst/>
              <a:uFillTx/>
              <a:latin typeface="Arial"/>
            </a:endParaRPr>
          </a:p>
        </p:txBody>
      </p:sp>
      <p:sp>
        <p:nvSpPr>
          <p:cNvPr id="265" name="Shape 29"/>
          <p:cNvSpPr/>
          <p:nvPr/>
        </p:nvSpPr>
        <p:spPr>
          <a:xfrm>
            <a:off x="1234440" y="5413320"/>
            <a:ext cx="9719640" cy="502560"/>
          </a:xfrm>
          <a:prstGeom prst="roundRect">
            <a:avLst>
              <a:gd name="adj" fmla="val 18182"/>
            </a:avLst>
          </a:prstGeom>
          <a:solidFill>
            <a:srgbClr val="F4F6FA"/>
          </a:solidFill>
          <a:ln w="10160">
            <a:solidFill>
              <a:srgbClr val="E5E8F0"/>
            </a:solidFill>
            <a:round/>
          </a:ln>
        </p:spPr>
        <p:style>
          <a:lnRef idx="0"/>
          <a:fillRef idx="0"/>
          <a:effectRef idx="0"/>
          <a:fontRef idx="minor"/>
        </p:style>
        <p:txBody>
          <a:bodyPr lIns="90000" rIns="90000" tIns="45000" bIns="45000" anchor="t">
            <a:noAutofit/>
          </a:bodyPr>
          <a:p>
            <a:endParaRPr b="0" lang="en-US" sz="1800" strike="noStrike" u="none">
              <a:solidFill>
                <a:srgbClr val="2D2F38"/>
              </a:solidFill>
              <a:effectLst/>
              <a:uFillTx/>
              <a:latin typeface="Arial"/>
            </a:endParaRPr>
          </a:p>
        </p:txBody>
      </p:sp>
      <p:sp>
        <p:nvSpPr>
          <p:cNvPr id="266" name="Text 30"/>
          <p:cNvSpPr/>
          <p:nvPr/>
        </p:nvSpPr>
        <p:spPr>
          <a:xfrm>
            <a:off x="1417320" y="5513760"/>
            <a:ext cx="9353880" cy="28296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310" strike="noStrike" u="none">
                <a:solidFill>
                  <a:srgbClr val="2D2F38"/>
                </a:solidFill>
                <a:effectLst/>
                <a:uFillTx/>
                <a:latin typeface="Aptos"/>
                <a:ea typeface="Aptos"/>
              </a:rPr>
              <a:t>Human-owned food-safety decisions · explicit uncertainty · auditable review</a:t>
            </a:r>
            <a:endParaRPr b="0" lang="en-US" sz="1310" strike="noStrike" u="none">
              <a:solidFill>
                <a:srgbClr val="2D2F38"/>
              </a:solidFill>
              <a:effectLst/>
              <a:uFillTx/>
              <a:latin typeface="Arial"/>
            </a:endParaRPr>
          </a:p>
        </p:txBody>
      </p:sp>
      <p:sp>
        <p:nvSpPr>
          <p:cNvPr id="267" name="PlaceHolder 1"/>
          <p:cNvSpPr>
            <a:spLocks noGrp="1"/>
          </p:cNvSpPr>
          <p:nvPr>
            <p:ph type="sldNum" idx="10"/>
          </p:nvPr>
        </p:nvSpPr>
        <p:spPr>
          <a:xfrm>
            <a:off x="11685960" y="6565320"/>
            <a:ext cx="799560" cy="299520"/>
          </a:xfrm>
          <a:prstGeom prst="rect">
            <a:avLst/>
          </a:prstGeom>
          <a:noFill/>
          <a:ln w="0">
            <a:noFill/>
          </a:ln>
        </p:spPr>
        <p:txBody>
          <a:bodyPr lIns="90000" rIns="90000" tIns="45000" bIns="45000" anchor="t">
            <a:noAutofit/>
          </a:bodyPr>
          <a:lstStyle>
            <a:lvl1pPr indent="0" defTabSz="914400">
              <a:lnSpc>
                <a:spcPct val="100000"/>
              </a:lnSpc>
              <a:buNone/>
              <a:defRPr b="0" lang="en-US" sz="700" strike="noStrike" u="none">
                <a:solidFill>
                  <a:srgbClr val="626B7B"/>
                </a:solidFill>
                <a:effectLst/>
                <a:uFillTx/>
                <a:latin typeface="Aptos"/>
                <a:ea typeface="Aptos"/>
              </a:defRPr>
            </a:lvl1pPr>
          </a:lstStyle>
          <a:p>
            <a:pPr indent="0" defTabSz="914400">
              <a:lnSpc>
                <a:spcPct val="100000"/>
              </a:lnSpc>
              <a:buNone/>
            </a:pPr>
            <a:fld id="{391379F0-0FB6-4E6E-9755-1454A6484A66}" type="slidenum">
              <a:rPr b="0" lang="en-US" sz="700" strike="noStrike" u="none">
                <a:solidFill>
                  <a:srgbClr val="626B7B"/>
                </a:solidFill>
                <a:effectLst/>
                <a:uFillTx/>
                <a:latin typeface="Aptos"/>
                <a:ea typeface="Aptos"/>
              </a:rPr>
              <a:t>7</a:t>
            </a:fld>
            <a:endParaRPr b="0" lang="en-US" sz="700" strike="noStrike" u="none">
              <a:solidFill>
                <a:srgbClr val="2D2F38"/>
              </a:solidFill>
              <a:effectLst/>
              <a:uFillTx/>
              <a:latin typeface="Times New Roman"/>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8" name="Text 0"/>
          <p:cNvSpPr/>
          <p:nvPr/>
        </p:nvSpPr>
        <p:spPr>
          <a:xfrm>
            <a:off x="567000" y="384120"/>
            <a:ext cx="10881000" cy="1825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900" spc="181" strike="noStrike" u="none">
                <a:solidFill>
                  <a:srgbClr val="39466C"/>
                </a:solidFill>
                <a:effectLst/>
                <a:uFillTx/>
                <a:latin typeface="Aptos"/>
                <a:ea typeface="Aptos"/>
              </a:rPr>
              <a:t>07 / WHAT THE BENCHMARK SAYS</a:t>
            </a:r>
            <a:endParaRPr b="0" lang="en-US" sz="900" strike="noStrike" u="none">
              <a:solidFill>
                <a:srgbClr val="2D2F38"/>
              </a:solidFill>
              <a:effectLst/>
              <a:uFillTx/>
              <a:latin typeface="Arial"/>
            </a:endParaRPr>
          </a:p>
        </p:txBody>
      </p:sp>
      <p:sp>
        <p:nvSpPr>
          <p:cNvPr id="269" name="Text 1"/>
          <p:cNvSpPr/>
          <p:nvPr/>
        </p:nvSpPr>
        <p:spPr>
          <a:xfrm>
            <a:off x="567000" y="658440"/>
            <a:ext cx="11018160" cy="4752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2600" strike="noStrike" u="none">
                <a:solidFill>
                  <a:srgbClr val="2D2F38"/>
                </a:solidFill>
                <a:effectLst/>
                <a:uFillTx/>
                <a:latin typeface="Aptos"/>
                <a:ea typeface="Aptos"/>
              </a:rPr>
              <a:t>Observed results-without pretending this is an accuracy study</a:t>
            </a:r>
            <a:endParaRPr b="0" lang="en-US" sz="2600" strike="noStrike" u="none">
              <a:solidFill>
                <a:srgbClr val="2D2F38"/>
              </a:solidFill>
              <a:effectLst/>
              <a:uFillTx/>
              <a:latin typeface="Arial"/>
            </a:endParaRPr>
          </a:p>
        </p:txBody>
      </p:sp>
      <p:sp>
        <p:nvSpPr>
          <p:cNvPr id="270" name="Text 2"/>
          <p:cNvSpPr/>
          <p:nvPr/>
        </p:nvSpPr>
        <p:spPr>
          <a:xfrm>
            <a:off x="585360" y="1197720"/>
            <a:ext cx="10972440" cy="383760"/>
          </a:xfrm>
          <a:prstGeom prst="rect">
            <a:avLst/>
          </a:prstGeom>
          <a:noFill/>
          <a:ln w="0">
            <a:noFill/>
          </a:ln>
        </p:spPr>
        <p:style>
          <a:lnRef idx="0"/>
          <a:fillRef idx="0"/>
          <a:effectRef idx="0"/>
          <a:fontRef idx="minor"/>
        </p:style>
        <p:txBody>
          <a:bodyPr lIns="0" rIns="0" tIns="0" bIns="0" anchor="t">
            <a:normAutofit/>
          </a:bodyPr>
          <a:p>
            <a:pPr defTabSz="914400">
              <a:lnSpc>
                <a:spcPct val="100000"/>
              </a:lnSpc>
              <a:tabLst>
                <a:tab algn="l" pos="0"/>
              </a:tabLst>
            </a:pPr>
            <a:r>
              <a:rPr b="0" lang="en-US" sz="1250" strike="noStrike" u="none">
                <a:solidFill>
                  <a:srgbClr val="626B7B"/>
                </a:solidFill>
                <a:effectLst/>
                <a:uFillTx/>
                <a:latin typeface="Aptos"/>
                <a:ea typeface="Aptos"/>
              </a:rPr>
              <a:t>Run 3 · isolated pilot data root · local llama3.2:3b · one authored fictional scenario</a:t>
            </a:r>
            <a:endParaRPr b="0" lang="en-US" sz="1250" strike="noStrike" u="none">
              <a:solidFill>
                <a:srgbClr val="2D2F38"/>
              </a:solidFill>
              <a:effectLst/>
              <a:uFillTx/>
              <a:latin typeface="Arial"/>
            </a:endParaRPr>
          </a:p>
        </p:txBody>
      </p:sp>
      <p:sp>
        <p:nvSpPr>
          <p:cNvPr id="271" name="Shape 3"/>
          <p:cNvSpPr/>
          <p:nvPr/>
        </p:nvSpPr>
        <p:spPr>
          <a:xfrm>
            <a:off x="640080" y="1847160"/>
            <a:ext cx="2578320" cy="1078560"/>
          </a:xfrm>
          <a:prstGeom prst="roundRect">
            <a:avLst>
              <a:gd name="adj" fmla="val 10169"/>
            </a:avLst>
          </a:prstGeom>
          <a:solidFill>
            <a:srgbClr val="ffffff"/>
          </a:solidFill>
          <a:ln w="10160">
            <a:solidFill>
              <a:srgbClr val="E5E8F0"/>
            </a:solidFill>
            <a:round/>
          </a:ln>
        </p:spPr>
        <p:style>
          <a:lnRef idx="0"/>
          <a:fillRef idx="0"/>
          <a:effectRef idx="0"/>
          <a:fontRef idx="minor"/>
        </p:style>
        <p:txBody>
          <a:bodyPr lIns="90000" rIns="90000" tIns="45000" bIns="45000" anchor="t">
            <a:noAutofit/>
          </a:bodyPr>
          <a:p>
            <a:endParaRPr b="0" lang="en-US" sz="1800" strike="noStrike" u="none">
              <a:solidFill>
                <a:srgbClr val="2D2F38"/>
              </a:solidFill>
              <a:effectLst/>
              <a:uFillTx/>
              <a:latin typeface="Arial"/>
            </a:endParaRPr>
          </a:p>
        </p:txBody>
      </p:sp>
      <p:sp>
        <p:nvSpPr>
          <p:cNvPr id="272" name="Text 4"/>
          <p:cNvSpPr/>
          <p:nvPr/>
        </p:nvSpPr>
        <p:spPr>
          <a:xfrm>
            <a:off x="786240" y="2030040"/>
            <a:ext cx="2285640" cy="41112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2300" strike="noStrike" u="none">
                <a:solidFill>
                  <a:srgbClr val="39466C"/>
                </a:solidFill>
                <a:effectLst/>
                <a:uFillTx/>
                <a:latin typeface="Aptos"/>
                <a:ea typeface="Aptos"/>
              </a:rPr>
              <a:t>53.1 s</a:t>
            </a:r>
            <a:endParaRPr b="0" lang="en-US" sz="2300" strike="noStrike" u="none">
              <a:solidFill>
                <a:srgbClr val="2D2F38"/>
              </a:solidFill>
              <a:effectLst/>
              <a:uFillTx/>
              <a:latin typeface="Arial"/>
            </a:endParaRPr>
          </a:p>
        </p:txBody>
      </p:sp>
      <p:sp>
        <p:nvSpPr>
          <p:cNvPr id="273" name="Text 5"/>
          <p:cNvSpPr/>
          <p:nvPr/>
        </p:nvSpPr>
        <p:spPr>
          <a:xfrm>
            <a:off x="749880" y="2532960"/>
            <a:ext cx="2358720" cy="2008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970" strike="noStrike" u="none">
                <a:solidFill>
                  <a:srgbClr val="626B7B"/>
                </a:solidFill>
                <a:effectLst/>
                <a:uFillTx/>
                <a:latin typeface="Aptos"/>
                <a:ea typeface="Aptos"/>
              </a:rPr>
              <a:t>7-document extraction</a:t>
            </a:r>
            <a:endParaRPr b="0" lang="en-US" sz="970" strike="noStrike" u="none">
              <a:solidFill>
                <a:srgbClr val="2D2F38"/>
              </a:solidFill>
              <a:effectLst/>
              <a:uFillTx/>
              <a:latin typeface="Arial"/>
            </a:endParaRPr>
          </a:p>
        </p:txBody>
      </p:sp>
      <p:sp>
        <p:nvSpPr>
          <p:cNvPr id="274" name="Shape 6"/>
          <p:cNvSpPr/>
          <p:nvPr/>
        </p:nvSpPr>
        <p:spPr>
          <a:xfrm>
            <a:off x="3520440" y="1847160"/>
            <a:ext cx="2578320" cy="1078560"/>
          </a:xfrm>
          <a:prstGeom prst="roundRect">
            <a:avLst>
              <a:gd name="adj" fmla="val 10169"/>
            </a:avLst>
          </a:prstGeom>
          <a:solidFill>
            <a:srgbClr val="ffffff"/>
          </a:solidFill>
          <a:ln w="10160">
            <a:solidFill>
              <a:srgbClr val="E5E8F0"/>
            </a:solidFill>
            <a:round/>
          </a:ln>
        </p:spPr>
        <p:style>
          <a:lnRef idx="0"/>
          <a:fillRef idx="0"/>
          <a:effectRef idx="0"/>
          <a:fontRef idx="minor"/>
        </p:style>
        <p:txBody>
          <a:bodyPr lIns="90000" rIns="90000" tIns="45000" bIns="45000" anchor="t">
            <a:noAutofit/>
          </a:bodyPr>
          <a:p>
            <a:endParaRPr b="0" lang="en-US" sz="1800" strike="noStrike" u="none">
              <a:solidFill>
                <a:srgbClr val="2D2F38"/>
              </a:solidFill>
              <a:effectLst/>
              <a:uFillTx/>
              <a:latin typeface="Arial"/>
            </a:endParaRPr>
          </a:p>
        </p:txBody>
      </p:sp>
      <p:sp>
        <p:nvSpPr>
          <p:cNvPr id="275" name="Text 7"/>
          <p:cNvSpPr/>
          <p:nvPr/>
        </p:nvSpPr>
        <p:spPr>
          <a:xfrm>
            <a:off x="3666600" y="2030040"/>
            <a:ext cx="2285640" cy="41112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2300" strike="noStrike" u="none">
                <a:solidFill>
                  <a:srgbClr val="39466C"/>
                </a:solidFill>
                <a:effectLst/>
                <a:uFillTx/>
                <a:latin typeface="Aptos"/>
                <a:ea typeface="Aptos"/>
              </a:rPr>
              <a:t>8 / 13</a:t>
            </a:r>
            <a:endParaRPr b="0" lang="en-US" sz="2300" strike="noStrike" u="none">
              <a:solidFill>
                <a:srgbClr val="2D2F38"/>
              </a:solidFill>
              <a:effectLst/>
              <a:uFillTx/>
              <a:latin typeface="Arial"/>
            </a:endParaRPr>
          </a:p>
        </p:txBody>
      </p:sp>
      <p:sp>
        <p:nvSpPr>
          <p:cNvPr id="276" name="Text 8"/>
          <p:cNvSpPr/>
          <p:nvPr/>
        </p:nvSpPr>
        <p:spPr>
          <a:xfrm>
            <a:off x="3630240" y="2532960"/>
            <a:ext cx="2358720" cy="2008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970" strike="noStrike" u="none">
                <a:solidFill>
                  <a:srgbClr val="626B7B"/>
                </a:solidFill>
                <a:effectLst/>
                <a:uFillTx/>
                <a:latin typeface="Aptos"/>
                <a:ea typeface="Aptos"/>
              </a:rPr>
              <a:t>verbatim quote at cited line</a:t>
            </a:r>
            <a:endParaRPr b="0" lang="en-US" sz="970" strike="noStrike" u="none">
              <a:solidFill>
                <a:srgbClr val="2D2F38"/>
              </a:solidFill>
              <a:effectLst/>
              <a:uFillTx/>
              <a:latin typeface="Arial"/>
            </a:endParaRPr>
          </a:p>
        </p:txBody>
      </p:sp>
      <p:sp>
        <p:nvSpPr>
          <p:cNvPr id="277" name="Shape 9"/>
          <p:cNvSpPr/>
          <p:nvPr/>
        </p:nvSpPr>
        <p:spPr>
          <a:xfrm>
            <a:off x="6400800" y="1847160"/>
            <a:ext cx="2578320" cy="1078560"/>
          </a:xfrm>
          <a:prstGeom prst="roundRect">
            <a:avLst>
              <a:gd name="adj" fmla="val 10169"/>
            </a:avLst>
          </a:prstGeom>
          <a:solidFill>
            <a:srgbClr val="ffffff"/>
          </a:solidFill>
          <a:ln w="10160">
            <a:solidFill>
              <a:srgbClr val="E5E8F0"/>
            </a:solidFill>
            <a:round/>
          </a:ln>
        </p:spPr>
        <p:style>
          <a:lnRef idx="0"/>
          <a:fillRef idx="0"/>
          <a:effectRef idx="0"/>
          <a:fontRef idx="minor"/>
        </p:style>
        <p:txBody>
          <a:bodyPr lIns="90000" rIns="90000" tIns="45000" bIns="45000" anchor="t">
            <a:noAutofit/>
          </a:bodyPr>
          <a:p>
            <a:endParaRPr b="0" lang="en-US" sz="1800" strike="noStrike" u="none">
              <a:solidFill>
                <a:srgbClr val="2D2F38"/>
              </a:solidFill>
              <a:effectLst/>
              <a:uFillTx/>
              <a:latin typeface="Arial"/>
            </a:endParaRPr>
          </a:p>
        </p:txBody>
      </p:sp>
      <p:sp>
        <p:nvSpPr>
          <p:cNvPr id="278" name="Text 10"/>
          <p:cNvSpPr/>
          <p:nvPr/>
        </p:nvSpPr>
        <p:spPr>
          <a:xfrm>
            <a:off x="6546960" y="2030040"/>
            <a:ext cx="2285640" cy="41112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2300" strike="noStrike" u="none">
                <a:solidFill>
                  <a:srgbClr val="2D3858"/>
                </a:solidFill>
                <a:effectLst/>
                <a:uFillTx/>
                <a:latin typeface="Aptos"/>
                <a:ea typeface="Aptos"/>
              </a:rPr>
              <a:t>5 / 13</a:t>
            </a:r>
            <a:endParaRPr b="0" lang="en-US" sz="2300" strike="noStrike" u="none">
              <a:solidFill>
                <a:srgbClr val="2D2F38"/>
              </a:solidFill>
              <a:effectLst/>
              <a:uFillTx/>
              <a:latin typeface="Arial"/>
            </a:endParaRPr>
          </a:p>
        </p:txBody>
      </p:sp>
      <p:sp>
        <p:nvSpPr>
          <p:cNvPr id="279" name="Text 11"/>
          <p:cNvSpPr/>
          <p:nvPr/>
        </p:nvSpPr>
        <p:spPr>
          <a:xfrm>
            <a:off x="6510600" y="2532960"/>
            <a:ext cx="2358720" cy="2008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970" strike="noStrike" u="none">
                <a:solidFill>
                  <a:srgbClr val="626B7B"/>
                </a:solidFill>
                <a:effectLst/>
                <a:uFillTx/>
                <a:latin typeface="Aptos"/>
                <a:ea typeface="Aptos"/>
              </a:rPr>
              <a:t>identifier-only; flagged</a:t>
            </a:r>
            <a:endParaRPr b="0" lang="en-US" sz="970" strike="noStrike" u="none">
              <a:solidFill>
                <a:srgbClr val="2D2F38"/>
              </a:solidFill>
              <a:effectLst/>
              <a:uFillTx/>
              <a:latin typeface="Arial"/>
            </a:endParaRPr>
          </a:p>
        </p:txBody>
      </p:sp>
      <p:sp>
        <p:nvSpPr>
          <p:cNvPr id="280" name="Shape 12"/>
          <p:cNvSpPr/>
          <p:nvPr/>
        </p:nvSpPr>
        <p:spPr>
          <a:xfrm>
            <a:off x="9281160" y="1847160"/>
            <a:ext cx="2578320" cy="1078560"/>
          </a:xfrm>
          <a:prstGeom prst="roundRect">
            <a:avLst>
              <a:gd name="adj" fmla="val 10169"/>
            </a:avLst>
          </a:prstGeom>
          <a:solidFill>
            <a:srgbClr val="ffffff"/>
          </a:solidFill>
          <a:ln w="10160">
            <a:solidFill>
              <a:srgbClr val="E5E8F0"/>
            </a:solidFill>
            <a:round/>
          </a:ln>
        </p:spPr>
        <p:style>
          <a:lnRef idx="0"/>
          <a:fillRef idx="0"/>
          <a:effectRef idx="0"/>
          <a:fontRef idx="minor"/>
        </p:style>
        <p:txBody>
          <a:bodyPr lIns="90000" rIns="90000" tIns="45000" bIns="45000" anchor="t">
            <a:noAutofit/>
          </a:bodyPr>
          <a:p>
            <a:endParaRPr b="0" lang="en-US" sz="1800" strike="noStrike" u="none">
              <a:solidFill>
                <a:srgbClr val="2D2F38"/>
              </a:solidFill>
              <a:effectLst/>
              <a:uFillTx/>
              <a:latin typeface="Arial"/>
            </a:endParaRPr>
          </a:p>
        </p:txBody>
      </p:sp>
      <p:sp>
        <p:nvSpPr>
          <p:cNvPr id="281" name="Text 13"/>
          <p:cNvSpPr/>
          <p:nvPr/>
        </p:nvSpPr>
        <p:spPr>
          <a:xfrm>
            <a:off x="9427320" y="2030040"/>
            <a:ext cx="2285640" cy="41112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2300" strike="noStrike" u="none">
                <a:solidFill>
                  <a:srgbClr val="39466C"/>
                </a:solidFill>
                <a:effectLst/>
                <a:uFillTx/>
                <a:latin typeface="Aptos"/>
                <a:ea typeface="Aptos"/>
              </a:rPr>
              <a:t>8 proposals</a:t>
            </a:r>
            <a:endParaRPr b="0" lang="en-US" sz="2300" strike="noStrike" u="none">
              <a:solidFill>
                <a:srgbClr val="2D2F38"/>
              </a:solidFill>
              <a:effectLst/>
              <a:uFillTx/>
              <a:latin typeface="Arial"/>
            </a:endParaRPr>
          </a:p>
        </p:txBody>
      </p:sp>
      <p:sp>
        <p:nvSpPr>
          <p:cNvPr id="282" name="Text 14"/>
          <p:cNvSpPr/>
          <p:nvPr/>
        </p:nvSpPr>
        <p:spPr>
          <a:xfrm>
            <a:off x="9390960" y="2532960"/>
            <a:ext cx="2358720" cy="2008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970" strike="noStrike" u="none">
                <a:solidFill>
                  <a:srgbClr val="626B7B"/>
                </a:solidFill>
                <a:effectLst/>
                <a:uFillTx/>
                <a:latin typeface="Aptos"/>
                <a:ea typeface="Aptos"/>
              </a:rPr>
              <a:t>7 confirmed · 1 rejected</a:t>
            </a:r>
            <a:endParaRPr b="0" lang="en-US" sz="970" strike="noStrike" u="none">
              <a:solidFill>
                <a:srgbClr val="2D2F38"/>
              </a:solidFill>
              <a:effectLst/>
              <a:uFillTx/>
              <a:latin typeface="Arial"/>
            </a:endParaRPr>
          </a:p>
        </p:txBody>
      </p:sp>
      <p:sp>
        <p:nvSpPr>
          <p:cNvPr id="283" name="Shape 15"/>
          <p:cNvSpPr/>
          <p:nvPr/>
        </p:nvSpPr>
        <p:spPr>
          <a:xfrm>
            <a:off x="658440" y="3310200"/>
            <a:ext cx="5394600" cy="1938240"/>
          </a:xfrm>
          <a:prstGeom prst="roundRect">
            <a:avLst>
              <a:gd name="adj" fmla="val 5660"/>
            </a:avLst>
          </a:prstGeom>
          <a:solidFill>
            <a:srgbClr val="DCFCE7"/>
          </a:solidFill>
          <a:ln w="10160">
            <a:solidFill>
              <a:srgbClr val="86EFAC"/>
            </a:solidFill>
            <a:round/>
          </a:ln>
        </p:spPr>
        <p:style>
          <a:lnRef idx="0"/>
          <a:fillRef idx="0"/>
          <a:effectRef idx="0"/>
          <a:fontRef idx="minor"/>
        </p:style>
        <p:txBody>
          <a:bodyPr lIns="90000" rIns="90000" tIns="45000" bIns="45000" anchor="t">
            <a:noAutofit/>
          </a:bodyPr>
          <a:p>
            <a:endParaRPr b="0" lang="en-US" sz="1800" strike="noStrike" u="none">
              <a:solidFill>
                <a:srgbClr val="2D2F38"/>
              </a:solidFill>
              <a:effectLst/>
              <a:uFillTx/>
              <a:latin typeface="Arial"/>
            </a:endParaRPr>
          </a:p>
        </p:txBody>
      </p:sp>
      <p:sp>
        <p:nvSpPr>
          <p:cNvPr id="284" name="Text 16"/>
          <p:cNvSpPr/>
          <p:nvPr/>
        </p:nvSpPr>
        <p:spPr>
          <a:xfrm>
            <a:off x="914400" y="3547800"/>
            <a:ext cx="4772880" cy="3196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600" strike="noStrike" u="none">
                <a:solidFill>
                  <a:srgbClr val="166534"/>
                </a:solidFill>
                <a:effectLst/>
                <a:uFillTx/>
                <a:latin typeface="Aptos"/>
                <a:ea typeface="Aptos"/>
              </a:rPr>
              <a:t>Outcome observed</a:t>
            </a:r>
            <a:endParaRPr b="0" lang="en-US" sz="1600" strike="noStrike" u="none">
              <a:solidFill>
                <a:srgbClr val="2D2F38"/>
              </a:solidFill>
              <a:effectLst/>
              <a:uFillTx/>
              <a:latin typeface="Arial"/>
            </a:endParaRPr>
          </a:p>
        </p:txBody>
      </p:sp>
      <p:sp>
        <p:nvSpPr>
          <p:cNvPr id="285" name="Shape 17"/>
          <p:cNvSpPr/>
          <p:nvPr/>
        </p:nvSpPr>
        <p:spPr>
          <a:xfrm>
            <a:off x="914400" y="4114800"/>
            <a:ext cx="63720" cy="63720"/>
          </a:xfrm>
          <a:prstGeom prst="ellipse">
            <a:avLst/>
          </a:prstGeom>
          <a:solidFill>
            <a:srgbClr val="166534"/>
          </a:solidFill>
          <a:ln w="7620">
            <a:solidFill>
              <a:srgbClr val="166534"/>
            </a:solidFill>
            <a:round/>
          </a:ln>
        </p:spPr>
        <p:style>
          <a:lnRef idx="0"/>
          <a:fillRef idx="0"/>
          <a:effectRef idx="0"/>
          <a:fontRef idx="minor"/>
        </p:style>
        <p:txBody>
          <a:bodyPr lIns="90000" rIns="90000" tIns="0" bIns="0" anchor="t">
            <a:noAutofit/>
          </a:bodyPr>
          <a:p>
            <a:endParaRPr b="0" lang="en-US" sz="1800" strike="noStrike" u="none">
              <a:solidFill>
                <a:srgbClr val="ffffff"/>
              </a:solidFill>
              <a:effectLst/>
              <a:uFillTx/>
              <a:latin typeface="Arial"/>
            </a:endParaRPr>
          </a:p>
        </p:txBody>
      </p:sp>
      <p:sp>
        <p:nvSpPr>
          <p:cNvPr id="286" name="Text 18"/>
          <p:cNvSpPr/>
          <p:nvPr/>
        </p:nvSpPr>
        <p:spPr>
          <a:xfrm>
            <a:off x="1069920" y="4023360"/>
            <a:ext cx="4553280" cy="264960"/>
          </a:xfrm>
          <a:prstGeom prst="rect">
            <a:avLst/>
          </a:prstGeom>
          <a:noFill/>
          <a:ln w="0">
            <a:noFill/>
          </a:ln>
        </p:spPr>
        <p:style>
          <a:lnRef idx="0"/>
          <a:fillRef idx="0"/>
          <a:effectRef idx="0"/>
          <a:fontRef idx="minor"/>
        </p:style>
        <p:txBody>
          <a:bodyPr lIns="0" rIns="0" tIns="0" bIns="0" anchor="t">
            <a:normAutofit/>
          </a:bodyPr>
          <a:p>
            <a:pPr defTabSz="914400">
              <a:lnSpc>
                <a:spcPct val="100000"/>
              </a:lnSpc>
              <a:tabLst>
                <a:tab algn="l" pos="0"/>
              </a:tabLst>
            </a:pPr>
            <a:r>
              <a:rPr b="0" lang="en-US" sz="1050" strike="noStrike" u="none">
                <a:solidFill>
                  <a:srgbClr val="2D2F38"/>
                </a:solidFill>
                <a:effectLst/>
                <a:uFillTx/>
                <a:latin typeface="Aptos"/>
                <a:ea typeface="Aptos"/>
              </a:rPr>
              <a:t>Confirmed trace: FL-1021A → Bosveld + Highveld.</a:t>
            </a:r>
            <a:endParaRPr b="0" lang="en-US" sz="1050" strike="noStrike" u="none">
              <a:solidFill>
                <a:srgbClr val="2D2F38"/>
              </a:solidFill>
              <a:effectLst/>
              <a:uFillTx/>
              <a:latin typeface="Arial"/>
            </a:endParaRPr>
          </a:p>
        </p:txBody>
      </p:sp>
      <p:sp>
        <p:nvSpPr>
          <p:cNvPr id="287" name="Shape 19"/>
          <p:cNvSpPr/>
          <p:nvPr/>
        </p:nvSpPr>
        <p:spPr>
          <a:xfrm>
            <a:off x="914400" y="4398120"/>
            <a:ext cx="63720" cy="63720"/>
          </a:xfrm>
          <a:prstGeom prst="ellipse">
            <a:avLst/>
          </a:prstGeom>
          <a:solidFill>
            <a:srgbClr val="166534"/>
          </a:solidFill>
          <a:ln w="7620">
            <a:solidFill>
              <a:srgbClr val="166534"/>
            </a:solidFill>
            <a:round/>
          </a:ln>
        </p:spPr>
        <p:style>
          <a:lnRef idx="0"/>
          <a:fillRef idx="0"/>
          <a:effectRef idx="0"/>
          <a:fontRef idx="minor"/>
        </p:style>
        <p:txBody>
          <a:bodyPr lIns="90000" rIns="90000" tIns="0" bIns="0" anchor="t">
            <a:noAutofit/>
          </a:bodyPr>
          <a:p>
            <a:endParaRPr b="0" lang="en-US" sz="1800" strike="noStrike" u="none">
              <a:solidFill>
                <a:srgbClr val="ffffff"/>
              </a:solidFill>
              <a:effectLst/>
              <a:uFillTx/>
              <a:latin typeface="Arial"/>
            </a:endParaRPr>
          </a:p>
        </p:txBody>
      </p:sp>
      <p:sp>
        <p:nvSpPr>
          <p:cNvPr id="288" name="Text 20"/>
          <p:cNvSpPr/>
          <p:nvPr/>
        </p:nvSpPr>
        <p:spPr>
          <a:xfrm>
            <a:off x="1069920" y="4306680"/>
            <a:ext cx="4553280" cy="264960"/>
          </a:xfrm>
          <a:prstGeom prst="rect">
            <a:avLst/>
          </a:prstGeom>
          <a:noFill/>
          <a:ln w="0">
            <a:noFill/>
          </a:ln>
        </p:spPr>
        <p:style>
          <a:lnRef idx="0"/>
          <a:fillRef idx="0"/>
          <a:effectRef idx="0"/>
          <a:fontRef idx="minor"/>
        </p:style>
        <p:txBody>
          <a:bodyPr lIns="0" rIns="0" tIns="0" bIns="0" anchor="t">
            <a:normAutofit/>
          </a:bodyPr>
          <a:p>
            <a:pPr defTabSz="914400">
              <a:lnSpc>
                <a:spcPct val="100000"/>
              </a:lnSpc>
              <a:tabLst>
                <a:tab algn="l" pos="0"/>
              </a:tabLst>
            </a:pPr>
            <a:r>
              <a:rPr b="0" lang="en-US" sz="1050" strike="noStrike" u="none">
                <a:solidFill>
                  <a:srgbClr val="2D2F38"/>
                </a:solidFill>
                <a:effectLst/>
                <a:uFillTx/>
                <a:latin typeface="Aptos"/>
                <a:ea typeface="Aptos"/>
              </a:rPr>
              <a:t>False-positive destination for FL-1034C rejected.</a:t>
            </a:r>
            <a:endParaRPr b="0" lang="en-US" sz="1050" strike="noStrike" u="none">
              <a:solidFill>
                <a:srgbClr val="2D2F38"/>
              </a:solidFill>
              <a:effectLst/>
              <a:uFillTx/>
              <a:latin typeface="Arial"/>
            </a:endParaRPr>
          </a:p>
        </p:txBody>
      </p:sp>
      <p:sp>
        <p:nvSpPr>
          <p:cNvPr id="289" name="Shape 21"/>
          <p:cNvSpPr/>
          <p:nvPr/>
        </p:nvSpPr>
        <p:spPr>
          <a:xfrm>
            <a:off x="914400" y="4681800"/>
            <a:ext cx="63720" cy="63720"/>
          </a:xfrm>
          <a:prstGeom prst="ellipse">
            <a:avLst/>
          </a:prstGeom>
          <a:solidFill>
            <a:srgbClr val="166534"/>
          </a:solidFill>
          <a:ln w="7620">
            <a:solidFill>
              <a:srgbClr val="166534"/>
            </a:solidFill>
            <a:round/>
          </a:ln>
        </p:spPr>
        <p:style>
          <a:lnRef idx="0"/>
          <a:fillRef idx="0"/>
          <a:effectRef idx="0"/>
          <a:fontRef idx="minor"/>
        </p:style>
        <p:txBody>
          <a:bodyPr lIns="90000" rIns="90000" tIns="0" bIns="0" anchor="t">
            <a:noAutofit/>
          </a:bodyPr>
          <a:p>
            <a:endParaRPr b="0" lang="en-US" sz="1800" strike="noStrike" u="none">
              <a:solidFill>
                <a:srgbClr val="ffffff"/>
              </a:solidFill>
              <a:effectLst/>
              <a:uFillTx/>
              <a:latin typeface="Arial"/>
            </a:endParaRPr>
          </a:p>
        </p:txBody>
      </p:sp>
      <p:sp>
        <p:nvSpPr>
          <p:cNvPr id="290" name="Text 22"/>
          <p:cNvSpPr/>
          <p:nvPr/>
        </p:nvSpPr>
        <p:spPr>
          <a:xfrm>
            <a:off x="1069920" y="4590360"/>
            <a:ext cx="4553280" cy="264960"/>
          </a:xfrm>
          <a:prstGeom prst="rect">
            <a:avLst/>
          </a:prstGeom>
          <a:noFill/>
          <a:ln w="0">
            <a:noFill/>
          </a:ln>
        </p:spPr>
        <p:style>
          <a:lnRef idx="0"/>
          <a:fillRef idx="0"/>
          <a:effectRef idx="0"/>
          <a:fontRef idx="minor"/>
        </p:style>
        <p:txBody>
          <a:bodyPr lIns="0" rIns="0" tIns="0" bIns="0" anchor="t">
            <a:normAutofit/>
          </a:bodyPr>
          <a:p>
            <a:pPr defTabSz="914400">
              <a:lnSpc>
                <a:spcPct val="100000"/>
              </a:lnSpc>
              <a:tabLst>
                <a:tab algn="l" pos="0"/>
              </a:tabLst>
            </a:pPr>
            <a:r>
              <a:rPr b="0" lang="en-US" sz="1050" strike="noStrike" u="none">
                <a:solidFill>
                  <a:srgbClr val="2D2F38"/>
                </a:solidFill>
                <a:effectLst/>
                <a:uFillTx/>
                <a:latin typeface="Aptos"/>
                <a:ea typeface="Aptos"/>
              </a:rPr>
              <a:t>RM-O873 alias deferred; not silently merged.</a:t>
            </a:r>
            <a:endParaRPr b="0" lang="en-US" sz="1050" strike="noStrike" u="none">
              <a:solidFill>
                <a:srgbClr val="2D2F38"/>
              </a:solidFill>
              <a:effectLst/>
              <a:uFillTx/>
              <a:latin typeface="Arial"/>
            </a:endParaRPr>
          </a:p>
        </p:txBody>
      </p:sp>
      <p:sp>
        <p:nvSpPr>
          <p:cNvPr id="291" name="Shape 23"/>
          <p:cNvSpPr/>
          <p:nvPr/>
        </p:nvSpPr>
        <p:spPr>
          <a:xfrm>
            <a:off x="914400" y="4965120"/>
            <a:ext cx="63720" cy="63720"/>
          </a:xfrm>
          <a:prstGeom prst="ellipse">
            <a:avLst/>
          </a:prstGeom>
          <a:solidFill>
            <a:srgbClr val="166534"/>
          </a:solidFill>
          <a:ln w="7620">
            <a:solidFill>
              <a:srgbClr val="166534"/>
            </a:solidFill>
            <a:round/>
          </a:ln>
        </p:spPr>
        <p:style>
          <a:lnRef idx="0"/>
          <a:fillRef idx="0"/>
          <a:effectRef idx="0"/>
          <a:fontRef idx="minor"/>
        </p:style>
        <p:txBody>
          <a:bodyPr lIns="90000" rIns="90000" tIns="0" bIns="0" anchor="t">
            <a:noAutofit/>
          </a:bodyPr>
          <a:p>
            <a:endParaRPr b="0" lang="en-US" sz="1800" strike="noStrike" u="none">
              <a:solidFill>
                <a:srgbClr val="ffffff"/>
              </a:solidFill>
              <a:effectLst/>
              <a:uFillTx/>
              <a:latin typeface="Arial"/>
            </a:endParaRPr>
          </a:p>
        </p:txBody>
      </p:sp>
      <p:sp>
        <p:nvSpPr>
          <p:cNvPr id="292" name="Text 24"/>
          <p:cNvSpPr/>
          <p:nvPr/>
        </p:nvSpPr>
        <p:spPr>
          <a:xfrm>
            <a:off x="1069920" y="4873680"/>
            <a:ext cx="4553280" cy="264960"/>
          </a:xfrm>
          <a:prstGeom prst="rect">
            <a:avLst/>
          </a:prstGeom>
          <a:noFill/>
          <a:ln w="0">
            <a:noFill/>
          </a:ln>
        </p:spPr>
        <p:style>
          <a:lnRef idx="0"/>
          <a:fillRef idx="0"/>
          <a:effectRef idx="0"/>
          <a:fontRef idx="minor"/>
        </p:style>
        <p:txBody>
          <a:bodyPr lIns="0" rIns="0" tIns="0" bIns="0" anchor="t">
            <a:normAutofit/>
          </a:bodyPr>
          <a:p>
            <a:pPr defTabSz="914400">
              <a:lnSpc>
                <a:spcPct val="100000"/>
              </a:lnSpc>
              <a:tabLst>
                <a:tab algn="l" pos="0"/>
              </a:tabLst>
            </a:pPr>
            <a:r>
              <a:rPr b="0" lang="en-US" sz="1050" strike="noStrike" u="none">
                <a:solidFill>
                  <a:srgbClr val="2D2F38"/>
                </a:solidFill>
                <a:effectLst/>
                <a:uFillTx/>
                <a:latin typeface="Aptos"/>
                <a:ea typeface="Aptos"/>
              </a:rPr>
              <a:t>Mass balance remains insufficient.</a:t>
            </a:r>
            <a:endParaRPr b="0" lang="en-US" sz="1050" strike="noStrike" u="none">
              <a:solidFill>
                <a:srgbClr val="2D2F38"/>
              </a:solidFill>
              <a:effectLst/>
              <a:uFillTx/>
              <a:latin typeface="Arial"/>
            </a:endParaRPr>
          </a:p>
        </p:txBody>
      </p:sp>
      <p:sp>
        <p:nvSpPr>
          <p:cNvPr id="293" name="Shape 25"/>
          <p:cNvSpPr/>
          <p:nvPr/>
        </p:nvSpPr>
        <p:spPr>
          <a:xfrm>
            <a:off x="6245280" y="3310200"/>
            <a:ext cx="5284800" cy="1938240"/>
          </a:xfrm>
          <a:prstGeom prst="roundRect">
            <a:avLst>
              <a:gd name="adj" fmla="val 5660"/>
            </a:avLst>
          </a:prstGeom>
          <a:solidFill>
            <a:srgbClr val="FEF3C7"/>
          </a:solidFill>
          <a:ln w="10160">
            <a:solidFill>
              <a:srgbClr val="FEF3C7"/>
            </a:solidFill>
            <a:round/>
          </a:ln>
        </p:spPr>
        <p:style>
          <a:lnRef idx="0"/>
          <a:fillRef idx="0"/>
          <a:effectRef idx="0"/>
          <a:fontRef idx="minor"/>
        </p:style>
        <p:txBody>
          <a:bodyPr lIns="90000" rIns="90000" tIns="45000" bIns="45000" anchor="t">
            <a:noAutofit/>
          </a:bodyPr>
          <a:p>
            <a:endParaRPr b="0" lang="en-US" sz="1800" strike="noStrike" u="none">
              <a:solidFill>
                <a:srgbClr val="2D2F38"/>
              </a:solidFill>
              <a:effectLst/>
              <a:uFillTx/>
              <a:latin typeface="Arial"/>
            </a:endParaRPr>
          </a:p>
        </p:txBody>
      </p:sp>
      <p:sp>
        <p:nvSpPr>
          <p:cNvPr id="294" name="Text 26"/>
          <p:cNvSpPr/>
          <p:nvPr/>
        </p:nvSpPr>
        <p:spPr>
          <a:xfrm>
            <a:off x="6492240" y="3547800"/>
            <a:ext cx="4571640" cy="3196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600" strike="noStrike" u="none">
                <a:solidFill>
                  <a:srgbClr val="2D3858"/>
                </a:solidFill>
                <a:effectLst/>
                <a:uFillTx/>
                <a:latin typeface="Aptos"/>
                <a:ea typeface="Aptos"/>
              </a:rPr>
              <a:t>Do not overclaim</a:t>
            </a:r>
            <a:endParaRPr b="0" lang="en-US" sz="1600" strike="noStrike" u="none">
              <a:solidFill>
                <a:srgbClr val="2D2F38"/>
              </a:solidFill>
              <a:effectLst/>
              <a:uFillTx/>
              <a:latin typeface="Arial"/>
            </a:endParaRPr>
          </a:p>
        </p:txBody>
      </p:sp>
      <p:sp>
        <p:nvSpPr>
          <p:cNvPr id="295" name="Shape 27"/>
          <p:cNvSpPr/>
          <p:nvPr/>
        </p:nvSpPr>
        <p:spPr>
          <a:xfrm>
            <a:off x="6473880" y="4114800"/>
            <a:ext cx="63720" cy="63720"/>
          </a:xfrm>
          <a:prstGeom prst="ellipse">
            <a:avLst/>
          </a:prstGeom>
          <a:solidFill>
            <a:srgbClr val="2D3858"/>
          </a:solidFill>
          <a:ln w="7620">
            <a:solidFill>
              <a:srgbClr val="2D3858"/>
            </a:solidFill>
            <a:round/>
          </a:ln>
        </p:spPr>
        <p:style>
          <a:lnRef idx="0"/>
          <a:fillRef idx="0"/>
          <a:effectRef idx="0"/>
          <a:fontRef idx="minor"/>
        </p:style>
        <p:txBody>
          <a:bodyPr lIns="90000" rIns="90000" tIns="0" bIns="0" anchor="t">
            <a:noAutofit/>
          </a:bodyPr>
          <a:p>
            <a:endParaRPr b="0" lang="en-US" sz="1800" strike="noStrike" u="none">
              <a:solidFill>
                <a:srgbClr val="ffffff"/>
              </a:solidFill>
              <a:effectLst/>
              <a:uFillTx/>
              <a:latin typeface="Arial"/>
            </a:endParaRPr>
          </a:p>
        </p:txBody>
      </p:sp>
      <p:sp>
        <p:nvSpPr>
          <p:cNvPr id="296" name="Text 28"/>
          <p:cNvSpPr/>
          <p:nvPr/>
        </p:nvSpPr>
        <p:spPr>
          <a:xfrm>
            <a:off x="6629400" y="4023360"/>
            <a:ext cx="4553280" cy="264960"/>
          </a:xfrm>
          <a:prstGeom prst="rect">
            <a:avLst/>
          </a:prstGeom>
          <a:noFill/>
          <a:ln w="0">
            <a:noFill/>
          </a:ln>
        </p:spPr>
        <p:style>
          <a:lnRef idx="0"/>
          <a:fillRef idx="0"/>
          <a:effectRef idx="0"/>
          <a:fontRef idx="minor"/>
        </p:style>
        <p:txBody>
          <a:bodyPr lIns="0" rIns="0" tIns="0" bIns="0" anchor="t">
            <a:normAutofit/>
          </a:bodyPr>
          <a:p>
            <a:pPr defTabSz="914400">
              <a:lnSpc>
                <a:spcPct val="100000"/>
              </a:lnSpc>
              <a:tabLst>
                <a:tab algn="l" pos="0"/>
              </a:tabLst>
            </a:pPr>
            <a:r>
              <a:rPr b="0" lang="en-US" sz="1030" strike="noStrike" u="none">
                <a:solidFill>
                  <a:srgbClr val="2D2F38"/>
                </a:solidFill>
                <a:effectLst/>
                <a:uFillTx/>
                <a:latin typeface="Aptos"/>
                <a:ea typeface="Aptos"/>
              </a:rPr>
              <a:t>All 48 facts remained unreviewed in this run.</a:t>
            </a:r>
            <a:endParaRPr b="0" lang="en-US" sz="1030" strike="noStrike" u="none">
              <a:solidFill>
                <a:srgbClr val="2D2F38"/>
              </a:solidFill>
              <a:effectLst/>
              <a:uFillTx/>
              <a:latin typeface="Arial"/>
            </a:endParaRPr>
          </a:p>
        </p:txBody>
      </p:sp>
      <p:sp>
        <p:nvSpPr>
          <p:cNvPr id="297" name="Shape 29"/>
          <p:cNvSpPr/>
          <p:nvPr/>
        </p:nvSpPr>
        <p:spPr>
          <a:xfrm>
            <a:off x="6473880" y="4398120"/>
            <a:ext cx="63720" cy="63720"/>
          </a:xfrm>
          <a:prstGeom prst="ellipse">
            <a:avLst/>
          </a:prstGeom>
          <a:solidFill>
            <a:srgbClr val="2D3858"/>
          </a:solidFill>
          <a:ln w="7620">
            <a:solidFill>
              <a:srgbClr val="2D3858"/>
            </a:solidFill>
            <a:round/>
          </a:ln>
        </p:spPr>
        <p:style>
          <a:lnRef idx="0"/>
          <a:fillRef idx="0"/>
          <a:effectRef idx="0"/>
          <a:fontRef idx="minor"/>
        </p:style>
        <p:txBody>
          <a:bodyPr lIns="90000" rIns="90000" tIns="0" bIns="0" anchor="t">
            <a:noAutofit/>
          </a:bodyPr>
          <a:p>
            <a:endParaRPr b="0" lang="en-US" sz="1800" strike="noStrike" u="none">
              <a:solidFill>
                <a:srgbClr val="ffffff"/>
              </a:solidFill>
              <a:effectLst/>
              <a:uFillTx/>
              <a:latin typeface="Arial"/>
            </a:endParaRPr>
          </a:p>
        </p:txBody>
      </p:sp>
      <p:sp>
        <p:nvSpPr>
          <p:cNvPr id="298" name="Text 30"/>
          <p:cNvSpPr/>
          <p:nvPr/>
        </p:nvSpPr>
        <p:spPr>
          <a:xfrm>
            <a:off x="6629400" y="4306680"/>
            <a:ext cx="4553280" cy="264960"/>
          </a:xfrm>
          <a:prstGeom prst="rect">
            <a:avLst/>
          </a:prstGeom>
          <a:noFill/>
          <a:ln w="0">
            <a:noFill/>
          </a:ln>
        </p:spPr>
        <p:style>
          <a:lnRef idx="0"/>
          <a:fillRef idx="0"/>
          <a:effectRef idx="0"/>
          <a:fontRef idx="minor"/>
        </p:style>
        <p:txBody>
          <a:bodyPr lIns="0" rIns="0" tIns="0" bIns="0" anchor="t">
            <a:normAutofit/>
          </a:bodyPr>
          <a:p>
            <a:pPr defTabSz="914400">
              <a:lnSpc>
                <a:spcPct val="100000"/>
              </a:lnSpc>
              <a:tabLst>
                <a:tab algn="l" pos="0"/>
              </a:tabLst>
            </a:pPr>
            <a:r>
              <a:rPr b="0" lang="en-US" sz="1030" strike="noStrike" u="none">
                <a:solidFill>
                  <a:srgbClr val="2D2F38"/>
                </a:solidFill>
                <a:effectLst/>
                <a:uFillTx/>
                <a:latin typeface="Aptos"/>
                <a:ea typeface="Aptos"/>
              </a:rPr>
              <a:t>4 quote-verified claims had values on adjacent lines.</a:t>
            </a:r>
            <a:endParaRPr b="0" lang="en-US" sz="1030" strike="noStrike" u="none">
              <a:solidFill>
                <a:srgbClr val="2D2F38"/>
              </a:solidFill>
              <a:effectLst/>
              <a:uFillTx/>
              <a:latin typeface="Arial"/>
            </a:endParaRPr>
          </a:p>
        </p:txBody>
      </p:sp>
      <p:sp>
        <p:nvSpPr>
          <p:cNvPr id="299" name="Shape 31"/>
          <p:cNvSpPr/>
          <p:nvPr/>
        </p:nvSpPr>
        <p:spPr>
          <a:xfrm>
            <a:off x="6473880" y="4681800"/>
            <a:ext cx="63720" cy="63720"/>
          </a:xfrm>
          <a:prstGeom prst="ellipse">
            <a:avLst/>
          </a:prstGeom>
          <a:solidFill>
            <a:srgbClr val="2D3858"/>
          </a:solidFill>
          <a:ln w="7620">
            <a:solidFill>
              <a:srgbClr val="2D3858"/>
            </a:solidFill>
            <a:round/>
          </a:ln>
        </p:spPr>
        <p:style>
          <a:lnRef idx="0"/>
          <a:fillRef idx="0"/>
          <a:effectRef idx="0"/>
          <a:fontRef idx="minor"/>
        </p:style>
        <p:txBody>
          <a:bodyPr lIns="90000" rIns="90000" tIns="0" bIns="0" anchor="t">
            <a:noAutofit/>
          </a:bodyPr>
          <a:p>
            <a:endParaRPr b="0" lang="en-US" sz="1800" strike="noStrike" u="none">
              <a:solidFill>
                <a:srgbClr val="ffffff"/>
              </a:solidFill>
              <a:effectLst/>
              <a:uFillTx/>
              <a:latin typeface="Arial"/>
            </a:endParaRPr>
          </a:p>
        </p:txBody>
      </p:sp>
      <p:sp>
        <p:nvSpPr>
          <p:cNvPr id="300" name="Text 32"/>
          <p:cNvSpPr/>
          <p:nvPr/>
        </p:nvSpPr>
        <p:spPr>
          <a:xfrm>
            <a:off x="6629400" y="4590360"/>
            <a:ext cx="4553280" cy="264960"/>
          </a:xfrm>
          <a:prstGeom prst="rect">
            <a:avLst/>
          </a:prstGeom>
          <a:noFill/>
          <a:ln w="0">
            <a:noFill/>
          </a:ln>
        </p:spPr>
        <p:style>
          <a:lnRef idx="0"/>
          <a:fillRef idx="0"/>
          <a:effectRef idx="0"/>
          <a:fontRef idx="minor"/>
        </p:style>
        <p:txBody>
          <a:bodyPr lIns="0" rIns="0" tIns="0" bIns="0" anchor="t">
            <a:normAutofit/>
          </a:bodyPr>
          <a:p>
            <a:pPr defTabSz="914400">
              <a:lnSpc>
                <a:spcPct val="100000"/>
              </a:lnSpc>
              <a:tabLst>
                <a:tab algn="l" pos="0"/>
              </a:tabLst>
            </a:pPr>
            <a:r>
              <a:rPr b="0" lang="en-US" sz="1030" strike="noStrike" u="none">
                <a:solidFill>
                  <a:srgbClr val="2D2F38"/>
                </a:solidFill>
                <a:effectLst/>
                <a:uFillTx/>
                <a:latin typeface="Aptos"/>
                <a:ea typeface="Aptos"/>
              </a:rPr>
              <a:t>No manual baseline, customer study or accuracy rate.</a:t>
            </a:r>
            <a:endParaRPr b="0" lang="en-US" sz="1030" strike="noStrike" u="none">
              <a:solidFill>
                <a:srgbClr val="2D2F38"/>
              </a:solidFill>
              <a:effectLst/>
              <a:uFillTx/>
              <a:latin typeface="Arial"/>
            </a:endParaRPr>
          </a:p>
        </p:txBody>
      </p:sp>
      <p:sp>
        <p:nvSpPr>
          <p:cNvPr id="301" name="Shape 33"/>
          <p:cNvSpPr/>
          <p:nvPr/>
        </p:nvSpPr>
        <p:spPr>
          <a:xfrm>
            <a:off x="6473880" y="4965120"/>
            <a:ext cx="63720" cy="63720"/>
          </a:xfrm>
          <a:prstGeom prst="ellipse">
            <a:avLst/>
          </a:prstGeom>
          <a:solidFill>
            <a:srgbClr val="2D3858"/>
          </a:solidFill>
          <a:ln w="7620">
            <a:solidFill>
              <a:srgbClr val="2D3858"/>
            </a:solidFill>
            <a:round/>
          </a:ln>
        </p:spPr>
        <p:style>
          <a:lnRef idx="0"/>
          <a:fillRef idx="0"/>
          <a:effectRef idx="0"/>
          <a:fontRef idx="minor"/>
        </p:style>
        <p:txBody>
          <a:bodyPr lIns="90000" rIns="90000" tIns="0" bIns="0" anchor="t">
            <a:noAutofit/>
          </a:bodyPr>
          <a:p>
            <a:endParaRPr b="0" lang="en-US" sz="1800" strike="noStrike" u="none">
              <a:solidFill>
                <a:srgbClr val="ffffff"/>
              </a:solidFill>
              <a:effectLst/>
              <a:uFillTx/>
              <a:latin typeface="Arial"/>
            </a:endParaRPr>
          </a:p>
        </p:txBody>
      </p:sp>
      <p:sp>
        <p:nvSpPr>
          <p:cNvPr id="302" name="Text 34"/>
          <p:cNvSpPr/>
          <p:nvPr/>
        </p:nvSpPr>
        <p:spPr>
          <a:xfrm>
            <a:off x="6629400" y="4873680"/>
            <a:ext cx="4553280" cy="264960"/>
          </a:xfrm>
          <a:prstGeom prst="rect">
            <a:avLst/>
          </a:prstGeom>
          <a:noFill/>
          <a:ln w="0">
            <a:noFill/>
          </a:ln>
        </p:spPr>
        <p:style>
          <a:lnRef idx="0"/>
          <a:fillRef idx="0"/>
          <a:effectRef idx="0"/>
          <a:fontRef idx="minor"/>
        </p:style>
        <p:txBody>
          <a:bodyPr lIns="0" rIns="0" tIns="0" bIns="0" anchor="t">
            <a:normAutofit/>
          </a:bodyPr>
          <a:p>
            <a:pPr defTabSz="914400">
              <a:lnSpc>
                <a:spcPct val="100000"/>
              </a:lnSpc>
              <a:tabLst>
                <a:tab algn="l" pos="0"/>
              </a:tabLst>
            </a:pPr>
            <a:r>
              <a:rPr b="0" lang="en-US" sz="1030" strike="noStrike" u="none">
                <a:solidFill>
                  <a:srgbClr val="2D2F38"/>
                </a:solidFill>
                <a:effectLst/>
                <a:uFillTx/>
                <a:latin typeface="Aptos"/>
                <a:ea typeface="Aptos"/>
              </a:rPr>
              <a:t>The 7 input documents were authored fiction.</a:t>
            </a:r>
            <a:endParaRPr b="0" lang="en-US" sz="1030" strike="noStrike" u="none">
              <a:solidFill>
                <a:srgbClr val="2D2F38"/>
              </a:solidFill>
              <a:effectLst/>
              <a:uFillTx/>
              <a:latin typeface="Arial"/>
            </a:endParaRPr>
          </a:p>
        </p:txBody>
      </p:sp>
      <p:sp>
        <p:nvSpPr>
          <p:cNvPr id="303" name="Text 35"/>
          <p:cNvSpPr/>
          <p:nvPr/>
        </p:nvSpPr>
        <p:spPr>
          <a:xfrm>
            <a:off x="914400" y="5650920"/>
            <a:ext cx="10240920" cy="34704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1030" strike="noStrike" u="none">
                <a:solidFill>
                  <a:srgbClr val="626B7B"/>
                </a:solidFill>
                <a:effectLst/>
                <a:uFillTx/>
                <a:latin typeface="Aptos"/>
                <a:ea typeface="Aptos"/>
              </a:rPr>
              <a:t>Run timings are single-run observations, not a performance guarantee. The benchmark does not measure customer value.</a:t>
            </a:r>
            <a:endParaRPr b="0" lang="en-US" sz="1030" strike="noStrike" u="none">
              <a:solidFill>
                <a:srgbClr val="2D2F38"/>
              </a:solidFill>
              <a:effectLst/>
              <a:uFillTx/>
              <a:latin typeface="Arial"/>
            </a:endParaRPr>
          </a:p>
        </p:txBody>
      </p:sp>
      <p:sp>
        <p:nvSpPr>
          <p:cNvPr id="304" name="PlaceHolder 1"/>
          <p:cNvSpPr>
            <a:spLocks noGrp="1"/>
          </p:cNvSpPr>
          <p:nvPr>
            <p:ph type="sldNum" idx="11"/>
          </p:nvPr>
        </p:nvSpPr>
        <p:spPr>
          <a:xfrm>
            <a:off x="11685960" y="6565320"/>
            <a:ext cx="799560" cy="299520"/>
          </a:xfrm>
          <a:prstGeom prst="rect">
            <a:avLst/>
          </a:prstGeom>
          <a:noFill/>
          <a:ln w="0">
            <a:noFill/>
          </a:ln>
        </p:spPr>
        <p:txBody>
          <a:bodyPr lIns="90000" rIns="90000" tIns="45000" bIns="45000" anchor="t">
            <a:noAutofit/>
          </a:bodyPr>
          <a:lstStyle>
            <a:lvl1pPr indent="0" defTabSz="914400">
              <a:lnSpc>
                <a:spcPct val="100000"/>
              </a:lnSpc>
              <a:buNone/>
              <a:defRPr b="0" lang="en-US" sz="700" strike="noStrike" u="none">
                <a:solidFill>
                  <a:srgbClr val="626B7B"/>
                </a:solidFill>
                <a:effectLst/>
                <a:uFillTx/>
                <a:latin typeface="Aptos"/>
                <a:ea typeface="Aptos"/>
              </a:defRPr>
            </a:lvl1pPr>
          </a:lstStyle>
          <a:p>
            <a:pPr indent="0" defTabSz="914400">
              <a:lnSpc>
                <a:spcPct val="100000"/>
              </a:lnSpc>
              <a:buNone/>
            </a:pPr>
            <a:fld id="{9E00FE6C-564A-4A34-991E-048D3A77B2CA}" type="slidenum">
              <a:rPr b="0" lang="en-US" sz="700" strike="noStrike" u="none">
                <a:solidFill>
                  <a:srgbClr val="626B7B"/>
                </a:solidFill>
                <a:effectLst/>
                <a:uFillTx/>
                <a:latin typeface="Aptos"/>
                <a:ea typeface="Aptos"/>
              </a:rPr>
              <a:t>8</a:t>
            </a:fld>
            <a:endParaRPr b="0" lang="en-US" sz="700" strike="noStrike" u="none">
              <a:solidFill>
                <a:srgbClr val="2D2F38"/>
              </a:solidFill>
              <a:effectLst/>
              <a:uFillTx/>
              <a:latin typeface="Times New Roman"/>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5" name="Text 0"/>
          <p:cNvSpPr/>
          <p:nvPr/>
        </p:nvSpPr>
        <p:spPr>
          <a:xfrm>
            <a:off x="567000" y="384120"/>
            <a:ext cx="10881000" cy="1825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900" spc="181" strike="noStrike" u="none">
                <a:solidFill>
                  <a:srgbClr val="39466C"/>
                </a:solidFill>
                <a:effectLst/>
                <a:uFillTx/>
                <a:latin typeface="Aptos"/>
                <a:ea typeface="Aptos"/>
              </a:rPr>
              <a:t>08 / WHAT WE NEED NEXT</a:t>
            </a:r>
            <a:endParaRPr b="0" lang="en-US" sz="900" strike="noStrike" u="none">
              <a:solidFill>
                <a:srgbClr val="2D2F38"/>
              </a:solidFill>
              <a:effectLst/>
              <a:uFillTx/>
              <a:latin typeface="Arial"/>
            </a:endParaRPr>
          </a:p>
        </p:txBody>
      </p:sp>
      <p:sp>
        <p:nvSpPr>
          <p:cNvPr id="306" name="Text 1"/>
          <p:cNvSpPr/>
          <p:nvPr/>
        </p:nvSpPr>
        <p:spPr>
          <a:xfrm>
            <a:off x="567000" y="658440"/>
            <a:ext cx="11018160" cy="4752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2600" strike="noStrike" u="none">
                <a:solidFill>
                  <a:srgbClr val="2D2F38"/>
                </a:solidFill>
                <a:effectLst/>
                <a:uFillTx/>
                <a:latin typeface="Aptos"/>
                <a:ea typeface="Aptos"/>
              </a:rPr>
              <a:t>Help us validate the investigation workflow in the real world</a:t>
            </a:r>
            <a:endParaRPr b="0" lang="en-US" sz="2600" strike="noStrike" u="none">
              <a:solidFill>
                <a:srgbClr val="2D2F38"/>
              </a:solidFill>
              <a:effectLst/>
              <a:uFillTx/>
              <a:latin typeface="Arial"/>
            </a:endParaRPr>
          </a:p>
        </p:txBody>
      </p:sp>
      <p:sp>
        <p:nvSpPr>
          <p:cNvPr id="307" name="Text 2"/>
          <p:cNvSpPr/>
          <p:nvPr/>
        </p:nvSpPr>
        <p:spPr>
          <a:xfrm>
            <a:off x="585360" y="1197720"/>
            <a:ext cx="10972440" cy="383760"/>
          </a:xfrm>
          <a:prstGeom prst="rect">
            <a:avLst/>
          </a:prstGeom>
          <a:noFill/>
          <a:ln w="0">
            <a:noFill/>
          </a:ln>
        </p:spPr>
        <p:style>
          <a:lnRef idx="0"/>
          <a:fillRef idx="0"/>
          <a:effectRef idx="0"/>
          <a:fontRef idx="minor"/>
        </p:style>
        <p:txBody>
          <a:bodyPr lIns="0" rIns="0" tIns="0" bIns="0" anchor="t">
            <a:normAutofit/>
          </a:bodyPr>
          <a:p>
            <a:pPr defTabSz="914400">
              <a:lnSpc>
                <a:spcPct val="100000"/>
              </a:lnSpc>
              <a:tabLst>
                <a:tab algn="l" pos="0"/>
              </a:tabLst>
            </a:pPr>
            <a:r>
              <a:rPr b="0" lang="en-US" sz="1250" strike="noStrike" u="none">
                <a:solidFill>
                  <a:srgbClr val="626B7B"/>
                </a:solidFill>
                <a:effectLst/>
                <a:uFillTx/>
                <a:latin typeface="Aptos"/>
                <a:ea typeface="Aptos"/>
              </a:rPr>
              <a:t>Klarrow is seeking expert review and supervised validation-not claiming traction it has not earned.</a:t>
            </a:r>
            <a:endParaRPr b="0" lang="en-US" sz="1250" strike="noStrike" u="none">
              <a:solidFill>
                <a:srgbClr val="2D2F38"/>
              </a:solidFill>
              <a:effectLst/>
              <a:uFillTx/>
              <a:latin typeface="Arial"/>
            </a:endParaRPr>
          </a:p>
        </p:txBody>
      </p:sp>
      <p:sp>
        <p:nvSpPr>
          <p:cNvPr id="308" name="Shape 3"/>
          <p:cNvSpPr/>
          <p:nvPr/>
        </p:nvSpPr>
        <p:spPr>
          <a:xfrm>
            <a:off x="777240" y="1993320"/>
            <a:ext cx="3401280" cy="1828440"/>
          </a:xfrm>
          <a:prstGeom prst="roundRect">
            <a:avLst>
              <a:gd name="adj" fmla="val 6500"/>
            </a:avLst>
          </a:prstGeom>
          <a:solidFill>
            <a:srgbClr val="ffffff"/>
          </a:solidFill>
          <a:ln w="10160">
            <a:solidFill>
              <a:srgbClr val="E5E8F0"/>
            </a:solidFill>
            <a:round/>
          </a:ln>
        </p:spPr>
        <p:style>
          <a:lnRef idx="0"/>
          <a:fillRef idx="0"/>
          <a:effectRef idx="0"/>
          <a:fontRef idx="minor"/>
        </p:style>
        <p:txBody>
          <a:bodyPr lIns="90000" rIns="90000" tIns="45000" bIns="45000" anchor="t">
            <a:noAutofit/>
          </a:bodyPr>
          <a:p>
            <a:endParaRPr b="0" lang="en-US" sz="1800" strike="noStrike" u="none">
              <a:solidFill>
                <a:srgbClr val="2D2F38"/>
              </a:solidFill>
              <a:effectLst/>
              <a:uFillTx/>
              <a:latin typeface="Arial"/>
            </a:endParaRPr>
          </a:p>
        </p:txBody>
      </p:sp>
      <p:sp>
        <p:nvSpPr>
          <p:cNvPr id="309" name="Shape 4"/>
          <p:cNvSpPr/>
          <p:nvPr/>
        </p:nvSpPr>
        <p:spPr>
          <a:xfrm>
            <a:off x="978480" y="2194560"/>
            <a:ext cx="411120" cy="264960"/>
          </a:xfrm>
          <a:prstGeom prst="roundRect">
            <a:avLst>
              <a:gd name="adj" fmla="val 24138"/>
            </a:avLst>
          </a:prstGeom>
          <a:solidFill>
            <a:srgbClr val="E7EBF4"/>
          </a:solidFill>
          <a:ln w="8890">
            <a:solidFill>
              <a:srgbClr val="E7EBF4"/>
            </a:solidFill>
            <a:round/>
          </a:ln>
        </p:spPr>
        <p:style>
          <a:lnRef idx="0"/>
          <a:fillRef idx="0"/>
          <a:effectRef idx="0"/>
          <a:fontRef idx="minor"/>
        </p:style>
        <p:txBody>
          <a:bodyPr lIns="90000" rIns="90000" tIns="45000" bIns="45000" anchor="t">
            <a:noAutofit/>
          </a:bodyPr>
          <a:p>
            <a:endParaRPr b="0" lang="en-US" sz="1800" strike="noStrike" u="none">
              <a:solidFill>
                <a:srgbClr val="2D2F38"/>
              </a:solidFill>
              <a:effectLst/>
              <a:uFillTx/>
              <a:latin typeface="Arial"/>
            </a:endParaRPr>
          </a:p>
        </p:txBody>
      </p:sp>
      <p:sp>
        <p:nvSpPr>
          <p:cNvPr id="310" name="Text 5"/>
          <p:cNvSpPr/>
          <p:nvPr/>
        </p:nvSpPr>
        <p:spPr>
          <a:xfrm>
            <a:off x="1042560" y="2212920"/>
            <a:ext cx="282960" cy="2098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860" strike="noStrike" u="none">
                <a:solidFill>
                  <a:srgbClr val="39466C"/>
                </a:solidFill>
                <a:effectLst/>
                <a:uFillTx/>
                <a:latin typeface="Aptos"/>
                <a:ea typeface="Aptos"/>
              </a:rPr>
              <a:t>01</a:t>
            </a:r>
            <a:endParaRPr b="0" lang="en-US" sz="860" strike="noStrike" u="none">
              <a:solidFill>
                <a:srgbClr val="2D2F38"/>
              </a:solidFill>
              <a:effectLst/>
              <a:uFillTx/>
              <a:latin typeface="Arial"/>
            </a:endParaRPr>
          </a:p>
        </p:txBody>
      </p:sp>
      <p:sp>
        <p:nvSpPr>
          <p:cNvPr id="311" name="Text 6"/>
          <p:cNvSpPr/>
          <p:nvPr/>
        </p:nvSpPr>
        <p:spPr>
          <a:xfrm>
            <a:off x="978480" y="2697480"/>
            <a:ext cx="2925720" cy="3286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500" strike="noStrike" u="none">
                <a:solidFill>
                  <a:srgbClr val="2D2F38"/>
                </a:solidFill>
                <a:effectLst/>
                <a:uFillTx/>
                <a:latin typeface="Aptos"/>
                <a:ea typeface="Aptos"/>
              </a:rPr>
              <a:t>Practitioner review</a:t>
            </a:r>
            <a:endParaRPr b="0" lang="en-US" sz="1500" strike="noStrike" u="none">
              <a:solidFill>
                <a:srgbClr val="2D2F38"/>
              </a:solidFill>
              <a:effectLst/>
              <a:uFillTx/>
              <a:latin typeface="Arial"/>
            </a:endParaRPr>
          </a:p>
        </p:txBody>
      </p:sp>
      <p:sp>
        <p:nvSpPr>
          <p:cNvPr id="312" name="Text 7"/>
          <p:cNvSpPr/>
          <p:nvPr/>
        </p:nvSpPr>
        <p:spPr>
          <a:xfrm>
            <a:off x="978480" y="3173040"/>
            <a:ext cx="2907360" cy="475200"/>
          </a:xfrm>
          <a:prstGeom prst="rect">
            <a:avLst/>
          </a:prstGeom>
          <a:noFill/>
          <a:ln w="0">
            <a:noFill/>
          </a:ln>
        </p:spPr>
        <p:style>
          <a:lnRef idx="0"/>
          <a:fillRef idx="0"/>
          <a:effectRef idx="0"/>
          <a:fontRef idx="minor"/>
        </p:style>
        <p:txBody>
          <a:bodyPr lIns="0" rIns="0" tIns="0" bIns="0" anchor="t">
            <a:normAutofit/>
          </a:bodyPr>
          <a:p>
            <a:pPr defTabSz="914400">
              <a:lnSpc>
                <a:spcPct val="100000"/>
              </a:lnSpc>
              <a:tabLst>
                <a:tab algn="l" pos="0"/>
              </a:tabLst>
            </a:pPr>
            <a:r>
              <a:rPr b="0" lang="en-US" sz="1110" strike="noStrike" u="none">
                <a:solidFill>
                  <a:srgbClr val="626B7B"/>
                </a:solidFill>
                <a:effectLst/>
                <a:uFillTx/>
                <a:latin typeface="Aptos"/>
                <a:ea typeface="Aptos"/>
              </a:rPr>
              <a:t>A food-safety / QA professional to challenge the workflow and its report.</a:t>
            </a:r>
            <a:endParaRPr b="0" lang="en-US" sz="1110" strike="noStrike" u="none">
              <a:solidFill>
                <a:srgbClr val="2D2F38"/>
              </a:solidFill>
              <a:effectLst/>
              <a:uFillTx/>
              <a:latin typeface="Arial"/>
            </a:endParaRPr>
          </a:p>
        </p:txBody>
      </p:sp>
      <p:sp>
        <p:nvSpPr>
          <p:cNvPr id="313" name="Shape 8"/>
          <p:cNvSpPr/>
          <p:nvPr/>
        </p:nvSpPr>
        <p:spPr>
          <a:xfrm>
            <a:off x="4599360" y="1993320"/>
            <a:ext cx="3401280" cy="1828440"/>
          </a:xfrm>
          <a:prstGeom prst="roundRect">
            <a:avLst>
              <a:gd name="adj" fmla="val 6500"/>
            </a:avLst>
          </a:prstGeom>
          <a:solidFill>
            <a:srgbClr val="ffffff"/>
          </a:solidFill>
          <a:ln w="10160">
            <a:solidFill>
              <a:srgbClr val="E5E8F0"/>
            </a:solidFill>
            <a:round/>
          </a:ln>
        </p:spPr>
        <p:style>
          <a:lnRef idx="0"/>
          <a:fillRef idx="0"/>
          <a:effectRef idx="0"/>
          <a:fontRef idx="minor"/>
        </p:style>
        <p:txBody>
          <a:bodyPr lIns="90000" rIns="90000" tIns="45000" bIns="45000" anchor="t">
            <a:noAutofit/>
          </a:bodyPr>
          <a:p>
            <a:endParaRPr b="0" lang="en-US" sz="1800" strike="noStrike" u="none">
              <a:solidFill>
                <a:srgbClr val="2D2F38"/>
              </a:solidFill>
              <a:effectLst/>
              <a:uFillTx/>
              <a:latin typeface="Arial"/>
            </a:endParaRPr>
          </a:p>
        </p:txBody>
      </p:sp>
      <p:sp>
        <p:nvSpPr>
          <p:cNvPr id="314" name="Shape 9"/>
          <p:cNvSpPr/>
          <p:nvPr/>
        </p:nvSpPr>
        <p:spPr>
          <a:xfrm>
            <a:off x="4800600" y="2194560"/>
            <a:ext cx="411120" cy="264960"/>
          </a:xfrm>
          <a:prstGeom prst="roundRect">
            <a:avLst>
              <a:gd name="adj" fmla="val 24138"/>
            </a:avLst>
          </a:prstGeom>
          <a:solidFill>
            <a:srgbClr val="E7EBF4"/>
          </a:solidFill>
          <a:ln w="8890">
            <a:solidFill>
              <a:srgbClr val="E7EBF4"/>
            </a:solidFill>
            <a:round/>
          </a:ln>
        </p:spPr>
        <p:style>
          <a:lnRef idx="0"/>
          <a:fillRef idx="0"/>
          <a:effectRef idx="0"/>
          <a:fontRef idx="minor"/>
        </p:style>
        <p:txBody>
          <a:bodyPr lIns="90000" rIns="90000" tIns="45000" bIns="45000" anchor="t">
            <a:noAutofit/>
          </a:bodyPr>
          <a:p>
            <a:endParaRPr b="0" lang="en-US" sz="1800" strike="noStrike" u="none">
              <a:solidFill>
                <a:srgbClr val="2D2F38"/>
              </a:solidFill>
              <a:effectLst/>
              <a:uFillTx/>
              <a:latin typeface="Arial"/>
            </a:endParaRPr>
          </a:p>
        </p:txBody>
      </p:sp>
      <p:sp>
        <p:nvSpPr>
          <p:cNvPr id="315" name="Text 10"/>
          <p:cNvSpPr/>
          <p:nvPr/>
        </p:nvSpPr>
        <p:spPr>
          <a:xfrm>
            <a:off x="4864680" y="2212920"/>
            <a:ext cx="282960" cy="2098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860" strike="noStrike" u="none">
                <a:solidFill>
                  <a:srgbClr val="39466C"/>
                </a:solidFill>
                <a:effectLst/>
                <a:uFillTx/>
                <a:latin typeface="Aptos"/>
                <a:ea typeface="Aptos"/>
              </a:rPr>
              <a:t>02</a:t>
            </a:r>
            <a:endParaRPr b="0" lang="en-US" sz="860" strike="noStrike" u="none">
              <a:solidFill>
                <a:srgbClr val="2D2F38"/>
              </a:solidFill>
              <a:effectLst/>
              <a:uFillTx/>
              <a:latin typeface="Arial"/>
            </a:endParaRPr>
          </a:p>
        </p:txBody>
      </p:sp>
      <p:sp>
        <p:nvSpPr>
          <p:cNvPr id="316" name="Text 11"/>
          <p:cNvSpPr/>
          <p:nvPr/>
        </p:nvSpPr>
        <p:spPr>
          <a:xfrm>
            <a:off x="4800600" y="2697480"/>
            <a:ext cx="2925720" cy="3286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500" strike="noStrike" u="none">
                <a:solidFill>
                  <a:srgbClr val="2D2F38"/>
                </a:solidFill>
                <a:effectLst/>
                <a:uFillTx/>
                <a:latin typeface="Aptos"/>
                <a:ea typeface="Aptos"/>
              </a:rPr>
              <a:t>Authorised test records</a:t>
            </a:r>
            <a:endParaRPr b="0" lang="en-US" sz="1500" strike="noStrike" u="none">
              <a:solidFill>
                <a:srgbClr val="2D2F38"/>
              </a:solidFill>
              <a:effectLst/>
              <a:uFillTx/>
              <a:latin typeface="Arial"/>
            </a:endParaRPr>
          </a:p>
        </p:txBody>
      </p:sp>
      <p:sp>
        <p:nvSpPr>
          <p:cNvPr id="317" name="Text 12"/>
          <p:cNvSpPr/>
          <p:nvPr/>
        </p:nvSpPr>
        <p:spPr>
          <a:xfrm>
            <a:off x="4800600" y="3173040"/>
            <a:ext cx="2907360" cy="475200"/>
          </a:xfrm>
          <a:prstGeom prst="rect">
            <a:avLst/>
          </a:prstGeom>
          <a:noFill/>
          <a:ln w="0">
            <a:noFill/>
          </a:ln>
        </p:spPr>
        <p:style>
          <a:lnRef idx="0"/>
          <a:fillRef idx="0"/>
          <a:effectRef idx="0"/>
          <a:fontRef idx="minor"/>
        </p:style>
        <p:txBody>
          <a:bodyPr lIns="0" rIns="0" tIns="0" bIns="0" anchor="t">
            <a:normAutofit/>
          </a:bodyPr>
          <a:p>
            <a:pPr defTabSz="914400">
              <a:lnSpc>
                <a:spcPct val="100000"/>
              </a:lnSpc>
              <a:tabLst>
                <a:tab algn="l" pos="0"/>
              </a:tabLst>
            </a:pPr>
            <a:r>
              <a:rPr b="0" lang="en-US" sz="1110" strike="noStrike" u="none">
                <a:solidFill>
                  <a:srgbClr val="626B7B"/>
                </a:solidFill>
                <a:effectLst/>
                <a:uFillTx/>
                <a:latin typeface="Aptos"/>
                <a:ea typeface="Aptos"/>
              </a:rPr>
              <a:t>Redacted or purpose-built records to test real document variability safely.</a:t>
            </a:r>
            <a:endParaRPr b="0" lang="en-US" sz="1110" strike="noStrike" u="none">
              <a:solidFill>
                <a:srgbClr val="2D2F38"/>
              </a:solidFill>
              <a:effectLst/>
              <a:uFillTx/>
              <a:latin typeface="Arial"/>
            </a:endParaRPr>
          </a:p>
        </p:txBody>
      </p:sp>
      <p:sp>
        <p:nvSpPr>
          <p:cNvPr id="318" name="Shape 13"/>
          <p:cNvSpPr/>
          <p:nvPr/>
        </p:nvSpPr>
        <p:spPr>
          <a:xfrm>
            <a:off x="8421480" y="1993320"/>
            <a:ext cx="3401280" cy="1828440"/>
          </a:xfrm>
          <a:prstGeom prst="roundRect">
            <a:avLst>
              <a:gd name="adj" fmla="val 6500"/>
            </a:avLst>
          </a:prstGeom>
          <a:solidFill>
            <a:srgbClr val="ffffff"/>
          </a:solidFill>
          <a:ln w="10160">
            <a:solidFill>
              <a:srgbClr val="E5E8F0"/>
            </a:solidFill>
            <a:round/>
          </a:ln>
        </p:spPr>
        <p:style>
          <a:lnRef idx="0"/>
          <a:fillRef idx="0"/>
          <a:effectRef idx="0"/>
          <a:fontRef idx="minor"/>
        </p:style>
        <p:txBody>
          <a:bodyPr lIns="90000" rIns="90000" tIns="45000" bIns="45000" anchor="t">
            <a:noAutofit/>
          </a:bodyPr>
          <a:p>
            <a:endParaRPr b="0" lang="en-US" sz="1800" strike="noStrike" u="none">
              <a:solidFill>
                <a:srgbClr val="2D2F38"/>
              </a:solidFill>
              <a:effectLst/>
              <a:uFillTx/>
              <a:latin typeface="Arial"/>
            </a:endParaRPr>
          </a:p>
        </p:txBody>
      </p:sp>
      <p:sp>
        <p:nvSpPr>
          <p:cNvPr id="319" name="Shape 14"/>
          <p:cNvSpPr/>
          <p:nvPr/>
        </p:nvSpPr>
        <p:spPr>
          <a:xfrm>
            <a:off x="8622720" y="2194560"/>
            <a:ext cx="411120" cy="264960"/>
          </a:xfrm>
          <a:prstGeom prst="roundRect">
            <a:avLst>
              <a:gd name="adj" fmla="val 24138"/>
            </a:avLst>
          </a:prstGeom>
          <a:solidFill>
            <a:srgbClr val="E7EBF4"/>
          </a:solidFill>
          <a:ln w="8890">
            <a:solidFill>
              <a:srgbClr val="E7EBF4"/>
            </a:solidFill>
            <a:round/>
          </a:ln>
        </p:spPr>
        <p:style>
          <a:lnRef idx="0"/>
          <a:fillRef idx="0"/>
          <a:effectRef idx="0"/>
          <a:fontRef idx="minor"/>
        </p:style>
        <p:txBody>
          <a:bodyPr lIns="90000" rIns="90000" tIns="45000" bIns="45000" anchor="t">
            <a:noAutofit/>
          </a:bodyPr>
          <a:p>
            <a:endParaRPr b="0" lang="en-US" sz="1800" strike="noStrike" u="none">
              <a:solidFill>
                <a:srgbClr val="2D2F38"/>
              </a:solidFill>
              <a:effectLst/>
              <a:uFillTx/>
              <a:latin typeface="Arial"/>
            </a:endParaRPr>
          </a:p>
        </p:txBody>
      </p:sp>
      <p:sp>
        <p:nvSpPr>
          <p:cNvPr id="320" name="Text 15"/>
          <p:cNvSpPr/>
          <p:nvPr/>
        </p:nvSpPr>
        <p:spPr>
          <a:xfrm>
            <a:off x="8686800" y="2212920"/>
            <a:ext cx="282960" cy="2098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860" strike="noStrike" u="none">
                <a:solidFill>
                  <a:srgbClr val="39466C"/>
                </a:solidFill>
                <a:effectLst/>
                <a:uFillTx/>
                <a:latin typeface="Aptos"/>
                <a:ea typeface="Aptos"/>
              </a:rPr>
              <a:t>03</a:t>
            </a:r>
            <a:endParaRPr b="0" lang="en-US" sz="860" strike="noStrike" u="none">
              <a:solidFill>
                <a:srgbClr val="2D2F38"/>
              </a:solidFill>
              <a:effectLst/>
              <a:uFillTx/>
              <a:latin typeface="Arial"/>
            </a:endParaRPr>
          </a:p>
        </p:txBody>
      </p:sp>
      <p:sp>
        <p:nvSpPr>
          <p:cNvPr id="321" name="Text 16"/>
          <p:cNvSpPr/>
          <p:nvPr/>
        </p:nvSpPr>
        <p:spPr>
          <a:xfrm>
            <a:off x="8622720" y="2697480"/>
            <a:ext cx="2925720" cy="3286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500" strike="noStrike" u="none">
                <a:solidFill>
                  <a:srgbClr val="2D2F38"/>
                </a:solidFill>
                <a:effectLst/>
                <a:uFillTx/>
                <a:latin typeface="Aptos"/>
                <a:ea typeface="Aptos"/>
              </a:rPr>
              <a:t>Measured comparison</a:t>
            </a:r>
            <a:endParaRPr b="0" lang="en-US" sz="1500" strike="noStrike" u="none">
              <a:solidFill>
                <a:srgbClr val="2D2F38"/>
              </a:solidFill>
              <a:effectLst/>
              <a:uFillTx/>
              <a:latin typeface="Arial"/>
            </a:endParaRPr>
          </a:p>
        </p:txBody>
      </p:sp>
      <p:sp>
        <p:nvSpPr>
          <p:cNvPr id="322" name="Text 17"/>
          <p:cNvSpPr/>
          <p:nvPr/>
        </p:nvSpPr>
        <p:spPr>
          <a:xfrm>
            <a:off x="8622720" y="3173040"/>
            <a:ext cx="2907360" cy="475200"/>
          </a:xfrm>
          <a:prstGeom prst="rect">
            <a:avLst/>
          </a:prstGeom>
          <a:noFill/>
          <a:ln w="0">
            <a:noFill/>
          </a:ln>
        </p:spPr>
        <p:style>
          <a:lnRef idx="0"/>
          <a:fillRef idx="0"/>
          <a:effectRef idx="0"/>
          <a:fontRef idx="minor"/>
        </p:style>
        <p:txBody>
          <a:bodyPr lIns="0" rIns="0" tIns="0" bIns="0" anchor="t">
            <a:normAutofit/>
          </a:bodyPr>
          <a:p>
            <a:pPr defTabSz="914400">
              <a:lnSpc>
                <a:spcPct val="100000"/>
              </a:lnSpc>
              <a:tabLst>
                <a:tab algn="l" pos="0"/>
              </a:tabLst>
            </a:pPr>
            <a:r>
              <a:rPr b="0" lang="en-US" sz="1110" strike="noStrike" u="none">
                <a:solidFill>
                  <a:srgbClr val="626B7B"/>
                </a:solidFill>
                <a:effectLst/>
                <a:uFillTx/>
                <a:latin typeface="Aptos"/>
                <a:ea typeface="Aptos"/>
              </a:rPr>
              <a:t>One timed mock recall: manual process vs Klarrow, independently checked.</a:t>
            </a:r>
            <a:endParaRPr b="0" lang="en-US" sz="1110" strike="noStrike" u="none">
              <a:solidFill>
                <a:srgbClr val="2D2F38"/>
              </a:solidFill>
              <a:effectLst/>
              <a:uFillTx/>
              <a:latin typeface="Arial"/>
            </a:endParaRPr>
          </a:p>
        </p:txBody>
      </p:sp>
      <p:sp>
        <p:nvSpPr>
          <p:cNvPr id="323" name="Shape 18"/>
          <p:cNvSpPr/>
          <p:nvPr/>
        </p:nvSpPr>
        <p:spPr>
          <a:xfrm>
            <a:off x="1078920" y="4343400"/>
            <a:ext cx="10039680" cy="932400"/>
          </a:xfrm>
          <a:prstGeom prst="roundRect">
            <a:avLst>
              <a:gd name="adj" fmla="val 12745"/>
            </a:avLst>
          </a:prstGeom>
          <a:solidFill>
            <a:srgbClr val="2D2F38"/>
          </a:solidFill>
          <a:ln w="10160">
            <a:solidFill>
              <a:srgbClr val="2D2F38"/>
            </a:solidFill>
            <a:round/>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324" name="Text 19"/>
          <p:cNvSpPr/>
          <p:nvPr/>
        </p:nvSpPr>
        <p:spPr>
          <a:xfrm>
            <a:off x="1417320" y="4553640"/>
            <a:ext cx="2102760" cy="328680"/>
          </a:xfrm>
          <a:prstGeom prst="rect">
            <a:avLst/>
          </a:prstGeom>
          <a:noFill/>
          <a:ln w="0">
            <a:noFill/>
          </a:ln>
        </p:spPr>
        <p:style>
          <a:lnRef idx="0"/>
          <a:fillRef idx="0"/>
          <a:effectRef idx="0"/>
          <a:fontRef idx="minor"/>
        </p:style>
        <p:txBody>
          <a:bodyPr lIns="0" rIns="0" tIns="0" bIns="0" anchor="ctr">
            <a:normAutofit lnSpcReduction="9999"/>
          </a:bodyPr>
          <a:p>
            <a:pPr defTabSz="914400">
              <a:lnSpc>
                <a:spcPct val="100000"/>
              </a:lnSpc>
              <a:tabLst>
                <a:tab algn="l" pos="0"/>
              </a:tabLst>
            </a:pPr>
            <a:r>
              <a:rPr b="1" lang="en-US" sz="2200" strike="noStrike" u="none">
                <a:solidFill>
                  <a:srgbClr val="ffffff"/>
                </a:solidFill>
                <a:effectLst/>
                <a:uFillTx/>
                <a:latin typeface="Aptos"/>
                <a:ea typeface="Aptos"/>
              </a:rPr>
              <a:t>Klarrow</a:t>
            </a:r>
            <a:endParaRPr b="0" lang="en-US" sz="2200" strike="noStrike" u="none">
              <a:solidFill>
                <a:srgbClr val="2D2F38"/>
              </a:solidFill>
              <a:effectLst/>
              <a:uFillTx/>
              <a:latin typeface="Arial"/>
            </a:endParaRPr>
          </a:p>
        </p:txBody>
      </p:sp>
      <p:sp>
        <p:nvSpPr>
          <p:cNvPr id="325" name="Text 20"/>
          <p:cNvSpPr/>
          <p:nvPr/>
        </p:nvSpPr>
        <p:spPr>
          <a:xfrm>
            <a:off x="3703320" y="4553640"/>
            <a:ext cx="6903360" cy="3470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400" strike="noStrike" u="none">
                <a:solidFill>
                  <a:srgbClr val="E5E8F0"/>
                </a:solidFill>
                <a:effectLst/>
                <a:uFillTx/>
                <a:latin typeface="Aptos"/>
                <a:ea typeface="Aptos"/>
              </a:rPr>
              <a:t>The evidence-reconciliation workbench for food-traceability investigations.</a:t>
            </a:r>
            <a:endParaRPr b="0" lang="en-US" sz="1400" strike="noStrike" u="none">
              <a:solidFill>
                <a:srgbClr val="2D2F38"/>
              </a:solidFill>
              <a:effectLst/>
              <a:uFillTx/>
              <a:latin typeface="Arial"/>
            </a:endParaRPr>
          </a:p>
        </p:txBody>
      </p:sp>
      <p:sp>
        <p:nvSpPr>
          <p:cNvPr id="326" name="Text 21"/>
          <p:cNvSpPr/>
          <p:nvPr/>
        </p:nvSpPr>
        <p:spPr>
          <a:xfrm>
            <a:off x="914400" y="5669280"/>
            <a:ext cx="10286640" cy="3196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1100" strike="noStrike" u="none">
                <a:solidFill>
                  <a:srgbClr val="626B7B"/>
                </a:solidFill>
                <a:effectLst/>
                <a:uFillTx/>
                <a:latin typeface="Aptos"/>
                <a:ea typeface="Aptos"/>
              </a:rPr>
              <a:t>Next milestone: practitioner-reviewed benchmark + controlled pilot plan. Not yet a production or compliance tool.</a:t>
            </a:r>
            <a:endParaRPr b="0" lang="en-US" sz="1100" strike="noStrike" u="none">
              <a:solidFill>
                <a:srgbClr val="2D2F38"/>
              </a:solidFill>
              <a:effectLst/>
              <a:uFillTx/>
              <a:latin typeface="Arial"/>
            </a:endParaRPr>
          </a:p>
        </p:txBody>
      </p:sp>
      <p:sp>
        <p:nvSpPr>
          <p:cNvPr id="327" name="PlaceHolder 1"/>
          <p:cNvSpPr>
            <a:spLocks noGrp="1"/>
          </p:cNvSpPr>
          <p:nvPr>
            <p:ph type="sldNum" idx="12"/>
          </p:nvPr>
        </p:nvSpPr>
        <p:spPr>
          <a:xfrm>
            <a:off x="11685960" y="6565320"/>
            <a:ext cx="799560" cy="299520"/>
          </a:xfrm>
          <a:prstGeom prst="rect">
            <a:avLst/>
          </a:prstGeom>
          <a:noFill/>
          <a:ln w="0">
            <a:noFill/>
          </a:ln>
        </p:spPr>
        <p:txBody>
          <a:bodyPr lIns="90000" rIns="90000" tIns="45000" bIns="45000" anchor="t">
            <a:noAutofit/>
          </a:bodyPr>
          <a:lstStyle>
            <a:lvl1pPr indent="0" defTabSz="914400">
              <a:lnSpc>
                <a:spcPct val="100000"/>
              </a:lnSpc>
              <a:buNone/>
              <a:defRPr b="0" lang="en-US" sz="700" strike="noStrike" u="none">
                <a:solidFill>
                  <a:srgbClr val="626B7B"/>
                </a:solidFill>
                <a:effectLst/>
                <a:uFillTx/>
                <a:latin typeface="Aptos"/>
                <a:ea typeface="Aptos"/>
              </a:defRPr>
            </a:lvl1pPr>
          </a:lstStyle>
          <a:p>
            <a:pPr indent="0" defTabSz="914400">
              <a:lnSpc>
                <a:spcPct val="100000"/>
              </a:lnSpc>
              <a:buNone/>
            </a:pPr>
            <a:fld id="{3EE33A61-009F-4248-A4CF-F45FF554379E}" type="slidenum">
              <a:rPr b="0" lang="en-US" sz="700" strike="noStrike" u="none">
                <a:solidFill>
                  <a:srgbClr val="626B7B"/>
                </a:solidFill>
                <a:effectLst/>
                <a:uFillTx/>
                <a:latin typeface="Aptos"/>
                <a:ea typeface="Aptos"/>
              </a:rPr>
              <a:t>9</a:t>
            </a:fld>
            <a:endParaRPr b="0" lang="en-US" sz="700" strike="noStrike" u="none">
              <a:solidFill>
                <a:srgbClr val="2D2F38"/>
              </a:solidFill>
              <a:effectLst/>
              <a:uFillTx/>
              <a:latin typeface="Times New Roman"/>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2D2F38"/>
      </a:dk1>
      <a:lt1>
        <a:srgbClr val="ffffff"/>
      </a:lt1>
      <a:dk2>
        <a:srgbClr val="39466C"/>
      </a:dk2>
      <a:lt2>
        <a:srgbClr val="E5E8F0"/>
      </a:lt2>
      <a:accent1>
        <a:srgbClr val="39466C"/>
      </a:accent1>
      <a:accent2>
        <a:srgbClr val="B45309"/>
      </a:accent2>
      <a:accent3>
        <a:srgbClr val="A0A6B4"/>
      </a:accent3>
      <a:accent4>
        <a:srgbClr val="FCD34D"/>
      </a:accent4>
      <a:accent5>
        <a:srgbClr val="A0A6B4"/>
      </a:accent5>
      <a:accent6>
        <a:srgbClr val="166534"/>
      </a:accent6>
      <a:hlink>
        <a:srgbClr val="39466C"/>
      </a:hlink>
      <a:folHlink>
        <a:srgbClr val="39466C"/>
      </a:folHlink>
    </a:clrScheme>
    <a:fontScheme name="Office">
      <a:majorFont>
        <a:latin typeface="Aptos Display" pitchFamily="0" charset="1"/>
        <a:ea typeface=""/>
        <a:cs typeface=""/>
      </a:majorFont>
      <a:minorFont>
        <a:latin typeface="Aptos"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LibreOffice">
      <a:dk1>
        <a:srgbClr val="2D2F38"/>
      </a:dk1>
      <a:lt1>
        <a:srgbClr val="ffffff"/>
      </a:lt1>
      <a:dk2>
        <a:srgbClr val="2D2F38"/>
      </a:dk2>
      <a:lt2>
        <a:srgbClr val="ffffff"/>
      </a:lt2>
      <a:accent1>
        <a:srgbClr val="166534"/>
      </a:accent1>
      <a:accent2>
        <a:srgbClr val="39466C"/>
      </a:accent2>
      <a:accent3>
        <a:srgbClr val="B45309"/>
      </a:accent3>
      <a:accent4>
        <a:srgbClr val="39466C"/>
      </a:accent4>
      <a:accent5>
        <a:srgbClr val="FCD34D"/>
      </a:accent5>
      <a:accent6>
        <a:srgbClr val="991B1B"/>
      </a:accent6>
      <a:hlink>
        <a:srgbClr val="39466C"/>
      </a:hlink>
      <a:folHlink>
        <a:srgbClr val="39466C"/>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0</TotalTime>
  <Application>LibreOffice/25.2.3.2$Linux_X86_64 LibreOffice_project/520$Build-2</Application>
  <AppVersion>15.0000</AppVersion>
  <Words>0</Words>
  <Paragraphs>0</Paragraphs>
  <Company>Klarrow</Company>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2026-10-17T18:48:39Z</dcterms:created>
  <dc:creator>Klarrow</dc:creator>
  <dc:description/>
  <dc:language>en-US</dc:language>
  <cp:lastModifiedBy>Klarrow</cp:lastModifiedBy>
  <dcterms:modified xsi:type="dcterms:W3CDTF">2026-10-17T18:48:39Z</dcterms:modified>
  <cp:revision>1</cp:revision>
  <dc:subject>Pitch deck based on the 17 October 2026 Run 3 benchmark</dc:subject>
  <dc:title>Klarrow - The Evidence Layer for Food Traceability</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r8>9</vt:r8>
  </property>
  <property fmtid="{D5CDD505-2E9C-101B-9397-08002B2CF9AE}" pid="3" name="PresentationFormat">
    <vt:lpwstr>On-screen Show (16:9)</vt:lpwstr>
  </property>
  <property fmtid="{D5CDD505-2E9C-101B-9397-08002B2CF9AE}" pid="4" name="Slides">
    <vt:r8>9</vt:r8>
  </property>
</Properties>
</file>