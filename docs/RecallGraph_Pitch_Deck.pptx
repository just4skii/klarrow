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2D2F38"/>
                </a:solidFill>
                <a:effectLst/>
                <a:uFillTx/>
                <a:latin typeface="Arial"/>
              </a:rPr>
              <a:t>Click to edit the notes format</a:t>
            </a: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2D2F38"/>
                </a:solidFill>
                <a:effectLst/>
                <a:uFillTx/>
                <a:latin typeface="Times New Roman"/>
              </a:rPr>
              <a:t>&lt;header&gt;</a:t>
            </a:r>
          </a:p>
        </p:txBody>
      </p:sp>
      <p:sp>
        <p:nvSpPr>
          <p:cNvPr id="11"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2D2F38"/>
                </a:solidFill>
                <a:effectLst/>
                <a:uFillTx/>
                <a:latin typeface="Times New Roman"/>
              </a:defRPr>
            </a:lvl1pPr>
          </a:lstStyle>
          <a:p>
            <a:pPr indent="0" algn="r">
              <a:buNone/>
            </a:pPr>
            <a:r>
              <a:rPr lang="en-US" sz="1400" b="0" u="none" strike="noStrike">
                <a:solidFill>
                  <a:srgbClr val="2D2F38"/>
                </a:solidFill>
                <a:effectLst/>
                <a:uFillTx/>
                <a:latin typeface="Times New Roman"/>
              </a:rPr>
              <a:t>&lt;date/time&gt;</a:t>
            </a: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2D2F38"/>
                </a:solidFill>
                <a:effectLst/>
                <a:uFillTx/>
                <a:latin typeface="Times New Roman"/>
              </a:defRPr>
            </a:lvl1pPr>
          </a:lstStyle>
          <a:p>
            <a:pPr indent="0">
              <a:buNone/>
            </a:pPr>
            <a:r>
              <a:rPr lang="en-US" sz="1400" b="0" u="none" strike="noStrike">
                <a:solidFill>
                  <a:srgbClr val="2D2F38"/>
                </a:solidFill>
                <a:effectLst/>
                <a:uFillTx/>
                <a:latin typeface="Times New Roman"/>
              </a:rPr>
              <a:t>&lt;footer&gt;</a:t>
            </a: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2D2F38"/>
                </a:solidFill>
                <a:effectLst/>
                <a:uFillTx/>
                <a:latin typeface="Times New Roman"/>
              </a:defRPr>
            </a:lvl1pPr>
          </a:lstStyle>
          <a:p>
            <a:pPr indent="0" algn="r">
              <a:buNone/>
            </a:pPr>
            <a:fld id="{E6EB53F1-AC45-453A-B716-8EB5D9550263}" type="slidenum">
              <a:rPr lang="en-US" sz="1400" b="0" u="none" strike="noStrike">
                <a:solidFill>
                  <a:srgbClr val="2D2F38"/>
                </a:solidFill>
                <a:effectLst/>
                <a:uFillTx/>
                <a:latin typeface="Times New Roman"/>
              </a:rPr>
              <a:t>‹#›</a:t>
            </a:fld>
            <a:endParaRPr lang="en-US" sz="1400" b="0" u="none" strike="noStrike">
              <a:solidFill>
                <a:srgbClr val="2D2F38"/>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noRot="1" noChangeAspect="1"/>
          </p:cNvSpPr>
          <p:nvPr>
            <p:ph type="sldImg"/>
          </p:nvPr>
        </p:nvSpPr>
        <p:spPr>
          <a:xfrm>
            <a:off x="685800" y="1143000"/>
            <a:ext cx="5486040" cy="3085920"/>
          </a:xfrm>
          <a:prstGeom prst="rect">
            <a:avLst/>
          </a:prstGeom>
          <a:ln w="0">
            <a:noFill/>
          </a:ln>
        </p:spPr>
      </p:sp>
      <p:sp>
        <p:nvSpPr>
          <p:cNvPr id="3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Opening: A recall investigation begins with a question, not a clean database: which lots were affected, where did they go, and what are we still missing? Klarrow is designed to help an operator answer that from the records they already have.</a:t>
            </a:r>
          </a:p>
        </p:txBody>
      </p:sp>
      <p:sp>
        <p:nvSpPr>
          <p:cNvPr id="33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A74DC2-8BA6-4348-884E-89938E806E5D}" type="slidenum">
              <a:rPr lang="en-US" sz="1200" b="0" u="none" strike="noStrike">
                <a:solidFill>
                  <a:schemeClr val="dk1"/>
                </a:solidFill>
                <a:effectLst/>
                <a:uFillTx/>
                <a:latin typeface="+mn-lt"/>
                <a:ea typeface="+mn-ea"/>
              </a:rPr>
              <a:t>1</a:t>
            </a:fld>
            <a:endParaRPr lang="en-US" sz="1200" b="0" u="none" strike="noStrike">
              <a:solidFill>
                <a:srgbClr val="2D2F38"/>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noRot="1" noChangeAspect="1"/>
          </p:cNvSpPr>
          <p:nvPr>
            <p:ph type="sldImg"/>
          </p:nvPr>
        </p:nvSpPr>
        <p:spPr>
          <a:xfrm>
            <a:off x="685800" y="1143000"/>
            <a:ext cx="5486040" cy="3085920"/>
          </a:xfrm>
          <a:prstGeom prst="rect">
            <a:avLst/>
          </a:prstGeom>
          <a:ln w="0">
            <a:noFill/>
          </a:ln>
        </p:spPr>
      </p:sp>
      <p:sp>
        <p:nvSpPr>
          <p:cNvPr id="3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Problem statement: The hard part is not just looking up a lot in clean structured data. The operator must reconcile inconsistent identifiers, quantities and missing dispatch evidence across mixed documents. This is the problem hypothesis we are taking to practitioners; we do not yet claim measured industry-wide delays.</a:t>
            </a:r>
          </a:p>
        </p:txBody>
      </p:sp>
      <p:sp>
        <p:nvSpPr>
          <p:cNvPr id="33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FE5AEC-C955-48DB-8BA5-16F2DFB82A6D}" type="slidenum">
              <a:rPr lang="en-US" sz="1200" b="0" u="none" strike="noStrike">
                <a:solidFill>
                  <a:schemeClr val="dk1"/>
                </a:solidFill>
                <a:effectLst/>
                <a:uFillTx/>
                <a:latin typeface="+mn-lt"/>
                <a:ea typeface="+mn-ea"/>
              </a:rPr>
              <a:t>2</a:t>
            </a:fld>
            <a:endParaRPr lang="en-US" sz="1200" b="0" u="none" strike="noStrike">
              <a:solidFill>
                <a:srgbClr val="2D2F38"/>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noRot="1" noChangeAspect="1"/>
          </p:cNvSpPr>
          <p:nvPr>
            <p:ph type="sldImg"/>
          </p:nvPr>
        </p:nvSpPr>
        <p:spPr>
          <a:xfrm>
            <a:off x="685800" y="1143000"/>
            <a:ext cx="5486040" cy="3085920"/>
          </a:xfrm>
          <a:prstGeom prst="rect">
            <a:avLst/>
          </a:prstGeom>
          <a:ln w="0">
            <a:noFill/>
          </a:ln>
        </p:spPr>
      </p:sp>
      <p:sp>
        <p:nvSpPr>
          <p:cNvPr id="3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Explain the operating model, not just the UI: parsers and local Llama create claims; the system grounds what it can; an operator reviews candidate relationships; deterministic code traverses the resulting link graph and reports unresolved evidence. We are not claiming an existing ERP connector.</a:t>
            </a:r>
          </a:p>
        </p:txBody>
      </p:sp>
      <p:sp>
        <p:nvSpPr>
          <p:cNvPr id="33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AAF081-6611-453D-B1E1-A0ECAE85788D}" type="slidenum">
              <a:rPr lang="en-US" sz="1200" b="0" u="none" strike="noStrike">
                <a:solidFill>
                  <a:schemeClr val="dk1"/>
                </a:solidFill>
                <a:effectLst/>
                <a:uFillTx/>
                <a:latin typeface="+mn-lt"/>
                <a:ea typeface="+mn-ea"/>
              </a:rPr>
              <a:t>3</a:t>
            </a:fld>
            <a:endParaRPr lang="en-US" sz="1200" b="0" u="none" strike="noStrike">
              <a:solidFill>
                <a:srgbClr val="2D2F38"/>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PlaceHolder 1"/>
          <p:cNvSpPr>
            <a:spLocks noGrp="1" noRot="1" noChangeAspect="1"/>
          </p:cNvSpPr>
          <p:nvPr>
            <p:ph type="sldImg"/>
          </p:nvPr>
        </p:nvSpPr>
        <p:spPr>
          <a:xfrm>
            <a:off x="685800" y="1143000"/>
            <a:ext cx="5486040" cy="3085920"/>
          </a:xfrm>
          <a:prstGeom prst="rect">
            <a:avLst/>
          </a:prstGeom>
          <a:ln w="0">
            <a:noFill/>
          </a:ln>
        </p:spPr>
      </p:sp>
      <p:sp>
        <p:nvSpPr>
          <p:cNvPr id="3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This slide gives the safety story. We are not delegating food-safety decisions to an LLM. The current grounding mechanism checks whether a quote exists at a source locator, but this does not prove the value itself was interpreted correctly. Four quote-verified records in the benchmark had raw values on an adjacent line, so the reviewer remains essential.</a:t>
            </a:r>
          </a:p>
        </p:txBody>
      </p:sp>
      <p:sp>
        <p:nvSpPr>
          <p:cNvPr id="33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94A82C-BA3C-4071-8D5E-71ED1B3DBCE0}" type="slidenum">
              <a:rPr lang="en-US" sz="1200" b="0" u="none" strike="noStrike">
                <a:solidFill>
                  <a:schemeClr val="dk1"/>
                </a:solidFill>
                <a:effectLst/>
                <a:uFillTx/>
                <a:latin typeface="+mn-lt"/>
                <a:ea typeface="+mn-ea"/>
              </a:rPr>
              <a:t>4</a:t>
            </a:fld>
            <a:endParaRPr lang="en-US" sz="1200" b="0" u="none" strike="noStrike">
              <a:solidFill>
                <a:srgbClr val="2D2F38"/>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noRot="1" noChangeAspect="1"/>
          </p:cNvSpPr>
          <p:nvPr>
            <p:ph type="sldImg"/>
          </p:nvPr>
        </p:nvSpPr>
        <p:spPr>
          <a:xfrm>
            <a:off x="685800" y="1143000"/>
            <a:ext cx="5486040" cy="3085920"/>
          </a:xfrm>
          <a:prstGeom prst="rect">
            <a:avLst/>
          </a:prstGeom>
          <a:ln w="0">
            <a:noFill/>
          </a:ln>
        </p:spPr>
      </p:sp>
      <p:sp>
        <p:nvSpPr>
          <p:cNvPr id="3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This is one authored, fictional case-not real customer evidence. Seven documents were processed by local llama3.2:3b in 53.1 seconds, yielding 13 AI facts alongside 35 parser facts. Eight quotes were verbatim at their locators; five claims were only identifier matches and were flagged. Four of the eight verbatim quote spans did not contain the extracted raw value itself, because the value was on an adjacent line. We therefore do not claim model accuracy from these numbers.</a:t>
            </a:r>
          </a:p>
        </p:txBody>
      </p:sp>
      <p:sp>
        <p:nvSpPr>
          <p:cNvPr id="34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55CDF1-54D3-444D-9441-1E3AF00B4607}" type="slidenum">
              <a:rPr lang="en-US" sz="1200" b="0" u="none" strike="noStrike">
                <a:solidFill>
                  <a:schemeClr val="dk1"/>
                </a:solidFill>
                <a:effectLst/>
                <a:uFillTx/>
                <a:latin typeface="+mn-lt"/>
                <a:ea typeface="+mn-ea"/>
              </a:rPr>
              <a:t>5</a:t>
            </a:fld>
            <a:endParaRPr lang="en-US" sz="1200" b="0" u="none" strike="noStrike">
              <a:solidFill>
                <a:srgbClr val="2D2F38"/>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685800" y="1143000"/>
            <a:ext cx="5486040" cy="3085920"/>
          </a:xfrm>
          <a:prstGeom prst="rect">
            <a:avLst/>
          </a:prstGeom>
          <a:ln w="0">
            <a:noFill/>
          </a:ln>
        </p:spPr>
      </p:sp>
      <p:sp>
        <p:nvSpPr>
          <p:cNvPr id="3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The post-review trace returned finished lot FL-1021A and two customers, Bosveld and Highveld. A false-positive relationship to FL-1034C was rejected and excluded. RM-O873 was deferred, not merged. The input was 320 kg, recorded consumption was 180 kg, and downstream outputs are 6,600 units; without a verified conversion the system correctly leaves mass balance insufficient. The final possible-exposure set was empty, so explain this carefully: the ambiguity remains a finding; it is not being claimed as confirmed exposure.</a:t>
            </a:r>
          </a:p>
        </p:txBody>
      </p:sp>
      <p:sp>
        <p:nvSpPr>
          <p:cNvPr id="34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463D64-22AA-4F5B-9B80-C3AA63F362C1}" type="slidenum">
              <a:rPr lang="en-US" sz="1200" b="0" u="none" strike="noStrike">
                <a:solidFill>
                  <a:schemeClr val="dk1"/>
                </a:solidFill>
                <a:effectLst/>
                <a:uFillTx/>
                <a:latin typeface="+mn-lt"/>
                <a:ea typeface="+mn-ea"/>
              </a:rPr>
              <a:t>6</a:t>
            </a:fld>
            <a:endParaRPr lang="en-US" sz="1200" b="0" u="none" strike="noStrike">
              <a:solidFill>
                <a:srgbClr val="2D2F38"/>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noRot="1" noChangeAspect="1"/>
          </p:cNvSpPr>
          <p:nvPr>
            <p:ph type="sldImg"/>
          </p:nvPr>
        </p:nvSpPr>
        <p:spPr>
          <a:xfrm>
            <a:off x="685800" y="1143000"/>
            <a:ext cx="5486040" cy="3085920"/>
          </a:xfrm>
          <a:prstGeom prst="rect">
            <a:avLst/>
          </a:prstGeom>
          <a:ln w="0">
            <a:noFill/>
          </a:ln>
        </p:spPr>
      </p:sp>
      <p:sp>
        <p:nvSpPr>
          <p:cNvPr id="3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Differentiation should be framed as a thesis: we focus on the messy investigation moment and evidence reconciliation. We do not yet have a competitive study or ERP integration proof, so those remain hypotheses. The credible part of the story is the human review gate, trace states, source references, and honest uncertainty.</a:t>
            </a:r>
          </a:p>
        </p:txBody>
      </p:sp>
      <p:sp>
        <p:nvSpPr>
          <p:cNvPr id="348"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434D0FA-3BC4-4808-A4AF-997ECF79093A}" type="slidenum">
              <a:rPr lang="en-US" sz="1200" b="0" u="none" strike="noStrike">
                <a:solidFill>
                  <a:schemeClr val="dk1"/>
                </a:solidFill>
                <a:effectLst/>
                <a:uFillTx/>
                <a:latin typeface="+mn-lt"/>
                <a:ea typeface="+mn-ea"/>
              </a:rPr>
              <a:t>7</a:t>
            </a:fld>
            <a:endParaRPr lang="en-US" sz="1200" b="0" u="none" strike="noStrike">
              <a:solidFill>
                <a:srgbClr val="2D2F38"/>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PlaceHolder 1"/>
          <p:cNvSpPr>
            <a:spLocks noGrp="1" noRot="1" noChangeAspect="1"/>
          </p:cNvSpPr>
          <p:nvPr>
            <p:ph type="sldImg"/>
          </p:nvPr>
        </p:nvSpPr>
        <p:spPr>
          <a:xfrm>
            <a:off x="685800" y="1143000"/>
            <a:ext cx="5486040" cy="3085920"/>
          </a:xfrm>
          <a:prstGeom prst="rect">
            <a:avLst/>
          </a:prstGeom>
          <a:ln w="0">
            <a:noFill/>
          </a:ln>
        </p:spPr>
      </p:sp>
      <p:sp>
        <p:nvSpPr>
          <p:cNvPr id="3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The numbers here come from one controlled run. Extraction took 53.1 seconds for seven documents. Eight cited quote spans were verbatim at the line, five identifier-only claims were flagged. Four of the eight quote-verified claims did not include the raw value in the quote itself. All 48 facts were still unreviewed in that run. The final trace matched this scenario's prewritten expected scope, but the scenario was authored and this is not independent validation or a statistical accuracy measure.</a:t>
            </a:r>
          </a:p>
        </p:txBody>
      </p:sp>
      <p:sp>
        <p:nvSpPr>
          <p:cNvPr id="35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8AAC4D-1E90-4215-B8B1-C6F53B38276F}" type="slidenum">
              <a:rPr lang="en-US" sz="1200" b="0" u="none" strike="noStrike">
                <a:solidFill>
                  <a:schemeClr val="dk1"/>
                </a:solidFill>
                <a:effectLst/>
                <a:uFillTx/>
                <a:latin typeface="+mn-lt"/>
                <a:ea typeface="+mn-ea"/>
              </a:rPr>
              <a:t>8</a:t>
            </a:fld>
            <a:endParaRPr lang="en-US" sz="1200" b="0" u="none" strike="noStrike">
              <a:solidFill>
                <a:srgbClr val="2D2F38"/>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noRot="1" noChangeAspect="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2D2F38"/>
                </a:solidFill>
                <a:effectLst/>
                <a:uFillTx/>
                <a:latin typeface="Arial"/>
              </a:rPr>
              <a:t>Close with a concrete ask: we want a practitioner to review the workflow, a safe dataset that reflects real operational documents, and an opportunity to compare a manual mock recall against the tool. We are not asking judges to accept unsupported claims of time saved, accuracy or market demand.</a:t>
            </a:r>
          </a:p>
        </p:txBody>
      </p:sp>
      <p:sp>
        <p:nvSpPr>
          <p:cNvPr id="354"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085800-B031-4F78-9B56-D8895D596548}" type="slidenum">
              <a:rPr lang="en-US" sz="1200" b="0" u="none" strike="noStrike">
                <a:solidFill>
                  <a:schemeClr val="dk1"/>
                </a:solidFill>
                <a:effectLst/>
                <a:uFillTx/>
                <a:latin typeface="+mn-lt"/>
                <a:ea typeface="+mn-ea"/>
              </a:rPr>
              <a:t>9</a:t>
            </a:fld>
            <a:endParaRPr lang="en-US" sz="1200" b="0" u="none" strike="noStrike">
              <a:solidFill>
                <a:srgbClr val="2D2F38"/>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2D2F38"/>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2D2F38"/>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2D2F38"/>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2D2F38"/>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75200" y="6510240"/>
            <a:ext cx="11229120" cy="360"/>
          </a:xfrm>
          <a:prstGeom prst="line">
            <a:avLst/>
          </a:prstGeom>
          <a:ln w="8890">
            <a:solidFill>
              <a:srgbClr val="E5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3" name="Text 1"/>
          <p:cNvSpPr/>
          <p:nvPr/>
        </p:nvSpPr>
        <p:spPr>
          <a:xfrm>
            <a:off x="502920" y="6574680"/>
            <a:ext cx="566892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spc="105">
                <a:solidFill>
                  <a:srgbClr val="626B7B"/>
                </a:solidFill>
                <a:effectLst/>
                <a:uFillTx/>
                <a:latin typeface="Aptos"/>
                <a:ea typeface="Aptos"/>
              </a:rPr>
              <a:t>KLARROW  /  EVIDENCE RECONCILIATION</a:t>
            </a:r>
            <a:endParaRPr lang="en-US" sz="750" b="0" u="none" strike="noStrike">
              <a:solidFill>
                <a:srgbClr val="2D2F38"/>
              </a:solidFill>
              <a:effectLst/>
              <a:uFillTx/>
              <a:latin typeface="Arial"/>
            </a:endParaRPr>
          </a:p>
        </p:txBody>
      </p:sp>
      <p:sp>
        <p:nvSpPr>
          <p:cNvPr id="4" name="Text 2"/>
          <p:cNvSpPr/>
          <p:nvPr/>
        </p:nvSpPr>
        <p:spPr>
          <a:xfrm>
            <a:off x="9235440" y="6574680"/>
            <a:ext cx="24501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spc="79">
                <a:solidFill>
                  <a:srgbClr val="626B7B"/>
                </a:solidFill>
                <a:effectLst/>
                <a:uFillTx/>
                <a:latin typeface="Aptos"/>
                <a:ea typeface="Aptos"/>
              </a:rPr>
              <a:t>PITCH DRAFT · OCT 2026</a:t>
            </a:r>
            <a:endParaRPr lang="en-US" sz="750" b="0" u="none" strike="noStrike">
              <a:solidFill>
                <a:srgbClr val="2D2F38"/>
              </a:solidFill>
              <a:effectLst/>
              <a:uFillTx/>
              <a:latin typeface="Arial"/>
            </a:endParaRPr>
          </a:p>
        </p:txBody>
      </p:sp>
      <p:sp>
        <p:nvSpPr>
          <p:cNvPr id="5" name="PlaceHolder 1"/>
          <p:cNvSpPr>
            <a:spLocks noGrp="1"/>
          </p:cNvSpPr>
          <p:nvPr>
            <p:ph type="sldNum" idx="1"/>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553F12F0-021E-4161-87A8-301C76112FF1}" type="slidenum">
              <a:rPr lang="en-US" sz="700" b="0" u="none" strike="noStrike">
                <a:solidFill>
                  <a:srgbClr val="626B7B"/>
                </a:solidFill>
                <a:effectLst/>
                <a:uFillTx/>
                <a:latin typeface="Aptos"/>
                <a:ea typeface="Aptos"/>
              </a:rPr>
              <a:t>‹#›</a:t>
            </a:fld>
            <a:endParaRPr lang="en-US" sz="700" b="0" u="none" strike="noStrike">
              <a:solidFill>
                <a:srgbClr val="2D2F38"/>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2D2F38"/>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2D2F38"/>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2D2F38"/>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2D2F38"/>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2D2F38"/>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2F38"/>
        </a:solidFill>
        <a:effectLst/>
      </p:bgPr>
    </p:bg>
    <p:spTree>
      <p:nvGrpSpPr>
        <p:cNvPr id="1" name=""/>
        <p:cNvGrpSpPr/>
        <p:nvPr/>
      </p:nvGrpSpPr>
      <p:grpSpPr>
        <a:xfrm>
          <a:off x="0" y="0"/>
          <a:ext cx="0" cy="0"/>
          <a:chOff x="0" y="0"/>
          <a:chExt cx="0" cy="0"/>
        </a:xfrm>
      </p:grpSpPr>
      <p:sp>
        <p:nvSpPr>
          <p:cNvPr id="14" name="Shape 0"/>
          <p:cNvSpPr/>
          <p:nvPr/>
        </p:nvSpPr>
        <p:spPr>
          <a:xfrm>
            <a:off x="566640" y="6318360"/>
            <a:ext cx="11018520" cy="360"/>
          </a:xfrm>
          <a:prstGeom prst="line">
            <a:avLst/>
          </a:prstGeom>
          <a:ln w="10160">
            <a:solidFill>
              <a:srgbClr val="B9C1D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5" name="Text 1"/>
          <p:cNvSpPr/>
          <p:nvPr/>
        </p:nvSpPr>
        <p:spPr>
          <a:xfrm>
            <a:off x="658440" y="567000"/>
            <a:ext cx="5028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spc="329">
                <a:solidFill>
                  <a:srgbClr val="A0A6B4"/>
                </a:solidFill>
                <a:effectLst/>
                <a:uFillTx/>
                <a:latin typeface="Aptos"/>
                <a:ea typeface="Aptos"/>
              </a:rPr>
              <a:t>KLARROW</a:t>
            </a:r>
            <a:endParaRPr lang="en-US" sz="1300" b="0" u="none" strike="noStrike">
              <a:solidFill>
                <a:srgbClr val="FFFFFF"/>
              </a:solidFill>
              <a:effectLst/>
              <a:uFillTx/>
              <a:latin typeface="Arial"/>
            </a:endParaRPr>
          </a:p>
        </p:txBody>
      </p:sp>
      <p:sp>
        <p:nvSpPr>
          <p:cNvPr id="16" name="Text 2"/>
          <p:cNvSpPr/>
          <p:nvPr/>
        </p:nvSpPr>
        <p:spPr>
          <a:xfrm>
            <a:off x="658440" y="1234440"/>
            <a:ext cx="658332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3200" b="1" u="none" strike="noStrike">
                <a:solidFill>
                  <a:srgbClr val="FFFFFF"/>
                </a:solidFill>
                <a:effectLst/>
                <a:uFillTx/>
                <a:latin typeface="Aptos"/>
                <a:ea typeface="Aptos"/>
              </a:rPr>
              <a:t>The evidence layer for</a:t>
            </a:r>
            <a:endParaRPr lang="en-US" sz="3200" b="0" u="none" strike="noStrike">
              <a:solidFill>
                <a:srgbClr val="FFFFFF"/>
              </a:solidFill>
              <a:effectLst/>
              <a:uFillTx/>
              <a:latin typeface="Arial"/>
            </a:endParaRPr>
          </a:p>
          <a:p>
            <a:pPr defTabSz="914400">
              <a:lnSpc>
                <a:spcPct val="100000"/>
              </a:lnSpc>
              <a:tabLst>
                <a:tab pos="0" algn="l"/>
              </a:tabLst>
            </a:pPr>
            <a:r>
              <a:rPr lang="en-US" sz="3200" b="1" u="none" strike="noStrike">
                <a:solidFill>
                  <a:srgbClr val="FFFFFF"/>
                </a:solidFill>
                <a:effectLst/>
                <a:uFillTx/>
                <a:latin typeface="Aptos"/>
                <a:ea typeface="Aptos"/>
              </a:rPr>
              <a:t>food-traceability investigations</a:t>
            </a:r>
            <a:endParaRPr lang="en-US" sz="3200" b="0" u="none" strike="noStrike">
              <a:solidFill>
                <a:srgbClr val="FFFFFF"/>
              </a:solidFill>
              <a:effectLst/>
              <a:uFillTx/>
              <a:latin typeface="Arial"/>
            </a:endParaRPr>
          </a:p>
        </p:txBody>
      </p:sp>
      <p:sp>
        <p:nvSpPr>
          <p:cNvPr id="17" name="Text 3"/>
          <p:cNvSpPr/>
          <p:nvPr/>
        </p:nvSpPr>
        <p:spPr>
          <a:xfrm>
            <a:off x="694800" y="2788920"/>
            <a:ext cx="557748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E5E8F0"/>
                </a:solidFill>
                <a:effectLst/>
                <a:uFillTx/>
                <a:latin typeface="Aptos"/>
                <a:ea typeface="Aptos"/>
              </a:rPr>
              <a:t>Turn fragmented records into a trace people can inspect, challenge and explain.</a:t>
            </a:r>
            <a:endParaRPr lang="en-US" sz="1700" b="0" u="none" strike="noStrike">
              <a:solidFill>
                <a:srgbClr val="FFFFFF"/>
              </a:solidFill>
              <a:effectLst/>
              <a:uFillTx/>
              <a:latin typeface="Arial"/>
            </a:endParaRPr>
          </a:p>
        </p:txBody>
      </p:sp>
      <p:sp>
        <p:nvSpPr>
          <p:cNvPr id="18" name="Shape 4"/>
          <p:cNvSpPr/>
          <p:nvPr/>
        </p:nvSpPr>
        <p:spPr>
          <a:xfrm>
            <a:off x="713160" y="3767400"/>
            <a:ext cx="1599840" cy="264960"/>
          </a:xfrm>
          <a:prstGeom prst="roundRect">
            <a:avLst>
              <a:gd name="adj" fmla="val 24138"/>
            </a:avLst>
          </a:prstGeom>
          <a:solidFill>
            <a:srgbClr val="2D3858"/>
          </a:solidFill>
          <a:ln w="889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 name="Text 5"/>
          <p:cNvSpPr/>
          <p:nvPr/>
        </p:nvSpPr>
        <p:spPr>
          <a:xfrm>
            <a:off x="777240" y="3785760"/>
            <a:ext cx="14716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E5E8F0"/>
                </a:solidFill>
                <a:effectLst/>
                <a:uFillTx/>
                <a:latin typeface="Aptos"/>
                <a:ea typeface="Aptos"/>
              </a:rPr>
              <a:t>WORKING PROTOTYPE</a:t>
            </a:r>
            <a:endParaRPr lang="en-US" sz="860" b="0" u="none" strike="noStrike">
              <a:solidFill>
                <a:srgbClr val="FFFFFF"/>
              </a:solidFill>
              <a:effectLst/>
              <a:uFillTx/>
              <a:latin typeface="Arial"/>
            </a:endParaRPr>
          </a:p>
        </p:txBody>
      </p:sp>
      <p:sp>
        <p:nvSpPr>
          <p:cNvPr id="20" name="Text 6"/>
          <p:cNvSpPr/>
          <p:nvPr/>
        </p:nvSpPr>
        <p:spPr>
          <a:xfrm>
            <a:off x="713160" y="4224600"/>
            <a:ext cx="6034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E5E8F0"/>
                </a:solidFill>
                <a:effectLst/>
                <a:uFillTx/>
                <a:latin typeface="Aptos"/>
                <a:ea typeface="Aptos"/>
              </a:rPr>
              <a:t>Local Llama inference  ·  Source-linked claims  ·  Human-reviewed relationships</a:t>
            </a:r>
            <a:endParaRPr lang="en-US" sz="1120" b="0" u="none" strike="noStrike">
              <a:solidFill>
                <a:srgbClr val="FFFFFF"/>
              </a:solidFill>
              <a:effectLst/>
              <a:uFillTx/>
              <a:latin typeface="Arial"/>
            </a:endParaRPr>
          </a:p>
        </p:txBody>
      </p:sp>
      <p:sp>
        <p:nvSpPr>
          <p:cNvPr id="21" name="Shape 7"/>
          <p:cNvSpPr/>
          <p:nvPr/>
        </p:nvSpPr>
        <p:spPr>
          <a:xfrm>
            <a:off x="9034200" y="1398960"/>
            <a:ext cx="612720" cy="447840"/>
          </a:xfrm>
          <a:prstGeom prst="line">
            <a:avLst/>
          </a:prstGeom>
          <a:ln w="25400">
            <a:solidFill>
              <a:srgbClr val="A0A6B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2" name="Shape 8"/>
          <p:cNvSpPr/>
          <p:nvPr/>
        </p:nvSpPr>
        <p:spPr>
          <a:xfrm flipH="1">
            <a:off x="9189720" y="2203560"/>
            <a:ext cx="1051560" cy="704160"/>
          </a:xfrm>
          <a:prstGeom prst="line">
            <a:avLst/>
          </a:prstGeom>
          <a:ln w="25400">
            <a:solidFill>
              <a:srgbClr val="A0A6B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3" name="Shape 9"/>
          <p:cNvSpPr/>
          <p:nvPr/>
        </p:nvSpPr>
        <p:spPr>
          <a:xfrm>
            <a:off x="9418320" y="3401280"/>
            <a:ext cx="511920" cy="393480"/>
          </a:xfrm>
          <a:prstGeom prst="line">
            <a:avLst/>
          </a:prstGeom>
          <a:ln w="25400">
            <a:solidFill>
              <a:srgbClr val="A0A6B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4" name="Shape 10"/>
          <p:cNvSpPr/>
          <p:nvPr/>
        </p:nvSpPr>
        <p:spPr>
          <a:xfrm flipH="1">
            <a:off x="8074080" y="3602520"/>
            <a:ext cx="45720" cy="969480"/>
          </a:xfrm>
          <a:prstGeom prst="line">
            <a:avLst/>
          </a:prstGeom>
          <a:ln w="22860">
            <a:solidFill>
              <a:srgbClr val="FCD34D"/>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5" name="Shape 11"/>
          <p:cNvSpPr/>
          <p:nvPr/>
        </p:nvSpPr>
        <p:spPr>
          <a:xfrm>
            <a:off x="7406640" y="1051560"/>
            <a:ext cx="1627200" cy="694440"/>
          </a:xfrm>
          <a:prstGeom prst="roundRect">
            <a:avLst>
              <a:gd name="adj" fmla="val 18421"/>
            </a:avLst>
          </a:prstGeom>
          <a:solidFill>
            <a:srgbClr val="2D3858"/>
          </a:solidFill>
          <a:ln w="1016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2"/>
          <p:cNvSpPr/>
          <p:nvPr/>
        </p:nvSpPr>
        <p:spPr>
          <a:xfrm>
            <a:off x="7479720" y="1161360"/>
            <a:ext cx="14810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Supplier</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ptos"/>
                <a:ea typeface="Aptos"/>
              </a:rPr>
              <a:t>record</a:t>
            </a:r>
            <a:endParaRPr lang="en-US" sz="1200" b="0" u="none" strike="noStrike">
              <a:solidFill>
                <a:srgbClr val="FFFFFF"/>
              </a:solidFill>
              <a:effectLst/>
              <a:uFillTx/>
              <a:latin typeface="Arial"/>
            </a:endParaRPr>
          </a:p>
        </p:txBody>
      </p:sp>
      <p:sp>
        <p:nvSpPr>
          <p:cNvPr id="27" name="Shape 13"/>
          <p:cNvSpPr/>
          <p:nvPr/>
        </p:nvSpPr>
        <p:spPr>
          <a:xfrm>
            <a:off x="9646920" y="1508760"/>
            <a:ext cx="1599840" cy="694440"/>
          </a:xfrm>
          <a:prstGeom prst="roundRect">
            <a:avLst>
              <a:gd name="adj" fmla="val 18421"/>
            </a:avLst>
          </a:prstGeom>
          <a:solidFill>
            <a:srgbClr val="2D3858"/>
          </a:solidFill>
          <a:ln w="1016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Text 14"/>
          <p:cNvSpPr/>
          <p:nvPr/>
        </p:nvSpPr>
        <p:spPr>
          <a:xfrm>
            <a:off x="9720000" y="1618560"/>
            <a:ext cx="145368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Candidate</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ptos"/>
                <a:ea typeface="Aptos"/>
              </a:rPr>
              <a:t>claim</a:t>
            </a:r>
            <a:endParaRPr lang="en-US" sz="1200" b="0" u="none" strike="noStrike">
              <a:solidFill>
                <a:srgbClr val="FFFFFF"/>
              </a:solidFill>
              <a:effectLst/>
              <a:uFillTx/>
              <a:latin typeface="Arial"/>
            </a:endParaRPr>
          </a:p>
        </p:txBody>
      </p:sp>
      <p:sp>
        <p:nvSpPr>
          <p:cNvPr id="29" name="Shape 15"/>
          <p:cNvSpPr/>
          <p:nvPr/>
        </p:nvSpPr>
        <p:spPr>
          <a:xfrm>
            <a:off x="7680960" y="2907720"/>
            <a:ext cx="1737000" cy="694440"/>
          </a:xfrm>
          <a:prstGeom prst="roundRect">
            <a:avLst>
              <a:gd name="adj" fmla="val 18421"/>
            </a:avLst>
          </a:prstGeom>
          <a:solidFill>
            <a:srgbClr val="2D3858"/>
          </a:solidFill>
          <a:ln w="1016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 name="Text 16"/>
          <p:cNvSpPr/>
          <p:nvPr/>
        </p:nvSpPr>
        <p:spPr>
          <a:xfrm>
            <a:off x="7754040" y="3017520"/>
            <a:ext cx="15908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Review</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ptos"/>
                <a:ea typeface="Aptos"/>
              </a:rPr>
              <a:t>decision</a:t>
            </a:r>
            <a:endParaRPr lang="en-US" sz="1200" b="0" u="none" strike="noStrike">
              <a:solidFill>
                <a:srgbClr val="FFFFFF"/>
              </a:solidFill>
              <a:effectLst/>
              <a:uFillTx/>
              <a:latin typeface="Arial"/>
            </a:endParaRPr>
          </a:p>
        </p:txBody>
      </p:sp>
      <p:sp>
        <p:nvSpPr>
          <p:cNvPr id="31" name="Shape 17"/>
          <p:cNvSpPr/>
          <p:nvPr/>
        </p:nvSpPr>
        <p:spPr>
          <a:xfrm>
            <a:off x="9784080" y="3794760"/>
            <a:ext cx="1535760" cy="694440"/>
          </a:xfrm>
          <a:prstGeom prst="roundRect">
            <a:avLst>
              <a:gd name="adj" fmla="val 18421"/>
            </a:avLst>
          </a:prstGeom>
          <a:solidFill>
            <a:srgbClr val="2D3858"/>
          </a:solidFill>
          <a:ln w="1016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Text 18"/>
          <p:cNvSpPr/>
          <p:nvPr/>
        </p:nvSpPr>
        <p:spPr>
          <a:xfrm>
            <a:off x="9857160" y="3904560"/>
            <a:ext cx="13896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Trace</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ptos"/>
                <a:ea typeface="Aptos"/>
              </a:rPr>
              <a:t>result</a:t>
            </a:r>
            <a:endParaRPr lang="en-US" sz="1200" b="0" u="none" strike="noStrike">
              <a:solidFill>
                <a:srgbClr val="FFFFFF"/>
              </a:solidFill>
              <a:effectLst/>
              <a:uFillTx/>
              <a:latin typeface="Arial"/>
            </a:endParaRPr>
          </a:p>
        </p:txBody>
      </p:sp>
      <p:sp>
        <p:nvSpPr>
          <p:cNvPr id="33" name="Shape 19"/>
          <p:cNvSpPr/>
          <p:nvPr/>
        </p:nvSpPr>
        <p:spPr>
          <a:xfrm>
            <a:off x="7269480" y="4572000"/>
            <a:ext cx="1645560" cy="694440"/>
          </a:xfrm>
          <a:prstGeom prst="roundRect">
            <a:avLst>
              <a:gd name="adj" fmla="val 18421"/>
            </a:avLst>
          </a:prstGeom>
          <a:solidFill>
            <a:srgbClr val="78350F"/>
          </a:solidFill>
          <a:ln w="1016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 name="Text 20"/>
          <p:cNvSpPr/>
          <p:nvPr/>
        </p:nvSpPr>
        <p:spPr>
          <a:xfrm>
            <a:off x="7342560" y="4681800"/>
            <a:ext cx="149940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FFFFFF"/>
                </a:solidFill>
                <a:effectLst/>
                <a:uFillTx/>
                <a:latin typeface="Aptos"/>
                <a:ea typeface="Aptos"/>
              </a:rPr>
              <a:t>Missing</a:t>
            </a:r>
            <a:endParaRPr lang="en-US" sz="1200" b="0" u="none" strike="noStrike">
              <a:solidFill>
                <a:srgbClr val="FFFFFF"/>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ptos"/>
                <a:ea typeface="Aptos"/>
              </a:rPr>
              <a:t>evidence</a:t>
            </a:r>
            <a:endParaRPr lang="en-US" sz="1200" b="0" u="none" strike="noStrike">
              <a:solidFill>
                <a:srgbClr val="FFFFFF"/>
              </a:solidFill>
              <a:effectLst/>
              <a:uFillTx/>
              <a:latin typeface="Arial"/>
            </a:endParaRPr>
          </a:p>
        </p:txBody>
      </p:sp>
      <p:sp>
        <p:nvSpPr>
          <p:cNvPr id="35" name="Text 21"/>
          <p:cNvSpPr/>
          <p:nvPr/>
        </p:nvSpPr>
        <p:spPr>
          <a:xfrm>
            <a:off x="6995160" y="5559480"/>
            <a:ext cx="4525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i="1" u="none" strike="noStrike">
                <a:solidFill>
                  <a:srgbClr val="E5E8F0"/>
                </a:solidFill>
                <a:effectLst/>
                <a:uFillTx/>
                <a:latin typeface="Aptos"/>
                <a:ea typeface="Aptos"/>
              </a:rPr>
              <a:t>A trace is only as trustworthy as the evidence behind each link.</a:t>
            </a:r>
            <a:endParaRPr lang="en-US" sz="1100" b="0" u="none" strike="noStrike">
              <a:solidFill>
                <a:srgbClr val="FFFFFF"/>
              </a:solidFill>
              <a:effectLst/>
              <a:uFillTx/>
              <a:latin typeface="Arial"/>
            </a:endParaRPr>
          </a:p>
        </p:txBody>
      </p:sp>
      <p:sp>
        <p:nvSpPr>
          <p:cNvPr id="36" name="Text 22"/>
          <p:cNvSpPr/>
          <p:nvPr/>
        </p:nvSpPr>
        <p:spPr>
          <a:xfrm>
            <a:off x="685800" y="6419160"/>
            <a:ext cx="50288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00" b="0" u="none" strike="noStrike" spc="99">
                <a:solidFill>
                  <a:srgbClr val="A0A6B4"/>
                </a:solidFill>
                <a:effectLst/>
                <a:uFillTx/>
                <a:latin typeface="Aptos"/>
                <a:ea typeface="Aptos"/>
              </a:rPr>
              <a:t>PITCH DRAFT · 17 OCTOBER 2026</a:t>
            </a:r>
            <a:endParaRPr lang="en-US" sz="8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01 / PROBLEM</a:t>
            </a:r>
            <a:endParaRPr lang="en-US" sz="900" b="0" u="none" strike="noStrike">
              <a:solidFill>
                <a:srgbClr val="2D2F38"/>
              </a:solidFill>
              <a:effectLst/>
              <a:uFillTx/>
              <a:latin typeface="Arial"/>
            </a:endParaRPr>
          </a:p>
        </p:txBody>
      </p:sp>
      <p:sp>
        <p:nvSpPr>
          <p:cNvPr id="38"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The investigation starts before the data is clean</a:t>
            </a:r>
            <a:endParaRPr lang="en-US" sz="2600" b="0" u="none" strike="noStrike">
              <a:solidFill>
                <a:srgbClr val="2D2F38"/>
              </a:solidFill>
              <a:effectLst/>
              <a:uFillTx/>
              <a:latin typeface="Arial"/>
            </a:endParaRPr>
          </a:p>
        </p:txBody>
      </p:sp>
      <p:sp>
        <p:nvSpPr>
          <p:cNvPr id="39"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A quality manager needs to reconstruct a path across records that were never designed to fit together.</a:t>
            </a:r>
            <a:endParaRPr lang="en-US" sz="1250" b="0" u="none" strike="noStrike">
              <a:solidFill>
                <a:srgbClr val="2D2F38"/>
              </a:solidFill>
              <a:effectLst/>
              <a:uFillTx/>
              <a:latin typeface="Arial"/>
            </a:endParaRPr>
          </a:p>
        </p:txBody>
      </p:sp>
      <p:sp>
        <p:nvSpPr>
          <p:cNvPr id="40" name="Shape 3"/>
          <p:cNvSpPr/>
          <p:nvPr/>
        </p:nvSpPr>
        <p:spPr>
          <a:xfrm>
            <a:off x="640080" y="1938600"/>
            <a:ext cx="3584160" cy="3245760"/>
          </a:xfrm>
          <a:prstGeom prst="roundRect">
            <a:avLst>
              <a:gd name="adj" fmla="val 3944"/>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41" name="Shape 4"/>
          <p:cNvSpPr/>
          <p:nvPr/>
        </p:nvSpPr>
        <p:spPr>
          <a:xfrm>
            <a:off x="640080" y="1938600"/>
            <a:ext cx="3584160" cy="68400"/>
          </a:xfrm>
          <a:prstGeom prst="rect">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23760" rIns="90000" bIns="23760" anchor="t">
            <a:noAutofit/>
          </a:bodyPr>
          <a:lstStyle/>
          <a:p>
            <a:endParaRPr lang="en-US" sz="1800" b="0" u="none" strike="noStrike">
              <a:solidFill>
                <a:srgbClr val="FFFFFF"/>
              </a:solidFill>
              <a:effectLst/>
              <a:uFillTx/>
              <a:latin typeface="Arial"/>
            </a:endParaRPr>
          </a:p>
        </p:txBody>
      </p:sp>
      <p:sp>
        <p:nvSpPr>
          <p:cNvPr id="42" name="Text 5"/>
          <p:cNvSpPr/>
          <p:nvPr/>
        </p:nvSpPr>
        <p:spPr>
          <a:xfrm>
            <a:off x="877680" y="2221920"/>
            <a:ext cx="3017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Records are scattered</a:t>
            </a:r>
            <a:endParaRPr lang="en-US" sz="1700" b="0" u="none" strike="noStrike">
              <a:solidFill>
                <a:srgbClr val="2D2F38"/>
              </a:solidFill>
              <a:effectLst/>
              <a:uFillTx/>
              <a:latin typeface="Arial"/>
            </a:endParaRPr>
          </a:p>
        </p:txBody>
      </p:sp>
      <p:sp>
        <p:nvSpPr>
          <p:cNvPr id="43" name="Shape 6"/>
          <p:cNvSpPr/>
          <p:nvPr/>
        </p:nvSpPr>
        <p:spPr>
          <a:xfrm>
            <a:off x="868680" y="281628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44" name="Text 7"/>
          <p:cNvSpPr/>
          <p:nvPr/>
        </p:nvSpPr>
        <p:spPr>
          <a:xfrm>
            <a:off x="1005840" y="287136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2D2F38"/>
                </a:solidFill>
                <a:effectLst/>
                <a:uFillTx/>
                <a:latin typeface="Aptos"/>
                <a:ea typeface="Aptos"/>
              </a:rPr>
              <a:t>PDF invoices</a:t>
            </a:r>
            <a:endParaRPr lang="en-US" sz="1230" b="0" u="none" strike="noStrike">
              <a:solidFill>
                <a:srgbClr val="2D2F38"/>
              </a:solidFill>
              <a:effectLst/>
              <a:uFillTx/>
              <a:latin typeface="Arial"/>
            </a:endParaRPr>
          </a:p>
        </p:txBody>
      </p:sp>
      <p:sp>
        <p:nvSpPr>
          <p:cNvPr id="45" name="Shape 8"/>
          <p:cNvSpPr/>
          <p:nvPr/>
        </p:nvSpPr>
        <p:spPr>
          <a:xfrm>
            <a:off x="868680" y="341064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46" name="Text 9"/>
          <p:cNvSpPr/>
          <p:nvPr/>
        </p:nvSpPr>
        <p:spPr>
          <a:xfrm>
            <a:off x="1005840" y="346572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2D2F38"/>
                </a:solidFill>
                <a:effectLst/>
                <a:uFillTx/>
                <a:latin typeface="Aptos"/>
                <a:ea typeface="Aptos"/>
              </a:rPr>
              <a:t>Batch sheets</a:t>
            </a:r>
            <a:endParaRPr lang="en-US" sz="1230" b="0" u="none" strike="noStrike">
              <a:solidFill>
                <a:srgbClr val="2D2F38"/>
              </a:solidFill>
              <a:effectLst/>
              <a:uFillTx/>
              <a:latin typeface="Arial"/>
            </a:endParaRPr>
          </a:p>
        </p:txBody>
      </p:sp>
      <p:sp>
        <p:nvSpPr>
          <p:cNvPr id="47" name="Shape 10"/>
          <p:cNvSpPr/>
          <p:nvPr/>
        </p:nvSpPr>
        <p:spPr>
          <a:xfrm>
            <a:off x="868680" y="4005000"/>
            <a:ext cx="3126960" cy="429480"/>
          </a:xfrm>
          <a:prstGeom prst="roundRect">
            <a:avLst>
              <a:gd name="adj" fmla="val 17021"/>
            </a:avLst>
          </a:prstGeom>
          <a:solidFill>
            <a:srgbClr val="F4F6FA"/>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48" name="Text 11"/>
          <p:cNvSpPr/>
          <p:nvPr/>
        </p:nvSpPr>
        <p:spPr>
          <a:xfrm>
            <a:off x="1005840" y="406008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626B7B"/>
                </a:solidFill>
                <a:effectLst/>
                <a:uFillTx/>
                <a:latin typeface="Aptos"/>
                <a:ea typeface="Aptos"/>
              </a:rPr>
              <a:t>Scanned dispatch notes</a:t>
            </a:r>
            <a:endParaRPr lang="en-US" sz="1230" b="0" u="none" strike="noStrike">
              <a:solidFill>
                <a:srgbClr val="2D2F38"/>
              </a:solidFill>
              <a:effectLst/>
              <a:uFillTx/>
              <a:latin typeface="Arial"/>
            </a:endParaRPr>
          </a:p>
        </p:txBody>
      </p:sp>
      <p:sp>
        <p:nvSpPr>
          <p:cNvPr id="49" name="Shape 12"/>
          <p:cNvSpPr/>
          <p:nvPr/>
        </p:nvSpPr>
        <p:spPr>
          <a:xfrm>
            <a:off x="4233600" y="1938600"/>
            <a:ext cx="3584160" cy="3245760"/>
          </a:xfrm>
          <a:prstGeom prst="roundRect">
            <a:avLst>
              <a:gd name="adj" fmla="val 3944"/>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50" name="Shape 13"/>
          <p:cNvSpPr/>
          <p:nvPr/>
        </p:nvSpPr>
        <p:spPr>
          <a:xfrm>
            <a:off x="4233600" y="1938600"/>
            <a:ext cx="3584160" cy="68400"/>
          </a:xfrm>
          <a:prstGeom prst="rect">
            <a:avLst/>
          </a:prstGeom>
          <a:solidFill>
            <a:srgbClr val="2D3858"/>
          </a:solidFill>
          <a:ln w="12700">
            <a:solidFill>
              <a:srgbClr val="2D3858"/>
            </a:solidFill>
            <a:round/>
          </a:ln>
        </p:spPr>
        <p:style>
          <a:lnRef idx="0">
            <a:scrgbClr r="0" g="0" b="0"/>
          </a:lnRef>
          <a:fillRef idx="0">
            <a:scrgbClr r="0" g="0" b="0"/>
          </a:fillRef>
          <a:effectRef idx="0">
            <a:scrgbClr r="0" g="0" b="0"/>
          </a:effectRef>
          <a:fontRef idx="minor"/>
        </p:style>
        <p:txBody>
          <a:bodyPr lIns="90000" tIns="23760" rIns="90000" bIns="23760" anchor="t">
            <a:noAutofit/>
          </a:bodyPr>
          <a:lstStyle/>
          <a:p>
            <a:endParaRPr lang="en-US" sz="1800" b="0" u="none" strike="noStrike">
              <a:solidFill>
                <a:srgbClr val="FFFFFF"/>
              </a:solidFill>
              <a:effectLst/>
              <a:uFillTx/>
              <a:latin typeface="Arial"/>
            </a:endParaRPr>
          </a:p>
        </p:txBody>
      </p:sp>
      <p:sp>
        <p:nvSpPr>
          <p:cNvPr id="51" name="Text 14"/>
          <p:cNvSpPr/>
          <p:nvPr/>
        </p:nvSpPr>
        <p:spPr>
          <a:xfrm>
            <a:off x="4471560" y="2221920"/>
            <a:ext cx="3017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Identifiers drift</a:t>
            </a:r>
            <a:endParaRPr lang="en-US" sz="1700" b="0" u="none" strike="noStrike">
              <a:solidFill>
                <a:srgbClr val="2D2F38"/>
              </a:solidFill>
              <a:effectLst/>
              <a:uFillTx/>
              <a:latin typeface="Arial"/>
            </a:endParaRPr>
          </a:p>
        </p:txBody>
      </p:sp>
      <p:sp>
        <p:nvSpPr>
          <p:cNvPr id="52" name="Shape 15"/>
          <p:cNvSpPr/>
          <p:nvPr/>
        </p:nvSpPr>
        <p:spPr>
          <a:xfrm>
            <a:off x="4462200" y="281628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53" name="Text 16"/>
          <p:cNvSpPr/>
          <p:nvPr/>
        </p:nvSpPr>
        <p:spPr>
          <a:xfrm>
            <a:off x="4599360" y="287136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2D2F38"/>
                </a:solidFill>
                <a:effectLst/>
                <a:uFillTx/>
                <a:latin typeface="Aptos"/>
                <a:ea typeface="Aptos"/>
              </a:rPr>
              <a:t>RM-0873</a:t>
            </a:r>
            <a:endParaRPr lang="en-US" sz="1230" b="0" u="none" strike="noStrike">
              <a:solidFill>
                <a:srgbClr val="2D2F38"/>
              </a:solidFill>
              <a:effectLst/>
              <a:uFillTx/>
              <a:latin typeface="Arial"/>
            </a:endParaRPr>
          </a:p>
        </p:txBody>
      </p:sp>
      <p:sp>
        <p:nvSpPr>
          <p:cNvPr id="54" name="Shape 17"/>
          <p:cNvSpPr/>
          <p:nvPr/>
        </p:nvSpPr>
        <p:spPr>
          <a:xfrm>
            <a:off x="4462200" y="341064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55" name="Text 18"/>
          <p:cNvSpPr/>
          <p:nvPr/>
        </p:nvSpPr>
        <p:spPr>
          <a:xfrm>
            <a:off x="4599360" y="346572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2D2F38"/>
                </a:solidFill>
                <a:effectLst/>
                <a:uFillTx/>
                <a:latin typeface="Aptos"/>
                <a:ea typeface="Aptos"/>
              </a:rPr>
              <a:t>RM 0873</a:t>
            </a:r>
            <a:endParaRPr lang="en-US" sz="1230" b="0" u="none" strike="noStrike">
              <a:solidFill>
                <a:srgbClr val="2D2F38"/>
              </a:solidFill>
              <a:effectLst/>
              <a:uFillTx/>
              <a:latin typeface="Arial"/>
            </a:endParaRPr>
          </a:p>
        </p:txBody>
      </p:sp>
      <p:sp>
        <p:nvSpPr>
          <p:cNvPr id="56" name="Shape 19"/>
          <p:cNvSpPr/>
          <p:nvPr/>
        </p:nvSpPr>
        <p:spPr>
          <a:xfrm>
            <a:off x="4462200" y="4005000"/>
            <a:ext cx="3126960" cy="429480"/>
          </a:xfrm>
          <a:prstGeom prst="roundRect">
            <a:avLst>
              <a:gd name="adj" fmla="val 17021"/>
            </a:avLst>
          </a:prstGeom>
          <a:solidFill>
            <a:srgbClr val="F4F6FA"/>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57" name="Text 20"/>
          <p:cNvSpPr/>
          <p:nvPr/>
        </p:nvSpPr>
        <p:spPr>
          <a:xfrm>
            <a:off x="4599360" y="406008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626B7B"/>
                </a:solidFill>
                <a:effectLst/>
                <a:uFillTx/>
                <a:latin typeface="Aptos"/>
                <a:ea typeface="Aptos"/>
              </a:rPr>
              <a:t>RM-O873  (letter O)</a:t>
            </a:r>
            <a:endParaRPr lang="en-US" sz="1230" b="0" u="none" strike="noStrike">
              <a:solidFill>
                <a:srgbClr val="2D2F38"/>
              </a:solidFill>
              <a:effectLst/>
              <a:uFillTx/>
              <a:latin typeface="Arial"/>
            </a:endParaRPr>
          </a:p>
        </p:txBody>
      </p:sp>
      <p:sp>
        <p:nvSpPr>
          <p:cNvPr id="58" name="Shape 21"/>
          <p:cNvSpPr/>
          <p:nvPr/>
        </p:nvSpPr>
        <p:spPr>
          <a:xfrm>
            <a:off x="7827120" y="1938600"/>
            <a:ext cx="3584160" cy="3245760"/>
          </a:xfrm>
          <a:prstGeom prst="roundRect">
            <a:avLst>
              <a:gd name="adj" fmla="val 3944"/>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59" name="Shape 22"/>
          <p:cNvSpPr/>
          <p:nvPr/>
        </p:nvSpPr>
        <p:spPr>
          <a:xfrm>
            <a:off x="7827120" y="1938600"/>
            <a:ext cx="3584160" cy="68400"/>
          </a:xfrm>
          <a:prstGeom prst="rect">
            <a:avLst/>
          </a:prstGeom>
          <a:solidFill>
            <a:srgbClr val="991B1B"/>
          </a:solidFill>
          <a:ln w="12700">
            <a:solidFill>
              <a:srgbClr val="991B1B"/>
            </a:solidFill>
            <a:round/>
          </a:ln>
        </p:spPr>
        <p:style>
          <a:lnRef idx="0">
            <a:scrgbClr r="0" g="0" b="0"/>
          </a:lnRef>
          <a:fillRef idx="0">
            <a:scrgbClr r="0" g="0" b="0"/>
          </a:fillRef>
          <a:effectRef idx="0">
            <a:scrgbClr r="0" g="0" b="0"/>
          </a:effectRef>
          <a:fontRef idx="minor"/>
        </p:style>
        <p:txBody>
          <a:bodyPr lIns="90000" tIns="23760" rIns="90000" bIns="23760" anchor="t">
            <a:noAutofit/>
          </a:bodyPr>
          <a:lstStyle/>
          <a:p>
            <a:endParaRPr lang="en-US" sz="1800" b="0" u="none" strike="noStrike">
              <a:solidFill>
                <a:srgbClr val="FFFFFF"/>
              </a:solidFill>
              <a:effectLst/>
              <a:uFillTx/>
              <a:latin typeface="Arial"/>
            </a:endParaRPr>
          </a:p>
        </p:txBody>
      </p:sp>
      <p:sp>
        <p:nvSpPr>
          <p:cNvPr id="60" name="Text 23"/>
          <p:cNvSpPr/>
          <p:nvPr/>
        </p:nvSpPr>
        <p:spPr>
          <a:xfrm>
            <a:off x="8065080" y="2221920"/>
            <a:ext cx="3017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The trail has gaps</a:t>
            </a:r>
            <a:endParaRPr lang="en-US" sz="1700" b="0" u="none" strike="noStrike">
              <a:solidFill>
                <a:srgbClr val="2D2F38"/>
              </a:solidFill>
              <a:effectLst/>
              <a:uFillTx/>
              <a:latin typeface="Arial"/>
            </a:endParaRPr>
          </a:p>
        </p:txBody>
      </p:sp>
      <p:sp>
        <p:nvSpPr>
          <p:cNvPr id="61" name="Shape 24"/>
          <p:cNvSpPr/>
          <p:nvPr/>
        </p:nvSpPr>
        <p:spPr>
          <a:xfrm>
            <a:off x="8055720" y="281628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62" name="Text 25"/>
          <p:cNvSpPr/>
          <p:nvPr/>
        </p:nvSpPr>
        <p:spPr>
          <a:xfrm>
            <a:off x="8192880" y="287136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1" u="none" strike="noStrike">
                <a:solidFill>
                  <a:srgbClr val="2D2F38"/>
                </a:solidFill>
                <a:effectLst/>
                <a:uFillTx/>
                <a:latin typeface="Aptos"/>
                <a:ea typeface="Aptos"/>
              </a:rPr>
              <a:t>320 kg received</a:t>
            </a:r>
            <a:endParaRPr lang="en-US" sz="1230" b="0" u="none" strike="noStrike">
              <a:solidFill>
                <a:srgbClr val="2D2F38"/>
              </a:solidFill>
              <a:effectLst/>
              <a:uFillTx/>
              <a:latin typeface="Arial"/>
            </a:endParaRPr>
          </a:p>
        </p:txBody>
      </p:sp>
      <p:sp>
        <p:nvSpPr>
          <p:cNvPr id="63" name="Shape 26"/>
          <p:cNvSpPr/>
          <p:nvPr/>
        </p:nvSpPr>
        <p:spPr>
          <a:xfrm>
            <a:off x="8055720" y="3410640"/>
            <a:ext cx="3126960" cy="429480"/>
          </a:xfrm>
          <a:prstGeom prst="roundRect">
            <a:avLst>
              <a:gd name="adj" fmla="val 17021"/>
            </a:avLst>
          </a:prstGeom>
          <a:solidFill>
            <a:srgbClr val="F7F9FC"/>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64" name="Text 27"/>
          <p:cNvSpPr/>
          <p:nvPr/>
        </p:nvSpPr>
        <p:spPr>
          <a:xfrm>
            <a:off x="8192880" y="346572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2D2F38"/>
                </a:solidFill>
                <a:effectLst/>
                <a:uFillTx/>
                <a:latin typeface="Aptos"/>
                <a:ea typeface="Aptos"/>
              </a:rPr>
              <a:t>180 kg consumed</a:t>
            </a:r>
            <a:endParaRPr lang="en-US" sz="1230" b="0" u="none" strike="noStrike">
              <a:solidFill>
                <a:srgbClr val="2D2F38"/>
              </a:solidFill>
              <a:effectLst/>
              <a:uFillTx/>
              <a:latin typeface="Arial"/>
            </a:endParaRPr>
          </a:p>
        </p:txBody>
      </p:sp>
      <p:sp>
        <p:nvSpPr>
          <p:cNvPr id="65" name="Shape 28"/>
          <p:cNvSpPr/>
          <p:nvPr/>
        </p:nvSpPr>
        <p:spPr>
          <a:xfrm>
            <a:off x="8055720" y="4005000"/>
            <a:ext cx="3126960" cy="429480"/>
          </a:xfrm>
          <a:prstGeom prst="roundRect">
            <a:avLst>
              <a:gd name="adj" fmla="val 17021"/>
            </a:avLst>
          </a:prstGeom>
          <a:solidFill>
            <a:srgbClr val="F4F6FA"/>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66" name="Text 29"/>
          <p:cNvSpPr/>
          <p:nvPr/>
        </p:nvSpPr>
        <p:spPr>
          <a:xfrm>
            <a:off x="8192880" y="4060080"/>
            <a:ext cx="28342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30" b="0" u="none" strike="noStrike">
                <a:solidFill>
                  <a:srgbClr val="626B7B"/>
                </a:solidFill>
                <a:effectLst/>
                <a:uFillTx/>
                <a:latin typeface="Aptos"/>
                <a:ea typeface="Aptos"/>
              </a:rPr>
              <a:t>Dispatch proof missing / unclear</a:t>
            </a:r>
            <a:endParaRPr lang="en-US" sz="1230" b="0" u="none" strike="noStrike">
              <a:solidFill>
                <a:srgbClr val="2D2F38"/>
              </a:solidFill>
              <a:effectLst/>
              <a:uFillTx/>
              <a:latin typeface="Arial"/>
            </a:endParaRPr>
          </a:p>
        </p:txBody>
      </p:sp>
      <p:sp>
        <p:nvSpPr>
          <p:cNvPr id="67" name="Text 30"/>
          <p:cNvSpPr/>
          <p:nvPr/>
        </p:nvSpPr>
        <p:spPr>
          <a:xfrm>
            <a:off x="749880" y="5486400"/>
            <a:ext cx="106981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39466C"/>
                </a:solidFill>
                <a:effectLst/>
                <a:uFillTx/>
                <a:latin typeface="Aptos"/>
                <a:ea typeface="Aptos"/>
              </a:rPr>
              <a:t>When a supplier flags a lot, staff must identify affected batches and destinations without hiding contradictions or missing records.</a:t>
            </a:r>
            <a:endParaRPr lang="en-US" sz="1700" b="0" u="none" strike="noStrike">
              <a:solidFill>
                <a:srgbClr val="2D2F38"/>
              </a:solidFill>
              <a:effectLst/>
              <a:uFillTx/>
              <a:latin typeface="Arial"/>
            </a:endParaRPr>
          </a:p>
        </p:txBody>
      </p:sp>
      <p:sp>
        <p:nvSpPr>
          <p:cNvPr id="68" name="Text 31"/>
          <p:cNvSpPr/>
          <p:nvPr/>
        </p:nvSpPr>
        <p:spPr>
          <a:xfrm>
            <a:off x="914400" y="6117480"/>
            <a:ext cx="10332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626B7B"/>
                </a:solidFill>
                <a:effectLst/>
                <a:uFillTx/>
                <a:latin typeface="Aptos"/>
                <a:ea typeface="Aptos"/>
              </a:rPr>
              <a:t>No market-size, error-rate or time-saved claim is made here; these remain to be validated with practitioners.</a:t>
            </a:r>
            <a:endParaRPr lang="en-US" sz="950" b="0" u="none" strike="noStrike">
              <a:solidFill>
                <a:srgbClr val="2D2F38"/>
              </a:solidFill>
              <a:effectLst/>
              <a:uFillTx/>
              <a:latin typeface="Arial"/>
            </a:endParaRPr>
          </a:p>
        </p:txBody>
      </p:sp>
      <p:sp>
        <p:nvSpPr>
          <p:cNvPr id="69" name="PlaceHolder 1"/>
          <p:cNvSpPr>
            <a:spLocks noGrp="1"/>
          </p:cNvSpPr>
          <p:nvPr>
            <p:ph type="sldNum" idx="5"/>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C222669D-918E-4EF3-9238-787DED508820}" type="slidenum">
              <a:rPr lang="en-US" sz="700" b="0" u="none" strike="noStrike">
                <a:solidFill>
                  <a:srgbClr val="626B7B"/>
                </a:solidFill>
                <a:effectLst/>
                <a:uFillTx/>
                <a:latin typeface="Aptos"/>
                <a:ea typeface="Aptos"/>
              </a:rPr>
              <a:t>2</a:t>
            </a:fld>
            <a:endParaRPr lang="en-US" sz="700" b="0" u="none" strike="noStrike">
              <a:solidFill>
                <a:srgbClr val="2D2F38"/>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02 / SOLUTION</a:t>
            </a:r>
            <a:endParaRPr lang="en-US" sz="900" b="0" u="none" strike="noStrike">
              <a:solidFill>
                <a:srgbClr val="2D2F38"/>
              </a:solidFill>
              <a:effectLst/>
              <a:uFillTx/>
              <a:latin typeface="Arial"/>
            </a:endParaRPr>
          </a:p>
        </p:txBody>
      </p:sp>
      <p:sp>
        <p:nvSpPr>
          <p:cNvPr id="71"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An evidence-reconciliation workbench</a:t>
            </a:r>
            <a:endParaRPr lang="en-US" sz="2600" b="0" u="none" strike="noStrike">
              <a:solidFill>
                <a:srgbClr val="2D2F38"/>
              </a:solidFill>
              <a:effectLst/>
              <a:uFillTx/>
              <a:latin typeface="Arial"/>
            </a:endParaRPr>
          </a:p>
        </p:txBody>
      </p:sp>
      <p:sp>
        <p:nvSpPr>
          <p:cNvPr id="72"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Klarrow helps turn existing records into reviewable claims and a trace with visible uncertainty.</a:t>
            </a:r>
            <a:endParaRPr lang="en-US" sz="1250" b="0" u="none" strike="noStrike">
              <a:solidFill>
                <a:srgbClr val="2D2F38"/>
              </a:solidFill>
              <a:effectLst/>
              <a:uFillTx/>
              <a:latin typeface="Arial"/>
            </a:endParaRPr>
          </a:p>
        </p:txBody>
      </p:sp>
      <p:sp>
        <p:nvSpPr>
          <p:cNvPr id="73" name="Shape 3"/>
          <p:cNvSpPr/>
          <p:nvPr/>
        </p:nvSpPr>
        <p:spPr>
          <a:xfrm>
            <a:off x="640080" y="2011680"/>
            <a:ext cx="2267280" cy="2559960"/>
          </a:xfrm>
          <a:prstGeom prst="roundRect">
            <a:avLst>
              <a:gd name="adj" fmla="val 483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74" name="Shape 4"/>
          <p:cNvSpPr/>
          <p:nvPr/>
        </p:nvSpPr>
        <p:spPr>
          <a:xfrm>
            <a:off x="822960" y="2221920"/>
            <a:ext cx="42948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75" name="Text 5"/>
          <p:cNvSpPr/>
          <p:nvPr/>
        </p:nvSpPr>
        <p:spPr>
          <a:xfrm>
            <a:off x="887040" y="2240280"/>
            <a:ext cx="3013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01</a:t>
            </a:r>
            <a:endParaRPr lang="en-US" sz="860" b="0" u="none" strike="noStrike">
              <a:solidFill>
                <a:srgbClr val="2D2F38"/>
              </a:solidFill>
              <a:effectLst/>
              <a:uFillTx/>
              <a:latin typeface="Arial"/>
            </a:endParaRPr>
          </a:p>
        </p:txBody>
      </p:sp>
      <p:sp>
        <p:nvSpPr>
          <p:cNvPr id="76" name="Text 6"/>
          <p:cNvSpPr/>
          <p:nvPr/>
        </p:nvSpPr>
        <p:spPr>
          <a:xfrm>
            <a:off x="822960" y="2743200"/>
            <a:ext cx="19015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Ingest</a:t>
            </a:r>
            <a:endParaRPr lang="en-US" sz="1700" b="0" u="none" strike="noStrike">
              <a:solidFill>
                <a:srgbClr val="2D2F38"/>
              </a:solidFill>
              <a:effectLst/>
              <a:uFillTx/>
              <a:latin typeface="Arial"/>
            </a:endParaRPr>
          </a:p>
        </p:txBody>
      </p:sp>
      <p:sp>
        <p:nvSpPr>
          <p:cNvPr id="77" name="Text 7"/>
          <p:cNvSpPr/>
          <p:nvPr/>
        </p:nvSpPr>
        <p:spPr>
          <a:xfrm>
            <a:off x="822960" y="3291840"/>
            <a:ext cx="187416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00" b="0" u="none" strike="noStrike">
                <a:solidFill>
                  <a:srgbClr val="626B7B"/>
                </a:solidFill>
                <a:effectLst/>
                <a:uFillTx/>
                <a:latin typeface="Aptos"/>
                <a:ea typeface="Aptos"/>
              </a:rPr>
              <a:t>Keep originals. Parse supported text and tables.</a:t>
            </a:r>
            <a:endParaRPr lang="en-US" sz="1200" b="0" u="none" strike="noStrike">
              <a:solidFill>
                <a:srgbClr val="2D2F38"/>
              </a:solidFill>
              <a:effectLst/>
              <a:uFillTx/>
              <a:latin typeface="Arial"/>
            </a:endParaRPr>
          </a:p>
        </p:txBody>
      </p:sp>
      <p:sp>
        <p:nvSpPr>
          <p:cNvPr id="78" name="Shape 8"/>
          <p:cNvSpPr/>
          <p:nvPr/>
        </p:nvSpPr>
        <p:spPr>
          <a:xfrm>
            <a:off x="2971800" y="3273480"/>
            <a:ext cx="457200" cy="360"/>
          </a:xfrm>
          <a:prstGeom prst="line">
            <a:avLst/>
          </a:prstGeom>
          <a:ln w="2286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79" name="Shape 9"/>
          <p:cNvSpPr/>
          <p:nvPr/>
        </p:nvSpPr>
        <p:spPr>
          <a:xfrm>
            <a:off x="3273480" y="3154680"/>
            <a:ext cx="182520" cy="23724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Shape 10"/>
          <p:cNvSpPr/>
          <p:nvPr/>
        </p:nvSpPr>
        <p:spPr>
          <a:xfrm>
            <a:off x="3520440" y="2011680"/>
            <a:ext cx="2267280" cy="2559960"/>
          </a:xfrm>
          <a:prstGeom prst="roundRect">
            <a:avLst>
              <a:gd name="adj" fmla="val 483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81" name="Shape 11"/>
          <p:cNvSpPr/>
          <p:nvPr/>
        </p:nvSpPr>
        <p:spPr>
          <a:xfrm>
            <a:off x="3703320" y="2221920"/>
            <a:ext cx="42948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82" name="Text 12"/>
          <p:cNvSpPr/>
          <p:nvPr/>
        </p:nvSpPr>
        <p:spPr>
          <a:xfrm>
            <a:off x="3767400" y="2240280"/>
            <a:ext cx="3013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02</a:t>
            </a:r>
            <a:endParaRPr lang="en-US" sz="860" b="0" u="none" strike="noStrike">
              <a:solidFill>
                <a:srgbClr val="2D2F38"/>
              </a:solidFill>
              <a:effectLst/>
              <a:uFillTx/>
              <a:latin typeface="Arial"/>
            </a:endParaRPr>
          </a:p>
        </p:txBody>
      </p:sp>
      <p:sp>
        <p:nvSpPr>
          <p:cNvPr id="83" name="Text 13"/>
          <p:cNvSpPr/>
          <p:nvPr/>
        </p:nvSpPr>
        <p:spPr>
          <a:xfrm>
            <a:off x="3703320" y="2743200"/>
            <a:ext cx="19015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Extract</a:t>
            </a:r>
            <a:endParaRPr lang="en-US" sz="1700" b="0" u="none" strike="noStrike">
              <a:solidFill>
                <a:srgbClr val="2D2F38"/>
              </a:solidFill>
              <a:effectLst/>
              <a:uFillTx/>
              <a:latin typeface="Arial"/>
            </a:endParaRPr>
          </a:p>
        </p:txBody>
      </p:sp>
      <p:sp>
        <p:nvSpPr>
          <p:cNvPr id="84" name="Text 14"/>
          <p:cNvSpPr/>
          <p:nvPr/>
        </p:nvSpPr>
        <p:spPr>
          <a:xfrm>
            <a:off x="3703320" y="3291840"/>
            <a:ext cx="187416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00" b="0" u="none" strike="noStrike">
                <a:solidFill>
                  <a:srgbClr val="626B7B"/>
                </a:solidFill>
                <a:effectLst/>
                <a:uFillTx/>
                <a:latin typeface="Aptos"/>
                <a:ea typeface="Aptos"/>
              </a:rPr>
              <a:t>Local Llama proposes candidate facts with source evidence.</a:t>
            </a:r>
            <a:endParaRPr lang="en-US" sz="1200" b="0" u="none" strike="noStrike">
              <a:solidFill>
                <a:srgbClr val="2D2F38"/>
              </a:solidFill>
              <a:effectLst/>
              <a:uFillTx/>
              <a:latin typeface="Arial"/>
            </a:endParaRPr>
          </a:p>
        </p:txBody>
      </p:sp>
      <p:sp>
        <p:nvSpPr>
          <p:cNvPr id="85" name="Shape 15"/>
          <p:cNvSpPr/>
          <p:nvPr/>
        </p:nvSpPr>
        <p:spPr>
          <a:xfrm>
            <a:off x="5852160" y="3273480"/>
            <a:ext cx="457200" cy="360"/>
          </a:xfrm>
          <a:prstGeom prst="line">
            <a:avLst/>
          </a:prstGeom>
          <a:ln w="2286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86" name="Shape 16"/>
          <p:cNvSpPr/>
          <p:nvPr/>
        </p:nvSpPr>
        <p:spPr>
          <a:xfrm>
            <a:off x="6153840" y="3154680"/>
            <a:ext cx="182520" cy="23724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7" name="Shape 17"/>
          <p:cNvSpPr/>
          <p:nvPr/>
        </p:nvSpPr>
        <p:spPr>
          <a:xfrm>
            <a:off x="6400800" y="2011680"/>
            <a:ext cx="2267280" cy="2559960"/>
          </a:xfrm>
          <a:prstGeom prst="roundRect">
            <a:avLst>
              <a:gd name="adj" fmla="val 483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88" name="Shape 18"/>
          <p:cNvSpPr/>
          <p:nvPr/>
        </p:nvSpPr>
        <p:spPr>
          <a:xfrm>
            <a:off x="6583680" y="2221920"/>
            <a:ext cx="42948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89" name="Text 19"/>
          <p:cNvSpPr/>
          <p:nvPr/>
        </p:nvSpPr>
        <p:spPr>
          <a:xfrm>
            <a:off x="6647760" y="2240280"/>
            <a:ext cx="3013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03</a:t>
            </a:r>
            <a:endParaRPr lang="en-US" sz="860" b="0" u="none" strike="noStrike">
              <a:solidFill>
                <a:srgbClr val="2D2F38"/>
              </a:solidFill>
              <a:effectLst/>
              <a:uFillTx/>
              <a:latin typeface="Arial"/>
            </a:endParaRPr>
          </a:p>
        </p:txBody>
      </p:sp>
      <p:sp>
        <p:nvSpPr>
          <p:cNvPr id="90" name="Text 20"/>
          <p:cNvSpPr/>
          <p:nvPr/>
        </p:nvSpPr>
        <p:spPr>
          <a:xfrm>
            <a:off x="6583680" y="2743200"/>
            <a:ext cx="19015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Review</a:t>
            </a:r>
            <a:endParaRPr lang="en-US" sz="1700" b="0" u="none" strike="noStrike">
              <a:solidFill>
                <a:srgbClr val="2D2F38"/>
              </a:solidFill>
              <a:effectLst/>
              <a:uFillTx/>
              <a:latin typeface="Arial"/>
            </a:endParaRPr>
          </a:p>
        </p:txBody>
      </p:sp>
      <p:sp>
        <p:nvSpPr>
          <p:cNvPr id="91" name="Text 21"/>
          <p:cNvSpPr/>
          <p:nvPr/>
        </p:nvSpPr>
        <p:spPr>
          <a:xfrm>
            <a:off x="6583680" y="3291840"/>
            <a:ext cx="187416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00" b="0" u="none" strike="noStrike">
                <a:solidFill>
                  <a:srgbClr val="626B7B"/>
                </a:solidFill>
                <a:effectLst/>
                <a:uFillTx/>
                <a:latin typeface="Aptos"/>
                <a:ea typeface="Aptos"/>
              </a:rPr>
              <a:t>Resolve identities and relationships with a human decision.</a:t>
            </a:r>
            <a:endParaRPr lang="en-US" sz="1200" b="0" u="none" strike="noStrike">
              <a:solidFill>
                <a:srgbClr val="2D2F38"/>
              </a:solidFill>
              <a:effectLst/>
              <a:uFillTx/>
              <a:latin typeface="Arial"/>
            </a:endParaRPr>
          </a:p>
        </p:txBody>
      </p:sp>
      <p:sp>
        <p:nvSpPr>
          <p:cNvPr id="92" name="Shape 22"/>
          <p:cNvSpPr/>
          <p:nvPr/>
        </p:nvSpPr>
        <p:spPr>
          <a:xfrm>
            <a:off x="8732520" y="3273480"/>
            <a:ext cx="457200" cy="360"/>
          </a:xfrm>
          <a:prstGeom prst="line">
            <a:avLst/>
          </a:prstGeom>
          <a:ln w="2286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93" name="Shape 23"/>
          <p:cNvSpPr/>
          <p:nvPr/>
        </p:nvSpPr>
        <p:spPr>
          <a:xfrm>
            <a:off x="9034200" y="3154680"/>
            <a:ext cx="182520" cy="23724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 name="Shape 24"/>
          <p:cNvSpPr/>
          <p:nvPr/>
        </p:nvSpPr>
        <p:spPr>
          <a:xfrm>
            <a:off x="9281160" y="2011680"/>
            <a:ext cx="2267280" cy="2559960"/>
          </a:xfrm>
          <a:prstGeom prst="roundRect">
            <a:avLst>
              <a:gd name="adj" fmla="val 483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95" name="Shape 25"/>
          <p:cNvSpPr/>
          <p:nvPr/>
        </p:nvSpPr>
        <p:spPr>
          <a:xfrm>
            <a:off x="9464040" y="2221920"/>
            <a:ext cx="42948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96" name="Text 26"/>
          <p:cNvSpPr/>
          <p:nvPr/>
        </p:nvSpPr>
        <p:spPr>
          <a:xfrm>
            <a:off x="9528120" y="2240280"/>
            <a:ext cx="3013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04</a:t>
            </a:r>
            <a:endParaRPr lang="en-US" sz="860" b="0" u="none" strike="noStrike">
              <a:solidFill>
                <a:srgbClr val="2D2F38"/>
              </a:solidFill>
              <a:effectLst/>
              <a:uFillTx/>
              <a:latin typeface="Arial"/>
            </a:endParaRPr>
          </a:p>
        </p:txBody>
      </p:sp>
      <p:sp>
        <p:nvSpPr>
          <p:cNvPr id="97" name="Text 27"/>
          <p:cNvSpPr/>
          <p:nvPr/>
        </p:nvSpPr>
        <p:spPr>
          <a:xfrm>
            <a:off x="9464040" y="2743200"/>
            <a:ext cx="19015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D2F38"/>
                </a:solidFill>
                <a:effectLst/>
                <a:uFillTx/>
                <a:latin typeface="Aptos"/>
                <a:ea typeface="Aptos"/>
              </a:rPr>
              <a:t>Trace</a:t>
            </a:r>
            <a:endParaRPr lang="en-US" sz="1700" b="0" u="none" strike="noStrike">
              <a:solidFill>
                <a:srgbClr val="2D2F38"/>
              </a:solidFill>
              <a:effectLst/>
              <a:uFillTx/>
              <a:latin typeface="Arial"/>
            </a:endParaRPr>
          </a:p>
        </p:txBody>
      </p:sp>
      <p:sp>
        <p:nvSpPr>
          <p:cNvPr id="98" name="Text 28"/>
          <p:cNvSpPr/>
          <p:nvPr/>
        </p:nvSpPr>
        <p:spPr>
          <a:xfrm>
            <a:off x="9464040" y="3291840"/>
            <a:ext cx="1874160" cy="84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00" b="0" u="none" strike="noStrike">
                <a:solidFill>
                  <a:srgbClr val="626B7B"/>
                </a:solidFill>
                <a:effectLst/>
                <a:uFillTx/>
                <a:latin typeface="Aptos"/>
                <a:ea typeface="Aptos"/>
              </a:rPr>
              <a:t>Separate confirmed scope, possible exposure, conflicts and gaps.</a:t>
            </a:r>
            <a:endParaRPr lang="en-US" sz="1200" b="0" u="none" strike="noStrike">
              <a:solidFill>
                <a:srgbClr val="2D2F38"/>
              </a:solidFill>
              <a:effectLst/>
              <a:uFillTx/>
              <a:latin typeface="Arial"/>
            </a:endParaRPr>
          </a:p>
        </p:txBody>
      </p:sp>
      <p:sp>
        <p:nvSpPr>
          <p:cNvPr id="99" name="Shape 29"/>
          <p:cNvSpPr/>
          <p:nvPr/>
        </p:nvSpPr>
        <p:spPr>
          <a:xfrm>
            <a:off x="1051560" y="5010840"/>
            <a:ext cx="10076400" cy="712800"/>
          </a:xfrm>
          <a:prstGeom prst="roundRect">
            <a:avLst>
              <a:gd name="adj" fmla="val 15385"/>
            </a:avLst>
          </a:prstGeom>
          <a:solidFill>
            <a:srgbClr val="E7EBF4"/>
          </a:solidFill>
          <a:ln w="10160">
            <a:solidFill>
              <a:srgbClr val="D6DB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00" name="Text 30"/>
          <p:cNvSpPr/>
          <p:nvPr/>
        </p:nvSpPr>
        <p:spPr>
          <a:xfrm>
            <a:off x="1280160" y="5175360"/>
            <a:ext cx="1005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00" b="1" u="none" strike="noStrike" spc="111">
                <a:solidFill>
                  <a:srgbClr val="39466C"/>
                </a:solidFill>
                <a:effectLst/>
                <a:uFillTx/>
                <a:latin typeface="Aptos"/>
                <a:ea typeface="Aptos"/>
              </a:rPr>
              <a:t>Positioning</a:t>
            </a:r>
            <a:endParaRPr lang="en-US" sz="1000" b="0" u="none" strike="noStrike">
              <a:solidFill>
                <a:srgbClr val="2D2F38"/>
              </a:solidFill>
              <a:effectLst/>
              <a:uFillTx/>
              <a:latin typeface="Arial"/>
            </a:endParaRPr>
          </a:p>
        </p:txBody>
      </p:sp>
      <p:sp>
        <p:nvSpPr>
          <p:cNvPr id="101" name="Text 31"/>
          <p:cNvSpPr/>
          <p:nvPr/>
        </p:nvSpPr>
        <p:spPr>
          <a:xfrm>
            <a:off x="2331720" y="5129640"/>
            <a:ext cx="813780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39466C"/>
                </a:solidFill>
                <a:effectLst/>
                <a:uFillTx/>
                <a:latin typeface="Aptos"/>
                <a:ea typeface="Aptos"/>
              </a:rPr>
              <a:t>Designed to work beside existing systems-not replace an ERP.</a:t>
            </a:r>
            <a:endParaRPr lang="en-US" sz="1600" b="0" u="none" strike="noStrike">
              <a:solidFill>
                <a:srgbClr val="2D2F38"/>
              </a:solidFill>
              <a:effectLst/>
              <a:uFillTx/>
              <a:latin typeface="Arial"/>
            </a:endParaRPr>
          </a:p>
        </p:txBody>
      </p:sp>
      <p:sp>
        <p:nvSpPr>
          <p:cNvPr id="102" name="Text 32"/>
          <p:cNvSpPr/>
          <p:nvPr/>
        </p:nvSpPr>
        <p:spPr>
          <a:xfrm>
            <a:off x="1280160" y="5879520"/>
            <a:ext cx="950940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0" u="none" strike="noStrike">
                <a:solidFill>
                  <a:srgbClr val="626B7B"/>
                </a:solidFill>
                <a:effectLst/>
                <a:uFillTx/>
                <a:latin typeface="Aptos"/>
                <a:ea typeface="Aptos"/>
              </a:rPr>
              <a:t>That interoperability advantage is a product hypothesis; no ERP integration has been demonstrated.</a:t>
            </a:r>
            <a:endParaRPr lang="en-US" sz="1050" b="0" u="none" strike="noStrike">
              <a:solidFill>
                <a:srgbClr val="2D2F38"/>
              </a:solidFill>
              <a:effectLst/>
              <a:uFillTx/>
              <a:latin typeface="Arial"/>
            </a:endParaRPr>
          </a:p>
        </p:txBody>
      </p:sp>
      <p:sp>
        <p:nvSpPr>
          <p:cNvPr id="103" name="PlaceHolder 1"/>
          <p:cNvSpPr>
            <a:spLocks noGrp="1"/>
          </p:cNvSpPr>
          <p:nvPr>
            <p:ph type="sldNum" idx="6"/>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530BF158-E295-4F03-BA60-7033F9243461}" type="slidenum">
              <a:rPr lang="en-US" sz="700" b="0" u="none" strike="noStrike">
                <a:solidFill>
                  <a:srgbClr val="626B7B"/>
                </a:solidFill>
                <a:effectLst/>
                <a:uFillTx/>
                <a:latin typeface="Aptos"/>
                <a:ea typeface="Aptos"/>
              </a:rPr>
              <a:t>3</a:t>
            </a:fld>
            <a:endParaRPr lang="en-US" sz="700" b="0" u="none" strike="noStrike">
              <a:solidFill>
                <a:srgbClr val="2D2F38"/>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03 / HOW IT WORKS</a:t>
            </a:r>
            <a:endParaRPr lang="en-US" sz="900" b="0" u="none" strike="noStrike">
              <a:solidFill>
                <a:srgbClr val="2D2F38"/>
              </a:solidFill>
              <a:effectLst/>
              <a:uFillTx/>
              <a:latin typeface="Arial"/>
            </a:endParaRPr>
          </a:p>
        </p:txBody>
      </p:sp>
      <p:sp>
        <p:nvSpPr>
          <p:cNvPr id="105"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AI proposes. Evidence and people control the trace.</a:t>
            </a:r>
            <a:endParaRPr lang="en-US" sz="2600" b="0" u="none" strike="noStrike">
              <a:solidFill>
                <a:srgbClr val="2D2F38"/>
              </a:solidFill>
              <a:effectLst/>
              <a:uFillTx/>
              <a:latin typeface="Arial"/>
            </a:endParaRPr>
          </a:p>
        </p:txBody>
      </p:sp>
      <p:sp>
        <p:nvSpPr>
          <p:cNvPr id="106"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A short, inspectable chain from a document to a relationship decision.</a:t>
            </a:r>
            <a:endParaRPr lang="en-US" sz="1250" b="0" u="none" strike="noStrike">
              <a:solidFill>
                <a:srgbClr val="2D2F38"/>
              </a:solidFill>
              <a:effectLst/>
              <a:uFillTx/>
              <a:latin typeface="Arial"/>
            </a:endParaRPr>
          </a:p>
        </p:txBody>
      </p:sp>
      <p:sp>
        <p:nvSpPr>
          <p:cNvPr id="107" name="Shape 3"/>
          <p:cNvSpPr/>
          <p:nvPr/>
        </p:nvSpPr>
        <p:spPr>
          <a:xfrm>
            <a:off x="530280" y="2148840"/>
            <a:ext cx="1846800" cy="1234080"/>
          </a:xfrm>
          <a:prstGeom prst="roundRect">
            <a:avLst>
              <a:gd name="adj" fmla="val 8148"/>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08" name="Text 4"/>
          <p:cNvSpPr/>
          <p:nvPr/>
        </p:nvSpPr>
        <p:spPr>
          <a:xfrm>
            <a:off x="649080" y="2368440"/>
            <a:ext cx="1608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spc="79">
                <a:solidFill>
                  <a:srgbClr val="626B7B"/>
                </a:solidFill>
                <a:effectLst/>
                <a:uFillTx/>
                <a:latin typeface="Aptos"/>
                <a:ea typeface="Aptos"/>
              </a:rPr>
              <a:t>SOURCE FILES</a:t>
            </a:r>
            <a:endParaRPr lang="en-US" sz="900" b="0" u="none" strike="noStrike">
              <a:solidFill>
                <a:srgbClr val="2D2F38"/>
              </a:solidFill>
              <a:effectLst/>
              <a:uFillTx/>
              <a:latin typeface="Arial"/>
            </a:endParaRPr>
          </a:p>
        </p:txBody>
      </p:sp>
      <p:sp>
        <p:nvSpPr>
          <p:cNvPr id="109" name="Text 5"/>
          <p:cNvSpPr/>
          <p:nvPr/>
        </p:nvSpPr>
        <p:spPr>
          <a:xfrm>
            <a:off x="640080" y="2761560"/>
            <a:ext cx="162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1" u="none" strike="noStrike">
                <a:solidFill>
                  <a:srgbClr val="2D2F38"/>
                </a:solidFill>
                <a:effectLst/>
                <a:uFillTx/>
                <a:latin typeface="Aptos"/>
                <a:ea typeface="Aptos"/>
              </a:rPr>
              <a:t>7 scenario docs</a:t>
            </a:r>
            <a:endParaRPr lang="en-US" sz="1250" b="0" u="none" strike="noStrike">
              <a:solidFill>
                <a:srgbClr val="2D2F38"/>
              </a:solidFill>
              <a:effectLst/>
              <a:uFillTx/>
              <a:latin typeface="Arial"/>
            </a:endParaRPr>
          </a:p>
        </p:txBody>
      </p:sp>
      <p:sp>
        <p:nvSpPr>
          <p:cNvPr id="110" name="Shape 6"/>
          <p:cNvSpPr/>
          <p:nvPr/>
        </p:nvSpPr>
        <p:spPr>
          <a:xfrm>
            <a:off x="2404800" y="2770560"/>
            <a:ext cx="155520" cy="360"/>
          </a:xfrm>
          <a:prstGeom prst="line">
            <a:avLst/>
          </a:prstGeom>
          <a:ln w="2032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11" name="Shape 7"/>
          <p:cNvSpPr/>
          <p:nvPr/>
        </p:nvSpPr>
        <p:spPr>
          <a:xfrm>
            <a:off x="2496240" y="2670120"/>
            <a:ext cx="145800" cy="20088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 name="Shape 8"/>
          <p:cNvSpPr/>
          <p:nvPr/>
        </p:nvSpPr>
        <p:spPr>
          <a:xfrm>
            <a:off x="2761560" y="2148840"/>
            <a:ext cx="1992960" cy="1234080"/>
          </a:xfrm>
          <a:prstGeom prst="roundRect">
            <a:avLst>
              <a:gd name="adj" fmla="val 8148"/>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13" name="Text 9"/>
          <p:cNvSpPr/>
          <p:nvPr/>
        </p:nvSpPr>
        <p:spPr>
          <a:xfrm>
            <a:off x="2880360" y="2368440"/>
            <a:ext cx="17553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spc="79">
                <a:solidFill>
                  <a:srgbClr val="626B7B"/>
                </a:solidFill>
                <a:effectLst/>
                <a:uFillTx/>
                <a:latin typeface="Aptos"/>
                <a:ea typeface="Aptos"/>
              </a:rPr>
              <a:t>PARSER + LLAMA</a:t>
            </a:r>
            <a:endParaRPr lang="en-US" sz="900" b="0" u="none" strike="noStrike">
              <a:solidFill>
                <a:srgbClr val="2D2F38"/>
              </a:solidFill>
              <a:effectLst/>
              <a:uFillTx/>
              <a:latin typeface="Arial"/>
            </a:endParaRPr>
          </a:p>
        </p:txBody>
      </p:sp>
      <p:sp>
        <p:nvSpPr>
          <p:cNvPr id="114" name="Text 10"/>
          <p:cNvSpPr/>
          <p:nvPr/>
        </p:nvSpPr>
        <p:spPr>
          <a:xfrm>
            <a:off x="2871360" y="2761560"/>
            <a:ext cx="1773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1" u="none" strike="noStrike">
                <a:solidFill>
                  <a:srgbClr val="2D2F38"/>
                </a:solidFill>
                <a:effectLst/>
                <a:uFillTx/>
                <a:latin typeface="Aptos"/>
                <a:ea typeface="Aptos"/>
              </a:rPr>
              <a:t>Candidate claims</a:t>
            </a:r>
            <a:endParaRPr lang="en-US" sz="1250" b="0" u="none" strike="noStrike">
              <a:solidFill>
                <a:srgbClr val="2D2F38"/>
              </a:solidFill>
              <a:effectLst/>
              <a:uFillTx/>
              <a:latin typeface="Arial"/>
            </a:endParaRPr>
          </a:p>
        </p:txBody>
      </p:sp>
      <p:sp>
        <p:nvSpPr>
          <p:cNvPr id="115" name="Shape 11"/>
          <p:cNvSpPr/>
          <p:nvPr/>
        </p:nvSpPr>
        <p:spPr>
          <a:xfrm>
            <a:off x="4782240" y="2770560"/>
            <a:ext cx="155520" cy="360"/>
          </a:xfrm>
          <a:prstGeom prst="line">
            <a:avLst/>
          </a:prstGeom>
          <a:ln w="2032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16" name="Shape 12"/>
          <p:cNvSpPr/>
          <p:nvPr/>
        </p:nvSpPr>
        <p:spPr>
          <a:xfrm>
            <a:off x="4873680" y="2670120"/>
            <a:ext cx="145800" cy="20088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 name="Shape 13"/>
          <p:cNvSpPr/>
          <p:nvPr/>
        </p:nvSpPr>
        <p:spPr>
          <a:xfrm>
            <a:off x="5139000" y="2148840"/>
            <a:ext cx="2057040" cy="1234080"/>
          </a:xfrm>
          <a:prstGeom prst="roundRect">
            <a:avLst>
              <a:gd name="adj" fmla="val 8148"/>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18" name="Text 14"/>
          <p:cNvSpPr/>
          <p:nvPr/>
        </p:nvSpPr>
        <p:spPr>
          <a:xfrm>
            <a:off x="5257800" y="2368440"/>
            <a:ext cx="1819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spc="79">
                <a:solidFill>
                  <a:srgbClr val="626B7B"/>
                </a:solidFill>
                <a:effectLst/>
                <a:uFillTx/>
                <a:latin typeface="Aptos"/>
                <a:ea typeface="Aptos"/>
              </a:rPr>
              <a:t>GROUNDING CHECK</a:t>
            </a:r>
            <a:endParaRPr lang="en-US" sz="900" b="0" u="none" strike="noStrike">
              <a:solidFill>
                <a:srgbClr val="2D2F38"/>
              </a:solidFill>
              <a:effectLst/>
              <a:uFillTx/>
              <a:latin typeface="Arial"/>
            </a:endParaRPr>
          </a:p>
        </p:txBody>
      </p:sp>
      <p:sp>
        <p:nvSpPr>
          <p:cNvPr id="119" name="Text 15"/>
          <p:cNvSpPr/>
          <p:nvPr/>
        </p:nvSpPr>
        <p:spPr>
          <a:xfrm>
            <a:off x="5248800" y="2761560"/>
            <a:ext cx="1837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1" u="none" strike="noStrike">
                <a:solidFill>
                  <a:srgbClr val="2D2F38"/>
                </a:solidFill>
                <a:effectLst/>
                <a:uFillTx/>
                <a:latin typeface="Aptos"/>
                <a:ea typeface="Aptos"/>
              </a:rPr>
              <a:t>Verbatim quote / flag</a:t>
            </a:r>
            <a:endParaRPr lang="en-US" sz="1250" b="0" u="none" strike="noStrike">
              <a:solidFill>
                <a:srgbClr val="2D2F38"/>
              </a:solidFill>
              <a:effectLst/>
              <a:uFillTx/>
              <a:latin typeface="Arial"/>
            </a:endParaRPr>
          </a:p>
        </p:txBody>
      </p:sp>
      <p:sp>
        <p:nvSpPr>
          <p:cNvPr id="120" name="Shape 16"/>
          <p:cNvSpPr/>
          <p:nvPr/>
        </p:nvSpPr>
        <p:spPr>
          <a:xfrm>
            <a:off x="7223760" y="2770560"/>
            <a:ext cx="155160" cy="360"/>
          </a:xfrm>
          <a:prstGeom prst="line">
            <a:avLst/>
          </a:prstGeom>
          <a:ln w="2032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21" name="Shape 17"/>
          <p:cNvSpPr/>
          <p:nvPr/>
        </p:nvSpPr>
        <p:spPr>
          <a:xfrm>
            <a:off x="7315200" y="2670120"/>
            <a:ext cx="145800" cy="20088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 name="Shape 18"/>
          <p:cNvSpPr/>
          <p:nvPr/>
        </p:nvSpPr>
        <p:spPr>
          <a:xfrm>
            <a:off x="7580520" y="2148840"/>
            <a:ext cx="1992960" cy="1234080"/>
          </a:xfrm>
          <a:prstGeom prst="roundRect">
            <a:avLst>
              <a:gd name="adj" fmla="val 8148"/>
            </a:avLst>
          </a:prstGeom>
          <a:solidFill>
            <a:srgbClr val="E7EBF4"/>
          </a:solidFill>
          <a:ln w="10160">
            <a:solidFill>
              <a:srgbClr val="A0A6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23" name="Text 19"/>
          <p:cNvSpPr/>
          <p:nvPr/>
        </p:nvSpPr>
        <p:spPr>
          <a:xfrm>
            <a:off x="7699320" y="2368440"/>
            <a:ext cx="17553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spc="79">
                <a:solidFill>
                  <a:srgbClr val="39466C"/>
                </a:solidFill>
                <a:effectLst/>
                <a:uFillTx/>
                <a:latin typeface="Aptos"/>
                <a:ea typeface="Aptos"/>
              </a:rPr>
              <a:t>HUMAN REVIEW</a:t>
            </a:r>
            <a:endParaRPr lang="en-US" sz="900" b="0" u="none" strike="noStrike">
              <a:solidFill>
                <a:srgbClr val="2D2F38"/>
              </a:solidFill>
              <a:effectLst/>
              <a:uFillTx/>
              <a:latin typeface="Arial"/>
            </a:endParaRPr>
          </a:p>
        </p:txBody>
      </p:sp>
      <p:sp>
        <p:nvSpPr>
          <p:cNvPr id="124" name="Text 20"/>
          <p:cNvSpPr/>
          <p:nvPr/>
        </p:nvSpPr>
        <p:spPr>
          <a:xfrm>
            <a:off x="7689960" y="2761560"/>
            <a:ext cx="1773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250" b="1" u="none" strike="noStrike">
                <a:solidFill>
                  <a:srgbClr val="2D2F38"/>
                </a:solidFill>
                <a:effectLst/>
                <a:uFillTx/>
                <a:latin typeface="Aptos"/>
                <a:ea typeface="Aptos"/>
              </a:rPr>
              <a:t>Confirm / reject / defer</a:t>
            </a:r>
            <a:endParaRPr lang="en-US" sz="1250" b="0" u="none" strike="noStrike">
              <a:solidFill>
                <a:srgbClr val="2D2F38"/>
              </a:solidFill>
              <a:effectLst/>
              <a:uFillTx/>
              <a:latin typeface="Arial"/>
            </a:endParaRPr>
          </a:p>
        </p:txBody>
      </p:sp>
      <p:sp>
        <p:nvSpPr>
          <p:cNvPr id="125" name="Shape 21"/>
          <p:cNvSpPr/>
          <p:nvPr/>
        </p:nvSpPr>
        <p:spPr>
          <a:xfrm>
            <a:off x="9601200" y="2770560"/>
            <a:ext cx="155160" cy="360"/>
          </a:xfrm>
          <a:prstGeom prst="line">
            <a:avLst/>
          </a:prstGeom>
          <a:ln w="20320">
            <a:solidFill>
              <a:srgbClr val="39466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26" name="Shape 22"/>
          <p:cNvSpPr/>
          <p:nvPr/>
        </p:nvSpPr>
        <p:spPr>
          <a:xfrm>
            <a:off x="9692640" y="2670120"/>
            <a:ext cx="145800" cy="200880"/>
          </a:xfrm>
          <a:prstGeom prst="chevron">
            <a:avLst>
              <a:gd name="adj" fmla="val 50000"/>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 name="Shape 23"/>
          <p:cNvSpPr/>
          <p:nvPr/>
        </p:nvSpPr>
        <p:spPr>
          <a:xfrm>
            <a:off x="9957960" y="2148840"/>
            <a:ext cx="1846800" cy="1234080"/>
          </a:xfrm>
          <a:prstGeom prst="roundRect">
            <a:avLst>
              <a:gd name="adj" fmla="val 8148"/>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28" name="Text 24"/>
          <p:cNvSpPr/>
          <p:nvPr/>
        </p:nvSpPr>
        <p:spPr>
          <a:xfrm>
            <a:off x="10076760" y="2368440"/>
            <a:ext cx="1608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spc="79">
                <a:solidFill>
                  <a:srgbClr val="626B7B"/>
                </a:solidFill>
                <a:effectLst/>
                <a:uFillTx/>
                <a:latin typeface="Aptos"/>
                <a:ea typeface="Aptos"/>
              </a:rPr>
              <a:t>TRACE + EXPORT</a:t>
            </a:r>
            <a:endParaRPr lang="en-US" sz="900" b="0" u="none" strike="noStrike">
              <a:solidFill>
                <a:srgbClr val="2D2F38"/>
              </a:solidFill>
              <a:effectLst/>
              <a:uFillTx/>
              <a:latin typeface="Arial"/>
            </a:endParaRPr>
          </a:p>
        </p:txBody>
      </p:sp>
      <p:sp>
        <p:nvSpPr>
          <p:cNvPr id="129" name="Text 25"/>
          <p:cNvSpPr/>
          <p:nvPr/>
        </p:nvSpPr>
        <p:spPr>
          <a:xfrm>
            <a:off x="10067400" y="2761560"/>
            <a:ext cx="1627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1" u="none" strike="noStrike">
                <a:solidFill>
                  <a:srgbClr val="2D2F38"/>
                </a:solidFill>
                <a:effectLst/>
                <a:uFillTx/>
                <a:latin typeface="Aptos"/>
                <a:ea typeface="Aptos"/>
              </a:rPr>
              <a:t>Snapshot + caveats</a:t>
            </a:r>
            <a:endParaRPr lang="en-US" sz="1250" b="0" u="none" strike="noStrike">
              <a:solidFill>
                <a:srgbClr val="2D2F38"/>
              </a:solidFill>
              <a:effectLst/>
              <a:uFillTx/>
              <a:latin typeface="Arial"/>
            </a:endParaRPr>
          </a:p>
        </p:txBody>
      </p:sp>
      <p:sp>
        <p:nvSpPr>
          <p:cNvPr id="130" name="Shape 26"/>
          <p:cNvSpPr/>
          <p:nvPr/>
        </p:nvSpPr>
        <p:spPr>
          <a:xfrm>
            <a:off x="777240" y="4005000"/>
            <a:ext cx="5074560" cy="438480"/>
          </a:xfrm>
          <a:prstGeom prst="roundRect">
            <a:avLst>
              <a:gd name="adj" fmla="val 20833"/>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31" name="Shape 27"/>
          <p:cNvSpPr/>
          <p:nvPr/>
        </p:nvSpPr>
        <p:spPr>
          <a:xfrm>
            <a:off x="777240" y="4005000"/>
            <a:ext cx="54360" cy="438480"/>
          </a:xfrm>
          <a:prstGeom prst="rect">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 name="Text 28"/>
          <p:cNvSpPr/>
          <p:nvPr/>
        </p:nvSpPr>
        <p:spPr>
          <a:xfrm>
            <a:off x="941760" y="4050720"/>
            <a:ext cx="48186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2D2F38"/>
                </a:solidFill>
                <a:effectLst/>
                <a:uFillTx/>
                <a:latin typeface="Aptos"/>
                <a:ea typeface="Aptos"/>
              </a:rPr>
              <a:t>Guardrails in the current implementation</a:t>
            </a:r>
            <a:endParaRPr lang="en-US" sz="1350" b="0" u="none" strike="noStrike">
              <a:solidFill>
                <a:srgbClr val="2D2F38"/>
              </a:solidFill>
              <a:effectLst/>
              <a:uFillTx/>
              <a:latin typeface="Arial"/>
            </a:endParaRPr>
          </a:p>
        </p:txBody>
      </p:sp>
      <p:sp>
        <p:nvSpPr>
          <p:cNvPr id="133" name="Shape 29"/>
          <p:cNvSpPr/>
          <p:nvPr/>
        </p:nvSpPr>
        <p:spPr>
          <a:xfrm>
            <a:off x="960120" y="470916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34" name="Text 30"/>
          <p:cNvSpPr/>
          <p:nvPr/>
        </p:nvSpPr>
        <p:spPr>
          <a:xfrm>
            <a:off x="1115640" y="461772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AI facts remain unreviewed candidates.</a:t>
            </a:r>
            <a:endParaRPr lang="en-US" sz="1130" b="0" u="none" strike="noStrike">
              <a:solidFill>
                <a:srgbClr val="2D2F38"/>
              </a:solidFill>
              <a:effectLst/>
              <a:uFillTx/>
              <a:latin typeface="Arial"/>
            </a:endParaRPr>
          </a:p>
        </p:txBody>
      </p:sp>
      <p:sp>
        <p:nvSpPr>
          <p:cNvPr id="135" name="Shape 31"/>
          <p:cNvSpPr/>
          <p:nvPr/>
        </p:nvSpPr>
        <p:spPr>
          <a:xfrm>
            <a:off x="960120" y="502920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36" name="Text 32"/>
          <p:cNvSpPr/>
          <p:nvPr/>
        </p:nvSpPr>
        <p:spPr>
          <a:xfrm>
            <a:off x="1115640" y="493776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Unverifiable values can be flagged without a locator.</a:t>
            </a:r>
            <a:endParaRPr lang="en-US" sz="1130" b="0" u="none" strike="noStrike">
              <a:solidFill>
                <a:srgbClr val="2D2F38"/>
              </a:solidFill>
              <a:effectLst/>
              <a:uFillTx/>
              <a:latin typeface="Arial"/>
            </a:endParaRPr>
          </a:p>
        </p:txBody>
      </p:sp>
      <p:sp>
        <p:nvSpPr>
          <p:cNvPr id="137" name="Shape 33"/>
          <p:cNvSpPr/>
          <p:nvPr/>
        </p:nvSpPr>
        <p:spPr>
          <a:xfrm>
            <a:off x="960120" y="534924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38" name="Text 34"/>
          <p:cNvSpPr/>
          <p:nvPr/>
        </p:nvSpPr>
        <p:spPr>
          <a:xfrm>
            <a:off x="1115640" y="525780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A rejected or edited support fact can demote dependent links.</a:t>
            </a:r>
            <a:endParaRPr lang="en-US" sz="1130" b="0" u="none" strike="noStrike">
              <a:solidFill>
                <a:srgbClr val="2D2F38"/>
              </a:solidFill>
              <a:effectLst/>
              <a:uFillTx/>
              <a:latin typeface="Arial"/>
            </a:endParaRPr>
          </a:p>
        </p:txBody>
      </p:sp>
      <p:sp>
        <p:nvSpPr>
          <p:cNvPr id="139" name="Shape 35"/>
          <p:cNvSpPr/>
          <p:nvPr/>
        </p:nvSpPr>
        <p:spPr>
          <a:xfrm>
            <a:off x="960120" y="566928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40" name="Text 36"/>
          <p:cNvSpPr/>
          <p:nvPr/>
        </p:nvSpPr>
        <p:spPr>
          <a:xfrm>
            <a:off x="1115640" y="557784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Trace snapshots are stored and reloaded read-only.</a:t>
            </a:r>
            <a:endParaRPr lang="en-US" sz="1130" b="0" u="none" strike="noStrike">
              <a:solidFill>
                <a:srgbClr val="2D2F38"/>
              </a:solidFill>
              <a:effectLst/>
              <a:uFillTx/>
              <a:latin typeface="Arial"/>
            </a:endParaRPr>
          </a:p>
        </p:txBody>
      </p:sp>
      <p:sp>
        <p:nvSpPr>
          <p:cNvPr id="141" name="Shape 37"/>
          <p:cNvSpPr/>
          <p:nvPr/>
        </p:nvSpPr>
        <p:spPr>
          <a:xfrm>
            <a:off x="6291000" y="4005000"/>
            <a:ext cx="5074560" cy="438480"/>
          </a:xfrm>
          <a:prstGeom prst="roundRect">
            <a:avLst>
              <a:gd name="adj" fmla="val 20833"/>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42" name="Shape 38"/>
          <p:cNvSpPr/>
          <p:nvPr/>
        </p:nvSpPr>
        <p:spPr>
          <a:xfrm>
            <a:off x="6291000" y="4005000"/>
            <a:ext cx="54360" cy="438480"/>
          </a:xfrm>
          <a:prstGeom prst="rect">
            <a:avLst/>
          </a:prstGeom>
          <a:solidFill>
            <a:srgbClr val="2D3858"/>
          </a:solidFill>
          <a:ln w="12700">
            <a:solidFill>
              <a:srgbClr val="2D38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3" name="Text 39"/>
          <p:cNvSpPr/>
          <p:nvPr/>
        </p:nvSpPr>
        <p:spPr>
          <a:xfrm>
            <a:off x="6455520" y="4050720"/>
            <a:ext cx="48186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2D2F38"/>
                </a:solidFill>
                <a:effectLst/>
                <a:uFillTx/>
                <a:latin typeface="Aptos"/>
                <a:ea typeface="Aptos"/>
              </a:rPr>
              <a:t>Known capability boundary</a:t>
            </a:r>
            <a:endParaRPr lang="en-US" sz="1350" b="0" u="none" strike="noStrike">
              <a:solidFill>
                <a:srgbClr val="2D2F38"/>
              </a:solidFill>
              <a:effectLst/>
              <a:uFillTx/>
              <a:latin typeface="Arial"/>
            </a:endParaRPr>
          </a:p>
        </p:txBody>
      </p:sp>
      <p:sp>
        <p:nvSpPr>
          <p:cNvPr id="144" name="Shape 40"/>
          <p:cNvSpPr/>
          <p:nvPr/>
        </p:nvSpPr>
        <p:spPr>
          <a:xfrm>
            <a:off x="6473880" y="470916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45" name="Text 41"/>
          <p:cNvSpPr/>
          <p:nvPr/>
        </p:nvSpPr>
        <p:spPr>
          <a:xfrm>
            <a:off x="6629400" y="461772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Text, CSV and spreadsheet extraction are supported.</a:t>
            </a:r>
            <a:endParaRPr lang="en-US" sz="1130" b="0" u="none" strike="noStrike">
              <a:solidFill>
                <a:srgbClr val="2D2F38"/>
              </a:solidFill>
              <a:effectLst/>
              <a:uFillTx/>
              <a:latin typeface="Arial"/>
            </a:endParaRPr>
          </a:p>
        </p:txBody>
      </p:sp>
      <p:sp>
        <p:nvSpPr>
          <p:cNvPr id="146" name="Shape 42"/>
          <p:cNvSpPr/>
          <p:nvPr/>
        </p:nvSpPr>
        <p:spPr>
          <a:xfrm>
            <a:off x="6473880" y="502920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47" name="Text 43"/>
          <p:cNvSpPr/>
          <p:nvPr/>
        </p:nvSpPr>
        <p:spPr>
          <a:xfrm>
            <a:off x="6629400" y="493776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Scanned PDFs and images are retained, not OCR-read.</a:t>
            </a:r>
            <a:endParaRPr lang="en-US" sz="1130" b="0" u="none" strike="noStrike">
              <a:solidFill>
                <a:srgbClr val="2D2F38"/>
              </a:solidFill>
              <a:effectLst/>
              <a:uFillTx/>
              <a:latin typeface="Arial"/>
            </a:endParaRPr>
          </a:p>
        </p:txBody>
      </p:sp>
      <p:sp>
        <p:nvSpPr>
          <p:cNvPr id="148" name="Shape 44"/>
          <p:cNvSpPr/>
          <p:nvPr/>
        </p:nvSpPr>
        <p:spPr>
          <a:xfrm>
            <a:off x="6473880" y="534924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49" name="Text 45"/>
          <p:cNvSpPr/>
          <p:nvPr/>
        </p:nvSpPr>
        <p:spPr>
          <a:xfrm>
            <a:off x="6629400" y="525780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A verbatim quote is not proof of semantic correctness.</a:t>
            </a:r>
            <a:endParaRPr lang="en-US" sz="1130" b="0" u="none" strike="noStrike">
              <a:solidFill>
                <a:srgbClr val="2D2F38"/>
              </a:solidFill>
              <a:effectLst/>
              <a:uFillTx/>
              <a:latin typeface="Arial"/>
            </a:endParaRPr>
          </a:p>
        </p:txBody>
      </p:sp>
      <p:sp>
        <p:nvSpPr>
          <p:cNvPr id="150" name="Shape 46"/>
          <p:cNvSpPr/>
          <p:nvPr/>
        </p:nvSpPr>
        <p:spPr>
          <a:xfrm>
            <a:off x="6473880" y="566928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151" name="Text 47"/>
          <p:cNvSpPr/>
          <p:nvPr/>
        </p:nvSpPr>
        <p:spPr>
          <a:xfrm>
            <a:off x="6629400" y="5577840"/>
            <a:ext cx="44161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30" b="0" u="none" strike="noStrike">
                <a:solidFill>
                  <a:srgbClr val="626B7B"/>
                </a:solidFill>
                <a:effectLst/>
                <a:uFillTx/>
                <a:latin typeface="Aptos"/>
                <a:ea typeface="Aptos"/>
              </a:rPr>
              <a:t>A human must verify claims before operational reliance.</a:t>
            </a:r>
            <a:endParaRPr lang="en-US" sz="1130" b="0" u="none" strike="noStrike">
              <a:solidFill>
                <a:srgbClr val="2D2F38"/>
              </a:solidFill>
              <a:effectLst/>
              <a:uFillTx/>
              <a:latin typeface="Arial"/>
            </a:endParaRPr>
          </a:p>
        </p:txBody>
      </p:sp>
      <p:sp>
        <p:nvSpPr>
          <p:cNvPr id="152" name="PlaceHolder 1"/>
          <p:cNvSpPr>
            <a:spLocks noGrp="1"/>
          </p:cNvSpPr>
          <p:nvPr>
            <p:ph type="sldNum" idx="7"/>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1C936183-1799-4BD1-913A-48BF7EF19F01}" type="slidenum">
              <a:rPr lang="en-US" sz="700" b="0" u="none" strike="noStrike">
                <a:solidFill>
                  <a:srgbClr val="626B7B"/>
                </a:solidFill>
                <a:effectLst/>
                <a:uFillTx/>
                <a:latin typeface="Aptos"/>
                <a:ea typeface="Aptos"/>
              </a:rPr>
              <a:t>4</a:t>
            </a:fld>
            <a:endParaRPr lang="en-US" sz="700" b="0" u="none" strike="noStrike">
              <a:solidFill>
                <a:srgbClr val="2D2F38"/>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04 / LIVE CASE</a:t>
            </a:r>
            <a:endParaRPr lang="en-US" sz="900" b="0" u="none" strike="noStrike">
              <a:solidFill>
                <a:srgbClr val="2D2F38"/>
              </a:solidFill>
              <a:effectLst/>
              <a:uFillTx/>
              <a:latin typeface="Arial"/>
            </a:endParaRPr>
          </a:p>
        </p:txBody>
      </p:sp>
      <p:sp>
        <p:nvSpPr>
          <p:cNvPr id="154"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One authored scenario. A complete investigation path.</a:t>
            </a:r>
            <a:endParaRPr lang="en-US" sz="2600" b="0" u="none" strike="noStrike">
              <a:solidFill>
                <a:srgbClr val="2D2F38"/>
              </a:solidFill>
              <a:effectLst/>
              <a:uFillTx/>
              <a:latin typeface="Arial"/>
            </a:endParaRPr>
          </a:p>
        </p:txBody>
      </p:sp>
      <p:sp>
        <p:nvSpPr>
          <p:cNvPr id="155"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Karoo Crunch Foods receives an alert linked to raw-material lot RM-0873.</a:t>
            </a:r>
            <a:endParaRPr lang="en-US" sz="1250" b="0" u="none" strike="noStrike">
              <a:solidFill>
                <a:srgbClr val="2D2F38"/>
              </a:solidFill>
              <a:effectLst/>
              <a:uFillTx/>
              <a:latin typeface="Arial"/>
            </a:endParaRPr>
          </a:p>
        </p:txBody>
      </p:sp>
      <p:sp>
        <p:nvSpPr>
          <p:cNvPr id="156" name="Shape 3"/>
          <p:cNvSpPr/>
          <p:nvPr/>
        </p:nvSpPr>
        <p:spPr>
          <a:xfrm>
            <a:off x="8805600" y="402480"/>
            <a:ext cx="2377080" cy="264960"/>
          </a:xfrm>
          <a:prstGeom prst="roundRect">
            <a:avLst>
              <a:gd name="adj" fmla="val 24138"/>
            </a:avLst>
          </a:prstGeom>
          <a:solidFill>
            <a:srgbClr val="FEF3C7"/>
          </a:solidFill>
          <a:ln w="8890">
            <a:solidFill>
              <a:srgbClr val="FCD3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57" name="Text 4"/>
          <p:cNvSpPr/>
          <p:nvPr/>
        </p:nvSpPr>
        <p:spPr>
          <a:xfrm>
            <a:off x="8869680" y="420480"/>
            <a:ext cx="22489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2D3858"/>
                </a:solidFill>
                <a:effectLst/>
                <a:uFillTx/>
                <a:latin typeface="Aptos"/>
                <a:ea typeface="Aptos"/>
              </a:rPr>
              <a:t>FICTIONAL TEST SCENARIO</a:t>
            </a:r>
            <a:endParaRPr lang="en-US" sz="860" b="0" u="none" strike="noStrike">
              <a:solidFill>
                <a:srgbClr val="2D2F38"/>
              </a:solidFill>
              <a:effectLst/>
              <a:uFillTx/>
              <a:latin typeface="Arial"/>
            </a:endParaRPr>
          </a:p>
        </p:txBody>
      </p:sp>
      <p:sp>
        <p:nvSpPr>
          <p:cNvPr id="158" name="Shape 5"/>
          <p:cNvSpPr/>
          <p:nvPr/>
        </p:nvSpPr>
        <p:spPr>
          <a:xfrm>
            <a:off x="658440" y="1874520"/>
            <a:ext cx="3657240" cy="3428640"/>
          </a:xfrm>
          <a:prstGeom prst="roundRect">
            <a:avLst>
              <a:gd name="adj" fmla="val 3467"/>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59" name="Text 6"/>
          <p:cNvSpPr/>
          <p:nvPr/>
        </p:nvSpPr>
        <p:spPr>
          <a:xfrm>
            <a:off x="914400" y="2139840"/>
            <a:ext cx="3108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D2F38"/>
                </a:solidFill>
                <a:effectLst/>
                <a:uFillTx/>
                <a:latin typeface="Aptos"/>
                <a:ea typeface="Aptos"/>
              </a:rPr>
              <a:t>Input evidence</a:t>
            </a:r>
            <a:endParaRPr lang="en-US" sz="1800" b="0" u="none" strike="noStrike">
              <a:solidFill>
                <a:srgbClr val="2D2F38"/>
              </a:solidFill>
              <a:effectLst/>
              <a:uFillTx/>
              <a:latin typeface="Arial"/>
            </a:endParaRPr>
          </a:p>
        </p:txBody>
      </p:sp>
      <p:sp>
        <p:nvSpPr>
          <p:cNvPr id="160" name="Shape 7"/>
          <p:cNvSpPr/>
          <p:nvPr/>
        </p:nvSpPr>
        <p:spPr>
          <a:xfrm>
            <a:off x="951120" y="2724840"/>
            <a:ext cx="100080" cy="10008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1" name="Text 8"/>
          <p:cNvSpPr/>
          <p:nvPr/>
        </p:nvSpPr>
        <p:spPr>
          <a:xfrm>
            <a:off x="1170360" y="2651760"/>
            <a:ext cx="26514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2D2F38"/>
                </a:solidFill>
                <a:effectLst/>
                <a:uFillTx/>
                <a:latin typeface="Aptos"/>
                <a:ea typeface="Aptos"/>
              </a:rPr>
              <a:t>Supplier recall alert</a:t>
            </a:r>
            <a:endParaRPr lang="en-US" sz="1250" b="0" u="none" strike="noStrike">
              <a:solidFill>
                <a:srgbClr val="2D2F38"/>
              </a:solidFill>
              <a:effectLst/>
              <a:uFillTx/>
              <a:latin typeface="Arial"/>
            </a:endParaRPr>
          </a:p>
        </p:txBody>
      </p:sp>
      <p:sp>
        <p:nvSpPr>
          <p:cNvPr id="162" name="Shape 9"/>
          <p:cNvSpPr/>
          <p:nvPr/>
        </p:nvSpPr>
        <p:spPr>
          <a:xfrm>
            <a:off x="951120" y="3173040"/>
            <a:ext cx="100080" cy="10008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3" name="Text 10"/>
          <p:cNvSpPr/>
          <p:nvPr/>
        </p:nvSpPr>
        <p:spPr>
          <a:xfrm>
            <a:off x="1170360" y="3099960"/>
            <a:ext cx="26514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2D2F38"/>
                </a:solidFill>
                <a:effectLst/>
                <a:uFillTx/>
                <a:latin typeface="Aptos"/>
                <a:ea typeface="Aptos"/>
              </a:rPr>
              <a:t>Goods-received note</a:t>
            </a:r>
            <a:endParaRPr lang="en-US" sz="1250" b="0" u="none" strike="noStrike">
              <a:solidFill>
                <a:srgbClr val="2D2F38"/>
              </a:solidFill>
              <a:effectLst/>
              <a:uFillTx/>
              <a:latin typeface="Arial"/>
            </a:endParaRPr>
          </a:p>
        </p:txBody>
      </p:sp>
      <p:sp>
        <p:nvSpPr>
          <p:cNvPr id="164" name="Shape 11"/>
          <p:cNvSpPr/>
          <p:nvPr/>
        </p:nvSpPr>
        <p:spPr>
          <a:xfrm>
            <a:off x="951120" y="3620880"/>
            <a:ext cx="100080" cy="10008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5" name="Text 12"/>
          <p:cNvSpPr/>
          <p:nvPr/>
        </p:nvSpPr>
        <p:spPr>
          <a:xfrm>
            <a:off x="1170360" y="3547800"/>
            <a:ext cx="26514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2D2F38"/>
                </a:solidFill>
                <a:effectLst/>
                <a:uFillTx/>
                <a:latin typeface="Aptos"/>
                <a:ea typeface="Aptos"/>
              </a:rPr>
              <a:t>Stock ledger + batch sheets</a:t>
            </a:r>
            <a:endParaRPr lang="en-US" sz="1250" b="0" u="none" strike="noStrike">
              <a:solidFill>
                <a:srgbClr val="2D2F38"/>
              </a:solidFill>
              <a:effectLst/>
              <a:uFillTx/>
              <a:latin typeface="Arial"/>
            </a:endParaRPr>
          </a:p>
        </p:txBody>
      </p:sp>
      <p:sp>
        <p:nvSpPr>
          <p:cNvPr id="166" name="Shape 13"/>
          <p:cNvSpPr/>
          <p:nvPr/>
        </p:nvSpPr>
        <p:spPr>
          <a:xfrm>
            <a:off x="951120" y="4069080"/>
            <a:ext cx="100080" cy="10008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67" name="Text 14"/>
          <p:cNvSpPr/>
          <p:nvPr/>
        </p:nvSpPr>
        <p:spPr>
          <a:xfrm>
            <a:off x="1170360" y="3996000"/>
            <a:ext cx="265140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2D2F38"/>
                </a:solidFill>
                <a:effectLst/>
                <a:uFillTx/>
                <a:latin typeface="Aptos"/>
                <a:ea typeface="Aptos"/>
              </a:rPr>
              <a:t>Two dispatch notes</a:t>
            </a:r>
            <a:endParaRPr lang="en-US" sz="1250" b="0" u="none" strike="noStrike">
              <a:solidFill>
                <a:srgbClr val="2D2F38"/>
              </a:solidFill>
              <a:effectLst/>
              <a:uFillTx/>
              <a:latin typeface="Arial"/>
            </a:endParaRPr>
          </a:p>
        </p:txBody>
      </p:sp>
      <p:sp>
        <p:nvSpPr>
          <p:cNvPr id="168" name="Text 15"/>
          <p:cNvSpPr/>
          <p:nvPr/>
        </p:nvSpPr>
        <p:spPr>
          <a:xfrm>
            <a:off x="914400" y="4809600"/>
            <a:ext cx="2971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30" b="0" i="1" u="none" strike="noStrike">
                <a:solidFill>
                  <a:srgbClr val="626B7B"/>
                </a:solidFill>
                <a:effectLst/>
                <a:uFillTx/>
                <a:latin typeface="Aptos"/>
                <a:ea typeface="Aptos"/>
              </a:rPr>
              <a:t>7 authored documents · SHA-256 recorded</a:t>
            </a:r>
            <a:endParaRPr lang="en-US" sz="1030" b="0" u="none" strike="noStrike">
              <a:solidFill>
                <a:srgbClr val="2D2F38"/>
              </a:solidFill>
              <a:effectLst/>
              <a:uFillTx/>
              <a:latin typeface="Arial"/>
            </a:endParaRPr>
          </a:p>
        </p:txBody>
      </p:sp>
      <p:sp>
        <p:nvSpPr>
          <p:cNvPr id="169" name="Shape 16"/>
          <p:cNvSpPr/>
          <p:nvPr/>
        </p:nvSpPr>
        <p:spPr>
          <a:xfrm>
            <a:off x="4590360" y="1874520"/>
            <a:ext cx="3062880" cy="3428640"/>
          </a:xfrm>
          <a:prstGeom prst="roundRect">
            <a:avLst>
              <a:gd name="adj" fmla="val 3881"/>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70" name="Text 17"/>
          <p:cNvSpPr/>
          <p:nvPr/>
        </p:nvSpPr>
        <p:spPr>
          <a:xfrm>
            <a:off x="4846320" y="2139840"/>
            <a:ext cx="2541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D2F38"/>
                </a:solidFill>
                <a:effectLst/>
                <a:uFillTx/>
                <a:latin typeface="Aptos"/>
                <a:ea typeface="Aptos"/>
              </a:rPr>
              <a:t>Extraction results</a:t>
            </a:r>
            <a:endParaRPr lang="en-US" sz="1800" b="0" u="none" strike="noStrike">
              <a:solidFill>
                <a:srgbClr val="2D2F38"/>
              </a:solidFill>
              <a:effectLst/>
              <a:uFillTx/>
              <a:latin typeface="Arial"/>
            </a:endParaRPr>
          </a:p>
        </p:txBody>
      </p:sp>
      <p:sp>
        <p:nvSpPr>
          <p:cNvPr id="171" name="Text 18"/>
          <p:cNvSpPr/>
          <p:nvPr/>
        </p:nvSpPr>
        <p:spPr>
          <a:xfrm>
            <a:off x="4864680" y="2724840"/>
            <a:ext cx="1023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39466C"/>
                </a:solidFill>
                <a:effectLst/>
                <a:uFillTx/>
                <a:latin typeface="Aptos"/>
                <a:ea typeface="Aptos"/>
              </a:rPr>
              <a:t>13</a:t>
            </a:r>
            <a:endParaRPr lang="en-US" sz="3400" b="0" u="none" strike="noStrike">
              <a:solidFill>
                <a:srgbClr val="2D2F38"/>
              </a:solidFill>
              <a:effectLst/>
              <a:uFillTx/>
              <a:latin typeface="Arial"/>
            </a:endParaRPr>
          </a:p>
        </p:txBody>
      </p:sp>
      <p:sp>
        <p:nvSpPr>
          <p:cNvPr id="172" name="Text 19"/>
          <p:cNvSpPr/>
          <p:nvPr/>
        </p:nvSpPr>
        <p:spPr>
          <a:xfrm>
            <a:off x="5779080" y="2862000"/>
            <a:ext cx="1554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26B7B"/>
                </a:solidFill>
                <a:effectLst/>
                <a:uFillTx/>
                <a:latin typeface="Aptos"/>
                <a:ea typeface="Aptos"/>
              </a:rPr>
              <a:t>AI candidate facts</a:t>
            </a:r>
            <a:endParaRPr lang="en-US" sz="1120" b="0" u="none" strike="noStrike">
              <a:solidFill>
                <a:srgbClr val="2D2F38"/>
              </a:solidFill>
              <a:effectLst/>
              <a:uFillTx/>
              <a:latin typeface="Arial"/>
            </a:endParaRPr>
          </a:p>
        </p:txBody>
      </p:sp>
      <p:sp>
        <p:nvSpPr>
          <p:cNvPr id="173" name="Shape 20"/>
          <p:cNvSpPr/>
          <p:nvPr/>
        </p:nvSpPr>
        <p:spPr>
          <a:xfrm>
            <a:off x="4855320" y="3456360"/>
            <a:ext cx="2487240" cy="360"/>
          </a:xfrm>
          <a:prstGeom prst="line">
            <a:avLst/>
          </a:prstGeom>
          <a:ln w="11430">
            <a:solidFill>
              <a:srgbClr val="E5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74" name="Text 21"/>
          <p:cNvSpPr/>
          <p:nvPr/>
        </p:nvSpPr>
        <p:spPr>
          <a:xfrm>
            <a:off x="4864680" y="3694320"/>
            <a:ext cx="511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66534"/>
                </a:solidFill>
                <a:effectLst/>
                <a:uFillTx/>
                <a:latin typeface="Aptos"/>
                <a:ea typeface="Aptos"/>
              </a:rPr>
              <a:t>8</a:t>
            </a:r>
            <a:endParaRPr lang="en-US" sz="2300" b="0" u="none" strike="noStrike">
              <a:solidFill>
                <a:srgbClr val="2D2F38"/>
              </a:solidFill>
              <a:effectLst/>
              <a:uFillTx/>
              <a:latin typeface="Arial"/>
            </a:endParaRPr>
          </a:p>
        </p:txBody>
      </p:sp>
      <p:sp>
        <p:nvSpPr>
          <p:cNvPr id="175" name="Text 22"/>
          <p:cNvSpPr/>
          <p:nvPr/>
        </p:nvSpPr>
        <p:spPr>
          <a:xfrm>
            <a:off x="5449680" y="374904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2D2F38"/>
                </a:solidFill>
                <a:effectLst/>
                <a:uFillTx/>
                <a:latin typeface="Aptos"/>
                <a:ea typeface="Aptos"/>
              </a:rPr>
              <a:t>quote-verbatim at cited line</a:t>
            </a:r>
            <a:endParaRPr lang="en-US" sz="1080" b="0" u="none" strike="noStrike">
              <a:solidFill>
                <a:srgbClr val="2D2F38"/>
              </a:solidFill>
              <a:effectLst/>
              <a:uFillTx/>
              <a:latin typeface="Arial"/>
            </a:endParaRPr>
          </a:p>
        </p:txBody>
      </p:sp>
      <p:sp>
        <p:nvSpPr>
          <p:cNvPr id="176" name="Text 23"/>
          <p:cNvSpPr/>
          <p:nvPr/>
        </p:nvSpPr>
        <p:spPr>
          <a:xfrm>
            <a:off x="4864680" y="4242960"/>
            <a:ext cx="511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2D3858"/>
                </a:solidFill>
                <a:effectLst/>
                <a:uFillTx/>
                <a:latin typeface="Aptos"/>
                <a:ea typeface="Aptos"/>
              </a:rPr>
              <a:t>5</a:t>
            </a:r>
            <a:endParaRPr lang="en-US" sz="2300" b="0" u="none" strike="noStrike">
              <a:solidFill>
                <a:srgbClr val="2D2F38"/>
              </a:solidFill>
              <a:effectLst/>
              <a:uFillTx/>
              <a:latin typeface="Arial"/>
            </a:endParaRPr>
          </a:p>
        </p:txBody>
      </p:sp>
      <p:sp>
        <p:nvSpPr>
          <p:cNvPr id="177" name="Text 24"/>
          <p:cNvSpPr/>
          <p:nvPr/>
        </p:nvSpPr>
        <p:spPr>
          <a:xfrm>
            <a:off x="5449680" y="429768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2D2F38"/>
                </a:solidFill>
                <a:effectLst/>
                <a:uFillTx/>
                <a:latin typeface="Aptos"/>
                <a:ea typeface="Aptos"/>
              </a:rPr>
              <a:t>identifier-only; flagged</a:t>
            </a:r>
            <a:endParaRPr lang="en-US" sz="1080" b="0" u="none" strike="noStrike">
              <a:solidFill>
                <a:srgbClr val="2D2F38"/>
              </a:solidFill>
              <a:effectLst/>
              <a:uFillTx/>
              <a:latin typeface="Arial"/>
            </a:endParaRPr>
          </a:p>
        </p:txBody>
      </p:sp>
      <p:sp>
        <p:nvSpPr>
          <p:cNvPr id="178" name="Text 25"/>
          <p:cNvSpPr/>
          <p:nvPr/>
        </p:nvSpPr>
        <p:spPr>
          <a:xfrm>
            <a:off x="4855320" y="4855320"/>
            <a:ext cx="24685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30" b="0" u="none" strike="noStrike">
                <a:solidFill>
                  <a:srgbClr val="626B7B"/>
                </a:solidFill>
                <a:effectLst/>
                <a:uFillTx/>
                <a:latin typeface="Aptos"/>
                <a:ea typeface="Aptos"/>
              </a:rPr>
              <a:t>35 parser facts · 48 total</a:t>
            </a:r>
            <a:endParaRPr lang="en-US" sz="1030" b="0" u="none" strike="noStrike">
              <a:solidFill>
                <a:srgbClr val="2D2F38"/>
              </a:solidFill>
              <a:effectLst/>
              <a:uFillTx/>
              <a:latin typeface="Arial"/>
            </a:endParaRPr>
          </a:p>
        </p:txBody>
      </p:sp>
      <p:sp>
        <p:nvSpPr>
          <p:cNvPr id="179" name="Shape 26"/>
          <p:cNvSpPr/>
          <p:nvPr/>
        </p:nvSpPr>
        <p:spPr>
          <a:xfrm>
            <a:off x="7927920" y="1874520"/>
            <a:ext cx="3584160" cy="3428640"/>
          </a:xfrm>
          <a:prstGeom prst="roundRect">
            <a:avLst>
              <a:gd name="adj" fmla="val 3467"/>
            </a:avLst>
          </a:prstGeom>
          <a:solidFill>
            <a:srgbClr val="2D2F38"/>
          </a:solidFill>
          <a:ln w="10160">
            <a:solidFill>
              <a:srgbClr val="2D2F3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0" name="Text 27"/>
          <p:cNvSpPr/>
          <p:nvPr/>
        </p:nvSpPr>
        <p:spPr>
          <a:xfrm>
            <a:off x="8211240" y="2139840"/>
            <a:ext cx="2925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FFFFFF"/>
                </a:solidFill>
                <a:effectLst/>
                <a:uFillTx/>
                <a:latin typeface="Aptos"/>
                <a:ea typeface="Aptos"/>
              </a:rPr>
              <a:t>Human gate</a:t>
            </a:r>
            <a:endParaRPr lang="en-US" sz="1800" b="0" u="none" strike="noStrike">
              <a:solidFill>
                <a:srgbClr val="2D2F38"/>
              </a:solidFill>
              <a:effectLst/>
              <a:uFillTx/>
              <a:latin typeface="Arial"/>
            </a:endParaRPr>
          </a:p>
        </p:txBody>
      </p:sp>
      <p:sp>
        <p:nvSpPr>
          <p:cNvPr id="181" name="Text 28"/>
          <p:cNvSpPr/>
          <p:nvPr/>
        </p:nvSpPr>
        <p:spPr>
          <a:xfrm>
            <a:off x="8220600" y="2743200"/>
            <a:ext cx="9140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A0A6B4"/>
                </a:solidFill>
                <a:effectLst/>
                <a:uFillTx/>
                <a:latin typeface="Aptos"/>
                <a:ea typeface="Aptos"/>
              </a:rPr>
              <a:t>8</a:t>
            </a:r>
            <a:endParaRPr lang="en-US" sz="3400" b="0" u="none" strike="noStrike">
              <a:solidFill>
                <a:srgbClr val="2D2F38"/>
              </a:solidFill>
              <a:effectLst/>
              <a:uFillTx/>
              <a:latin typeface="Arial"/>
            </a:endParaRPr>
          </a:p>
        </p:txBody>
      </p:sp>
      <p:sp>
        <p:nvSpPr>
          <p:cNvPr id="182" name="Text 29"/>
          <p:cNvSpPr/>
          <p:nvPr/>
        </p:nvSpPr>
        <p:spPr>
          <a:xfrm>
            <a:off x="9098280" y="286200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E5E8F0"/>
                </a:solidFill>
                <a:effectLst/>
                <a:uFillTx/>
                <a:latin typeface="Aptos"/>
                <a:ea typeface="Aptos"/>
              </a:rPr>
              <a:t>relationship proposals</a:t>
            </a:r>
            <a:endParaRPr lang="en-US" sz="1120" b="0" u="none" strike="noStrike">
              <a:solidFill>
                <a:srgbClr val="2D2F38"/>
              </a:solidFill>
              <a:effectLst/>
              <a:uFillTx/>
              <a:latin typeface="Arial"/>
            </a:endParaRPr>
          </a:p>
        </p:txBody>
      </p:sp>
      <p:sp>
        <p:nvSpPr>
          <p:cNvPr id="183" name="Shape 30"/>
          <p:cNvSpPr/>
          <p:nvPr/>
        </p:nvSpPr>
        <p:spPr>
          <a:xfrm>
            <a:off x="8211240" y="3456360"/>
            <a:ext cx="2971800" cy="360"/>
          </a:xfrm>
          <a:prstGeom prst="line">
            <a:avLst/>
          </a:prstGeom>
          <a:ln w="11430">
            <a:solidFill>
              <a:srgbClr val="B9C1D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84" name="Text 31"/>
          <p:cNvSpPr/>
          <p:nvPr/>
        </p:nvSpPr>
        <p:spPr>
          <a:xfrm>
            <a:off x="8229600" y="3703320"/>
            <a:ext cx="511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A0A6B4"/>
                </a:solidFill>
                <a:effectLst/>
                <a:uFillTx/>
                <a:latin typeface="Aptos"/>
                <a:ea typeface="Aptos"/>
              </a:rPr>
              <a:t>7</a:t>
            </a:r>
            <a:endParaRPr lang="en-US" sz="2300" b="0" u="none" strike="noStrike">
              <a:solidFill>
                <a:srgbClr val="2D2F38"/>
              </a:solidFill>
              <a:effectLst/>
              <a:uFillTx/>
              <a:latin typeface="Arial"/>
            </a:endParaRPr>
          </a:p>
        </p:txBody>
      </p:sp>
      <p:sp>
        <p:nvSpPr>
          <p:cNvPr id="185" name="Text 32"/>
          <p:cNvSpPr/>
          <p:nvPr/>
        </p:nvSpPr>
        <p:spPr>
          <a:xfrm>
            <a:off x="8814960" y="3758040"/>
            <a:ext cx="2057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0" u="none" strike="noStrike">
                <a:solidFill>
                  <a:srgbClr val="FFFFFF"/>
                </a:solidFill>
                <a:effectLst/>
                <a:uFillTx/>
                <a:latin typeface="Aptos"/>
                <a:ea typeface="Aptos"/>
              </a:rPr>
              <a:t>confirmed by reviewer</a:t>
            </a:r>
            <a:endParaRPr lang="en-US" sz="1100" b="0" u="none" strike="noStrike">
              <a:solidFill>
                <a:srgbClr val="2D2F38"/>
              </a:solidFill>
              <a:effectLst/>
              <a:uFillTx/>
              <a:latin typeface="Arial"/>
            </a:endParaRPr>
          </a:p>
        </p:txBody>
      </p:sp>
      <p:sp>
        <p:nvSpPr>
          <p:cNvPr id="186" name="Text 33"/>
          <p:cNvSpPr/>
          <p:nvPr/>
        </p:nvSpPr>
        <p:spPr>
          <a:xfrm>
            <a:off x="8229600" y="4233600"/>
            <a:ext cx="5115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B45309"/>
                </a:solidFill>
                <a:effectLst/>
                <a:uFillTx/>
                <a:latin typeface="Aptos"/>
                <a:ea typeface="Aptos"/>
              </a:rPr>
              <a:t>1</a:t>
            </a:r>
            <a:endParaRPr lang="en-US" sz="2300" b="0" u="none" strike="noStrike">
              <a:solidFill>
                <a:srgbClr val="2D2F38"/>
              </a:solidFill>
              <a:effectLst/>
              <a:uFillTx/>
              <a:latin typeface="Arial"/>
            </a:endParaRPr>
          </a:p>
        </p:txBody>
      </p:sp>
      <p:sp>
        <p:nvSpPr>
          <p:cNvPr id="187" name="Text 34"/>
          <p:cNvSpPr/>
          <p:nvPr/>
        </p:nvSpPr>
        <p:spPr>
          <a:xfrm>
            <a:off x="8814960" y="4288680"/>
            <a:ext cx="2057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0" u="none" strike="noStrike">
                <a:solidFill>
                  <a:srgbClr val="FFFFFF"/>
                </a:solidFill>
                <a:effectLst/>
                <a:uFillTx/>
                <a:latin typeface="Aptos"/>
                <a:ea typeface="Aptos"/>
              </a:rPr>
              <a:t>false-positive rejected</a:t>
            </a:r>
            <a:endParaRPr lang="en-US" sz="1100" b="0" u="none" strike="noStrike">
              <a:solidFill>
                <a:srgbClr val="2D2F38"/>
              </a:solidFill>
              <a:effectLst/>
              <a:uFillTx/>
              <a:latin typeface="Arial"/>
            </a:endParaRPr>
          </a:p>
        </p:txBody>
      </p:sp>
      <p:sp>
        <p:nvSpPr>
          <p:cNvPr id="188" name="Text 35"/>
          <p:cNvSpPr/>
          <p:nvPr/>
        </p:nvSpPr>
        <p:spPr>
          <a:xfrm>
            <a:off x="868680" y="5632560"/>
            <a:ext cx="1042380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39466C"/>
                </a:solidFill>
                <a:effectLst/>
                <a:uFillTx/>
                <a:latin typeface="Aptos"/>
                <a:ea typeface="Aptos"/>
              </a:rPr>
              <a:t>Alias RM-O873 was deferred, not silently merged.</a:t>
            </a:r>
            <a:endParaRPr lang="en-US" sz="1500" b="0" u="none" strike="noStrike">
              <a:solidFill>
                <a:srgbClr val="2D2F38"/>
              </a:solidFill>
              <a:effectLst/>
              <a:uFillTx/>
              <a:latin typeface="Arial"/>
            </a:endParaRPr>
          </a:p>
        </p:txBody>
      </p:sp>
      <p:sp>
        <p:nvSpPr>
          <p:cNvPr id="189" name="Text 36"/>
          <p:cNvSpPr/>
          <p:nvPr/>
        </p:nvSpPr>
        <p:spPr>
          <a:xfrm>
            <a:off x="1005840" y="6062400"/>
            <a:ext cx="100580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626B7B"/>
                </a:solidFill>
                <a:effectLst/>
                <a:uFillTx/>
                <a:latin typeface="Aptos"/>
                <a:ea typeface="Aptos"/>
              </a:rPr>
              <a:t>Single authored scenario; extraction grounding is not a semantic accuracy score.</a:t>
            </a:r>
            <a:endParaRPr lang="en-US" sz="950" b="0" u="none" strike="noStrike">
              <a:solidFill>
                <a:srgbClr val="2D2F38"/>
              </a:solidFill>
              <a:effectLst/>
              <a:uFillTx/>
              <a:latin typeface="Arial"/>
            </a:endParaRPr>
          </a:p>
        </p:txBody>
      </p:sp>
      <p:sp>
        <p:nvSpPr>
          <p:cNvPr id="190" name="PlaceHolder 1"/>
          <p:cNvSpPr>
            <a:spLocks noGrp="1"/>
          </p:cNvSpPr>
          <p:nvPr>
            <p:ph type="sldNum" idx="8"/>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095F5545-B4B8-496B-9E44-AA15A1FAFD8D}" type="slidenum">
              <a:rPr lang="en-US" sz="700" b="0" u="none" strike="noStrike">
                <a:solidFill>
                  <a:srgbClr val="626B7B"/>
                </a:solidFill>
                <a:effectLst/>
                <a:uFillTx/>
                <a:latin typeface="Aptos"/>
                <a:ea typeface="Aptos"/>
              </a:rPr>
              <a:t>5</a:t>
            </a:fld>
            <a:endParaRPr lang="en-US" sz="700" b="0" u="none" strike="noStrike">
              <a:solidFill>
                <a:srgbClr val="2D2F38"/>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05 / RESULT</a:t>
            </a:r>
            <a:endParaRPr lang="en-US" sz="900" b="0" u="none" strike="noStrike">
              <a:solidFill>
                <a:srgbClr val="2D2F38"/>
              </a:solidFill>
              <a:effectLst/>
              <a:uFillTx/>
              <a:latin typeface="Arial"/>
            </a:endParaRPr>
          </a:p>
        </p:txBody>
      </p:sp>
      <p:sp>
        <p:nvSpPr>
          <p:cNvPr id="192"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A trace that shows both what is supported and what is not</a:t>
            </a:r>
            <a:endParaRPr lang="en-US" sz="2600" b="0" u="none" strike="noStrike">
              <a:solidFill>
                <a:srgbClr val="2D2F38"/>
              </a:solidFill>
              <a:effectLst/>
              <a:uFillTx/>
              <a:latin typeface="Arial"/>
            </a:endParaRPr>
          </a:p>
        </p:txBody>
      </p:sp>
      <p:sp>
        <p:nvSpPr>
          <p:cNvPr id="193"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Final run after review: the false-positive customer relationship did not enter the confirmed trace.</a:t>
            </a:r>
            <a:endParaRPr lang="en-US" sz="1250" b="0" u="none" strike="noStrike">
              <a:solidFill>
                <a:srgbClr val="2D2F38"/>
              </a:solidFill>
              <a:effectLst/>
              <a:uFillTx/>
              <a:latin typeface="Arial"/>
            </a:endParaRPr>
          </a:p>
        </p:txBody>
      </p:sp>
      <p:sp>
        <p:nvSpPr>
          <p:cNvPr id="194" name="Shape 3"/>
          <p:cNvSpPr/>
          <p:nvPr/>
        </p:nvSpPr>
        <p:spPr>
          <a:xfrm>
            <a:off x="594360" y="1874520"/>
            <a:ext cx="3794400" cy="3401280"/>
          </a:xfrm>
          <a:prstGeom prst="roundRect">
            <a:avLst>
              <a:gd name="adj" fmla="val 3495"/>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195" name="Text 4"/>
          <p:cNvSpPr/>
          <p:nvPr/>
        </p:nvSpPr>
        <p:spPr>
          <a:xfrm>
            <a:off x="868680" y="2130480"/>
            <a:ext cx="32000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66534"/>
                </a:solidFill>
                <a:effectLst/>
                <a:uFillTx/>
                <a:latin typeface="Aptos"/>
                <a:ea typeface="Aptos"/>
              </a:rPr>
              <a:t>Confirmed scope</a:t>
            </a:r>
            <a:endParaRPr lang="en-US" sz="1800" b="0" u="none" strike="noStrike">
              <a:solidFill>
                <a:srgbClr val="2D2F38"/>
              </a:solidFill>
              <a:effectLst/>
              <a:uFillTx/>
              <a:latin typeface="Arial"/>
            </a:endParaRPr>
          </a:p>
        </p:txBody>
      </p:sp>
      <p:sp>
        <p:nvSpPr>
          <p:cNvPr id="196" name="Shape 5"/>
          <p:cNvSpPr/>
          <p:nvPr/>
        </p:nvSpPr>
        <p:spPr>
          <a:xfrm>
            <a:off x="1526760" y="2935080"/>
            <a:ext cx="137160" cy="36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97" name="Shape 6"/>
          <p:cNvSpPr/>
          <p:nvPr/>
        </p:nvSpPr>
        <p:spPr>
          <a:xfrm>
            <a:off x="2541960" y="2935080"/>
            <a:ext cx="146160" cy="36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2D2F38"/>
              </a:solidFill>
              <a:effectLst/>
              <a:uFillTx/>
              <a:latin typeface="Arial"/>
            </a:endParaRPr>
          </a:p>
        </p:txBody>
      </p:sp>
      <p:sp>
        <p:nvSpPr>
          <p:cNvPr id="198" name="Shape 7"/>
          <p:cNvSpPr/>
          <p:nvPr/>
        </p:nvSpPr>
        <p:spPr>
          <a:xfrm>
            <a:off x="3291840" y="3126960"/>
            <a:ext cx="360" cy="32940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2D2F38"/>
              </a:solidFill>
              <a:effectLst/>
              <a:uFillTx/>
              <a:latin typeface="Arial"/>
            </a:endParaRPr>
          </a:p>
        </p:txBody>
      </p:sp>
      <p:sp>
        <p:nvSpPr>
          <p:cNvPr id="199" name="Shape 8"/>
          <p:cNvSpPr/>
          <p:nvPr/>
        </p:nvSpPr>
        <p:spPr>
          <a:xfrm>
            <a:off x="3291840" y="3840480"/>
            <a:ext cx="360" cy="17352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2D2F38"/>
              </a:solidFill>
              <a:effectLst/>
              <a:uFillTx/>
              <a:latin typeface="Arial"/>
            </a:endParaRPr>
          </a:p>
        </p:txBody>
      </p:sp>
      <p:sp>
        <p:nvSpPr>
          <p:cNvPr id="200" name="Shape 9"/>
          <p:cNvSpPr/>
          <p:nvPr/>
        </p:nvSpPr>
        <p:spPr>
          <a:xfrm flipH="1">
            <a:off x="1536120" y="4014000"/>
            <a:ext cx="1755720" cy="17388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2D2F38"/>
              </a:solidFill>
              <a:effectLst/>
              <a:uFillTx/>
              <a:latin typeface="Arial"/>
            </a:endParaRPr>
          </a:p>
        </p:txBody>
      </p:sp>
      <p:sp>
        <p:nvSpPr>
          <p:cNvPr id="201" name="Shape 10"/>
          <p:cNvSpPr/>
          <p:nvPr/>
        </p:nvSpPr>
        <p:spPr>
          <a:xfrm flipH="1">
            <a:off x="3191040" y="4014000"/>
            <a:ext cx="100800" cy="173880"/>
          </a:xfrm>
          <a:prstGeom prst="line">
            <a:avLst/>
          </a:prstGeom>
          <a:ln w="20320">
            <a:solidFill>
              <a:srgbClr val="166534"/>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2D2F38"/>
              </a:solidFill>
              <a:effectLst/>
              <a:uFillTx/>
              <a:latin typeface="Arial"/>
            </a:endParaRPr>
          </a:p>
        </p:txBody>
      </p:sp>
      <p:sp>
        <p:nvSpPr>
          <p:cNvPr id="202" name="Shape 11"/>
          <p:cNvSpPr/>
          <p:nvPr/>
        </p:nvSpPr>
        <p:spPr>
          <a:xfrm>
            <a:off x="831960" y="2743200"/>
            <a:ext cx="694440" cy="383760"/>
          </a:xfrm>
          <a:prstGeom prst="roundRect">
            <a:avLst>
              <a:gd name="adj" fmla="val 19048"/>
            </a:avLst>
          </a:prstGeom>
          <a:solidFill>
            <a:srgbClr val="F4F6FA"/>
          </a:solidFill>
          <a:ln w="10160">
            <a:solidFill>
              <a:srgbClr val="F4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03" name="Text 12"/>
          <p:cNvSpPr/>
          <p:nvPr/>
        </p:nvSpPr>
        <p:spPr>
          <a:xfrm>
            <a:off x="868680" y="2797920"/>
            <a:ext cx="62136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20" b="1" u="none" strike="noStrike">
                <a:solidFill>
                  <a:srgbClr val="626B7B"/>
                </a:solidFill>
                <a:effectLst/>
                <a:uFillTx/>
                <a:latin typeface="Aptos"/>
                <a:ea typeface="Aptos"/>
              </a:rPr>
              <a:t>Supplier</a:t>
            </a:r>
            <a:endParaRPr lang="en-US" sz="920" b="0" u="none" strike="noStrike">
              <a:solidFill>
                <a:srgbClr val="2D2F38"/>
              </a:solidFill>
              <a:effectLst/>
              <a:uFillTx/>
              <a:latin typeface="Arial"/>
            </a:endParaRPr>
          </a:p>
        </p:txBody>
      </p:sp>
      <p:sp>
        <p:nvSpPr>
          <p:cNvPr id="204" name="Shape 13"/>
          <p:cNvSpPr/>
          <p:nvPr/>
        </p:nvSpPr>
        <p:spPr>
          <a:xfrm>
            <a:off x="1664280" y="2743200"/>
            <a:ext cx="877320" cy="383760"/>
          </a:xfrm>
          <a:prstGeom prst="roundRect">
            <a:avLst>
              <a:gd name="adj" fmla="val 19048"/>
            </a:avLst>
          </a:prstGeom>
          <a:solidFill>
            <a:srgbClr val="DCFCE7"/>
          </a:solidFill>
          <a:ln w="10160">
            <a:solidFill>
              <a:srgbClr val="DCF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05" name="Text 14"/>
          <p:cNvSpPr/>
          <p:nvPr/>
        </p:nvSpPr>
        <p:spPr>
          <a:xfrm>
            <a:off x="1700640" y="2797920"/>
            <a:ext cx="8042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20" b="1" u="none" strike="noStrike">
                <a:solidFill>
                  <a:srgbClr val="166534"/>
                </a:solidFill>
                <a:effectLst/>
                <a:uFillTx/>
                <a:latin typeface="Aptos"/>
                <a:ea typeface="Aptos"/>
              </a:rPr>
              <a:t>RM-0873</a:t>
            </a:r>
            <a:endParaRPr lang="en-US" sz="920" b="0" u="none" strike="noStrike">
              <a:solidFill>
                <a:srgbClr val="2D2F38"/>
              </a:solidFill>
              <a:effectLst/>
              <a:uFillTx/>
              <a:latin typeface="Arial"/>
            </a:endParaRPr>
          </a:p>
        </p:txBody>
      </p:sp>
      <p:sp>
        <p:nvSpPr>
          <p:cNvPr id="206" name="Shape 15"/>
          <p:cNvSpPr/>
          <p:nvPr/>
        </p:nvSpPr>
        <p:spPr>
          <a:xfrm>
            <a:off x="2688480" y="2743200"/>
            <a:ext cx="1197360" cy="383760"/>
          </a:xfrm>
          <a:prstGeom prst="roundRect">
            <a:avLst>
              <a:gd name="adj" fmla="val 19048"/>
            </a:avLst>
          </a:prstGeom>
          <a:solidFill>
            <a:srgbClr val="E7EBF4"/>
          </a:solidFill>
          <a:ln w="1016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07" name="Text 16"/>
          <p:cNvSpPr/>
          <p:nvPr/>
        </p:nvSpPr>
        <p:spPr>
          <a:xfrm>
            <a:off x="2724840" y="2797920"/>
            <a:ext cx="1124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39" b="1" u="none" strike="noStrike">
                <a:solidFill>
                  <a:srgbClr val="39466C"/>
                </a:solidFill>
                <a:effectLst/>
                <a:uFillTx/>
                <a:latin typeface="Aptos"/>
                <a:ea typeface="Aptos"/>
              </a:rPr>
              <a:t>PB-2026-1012-A</a:t>
            </a:r>
            <a:endParaRPr lang="en-US" sz="839" b="0" u="none" strike="noStrike">
              <a:solidFill>
                <a:srgbClr val="2D2F38"/>
              </a:solidFill>
              <a:effectLst/>
              <a:uFillTx/>
              <a:latin typeface="Arial"/>
            </a:endParaRPr>
          </a:p>
        </p:txBody>
      </p:sp>
      <p:sp>
        <p:nvSpPr>
          <p:cNvPr id="208" name="Shape 17"/>
          <p:cNvSpPr/>
          <p:nvPr/>
        </p:nvSpPr>
        <p:spPr>
          <a:xfrm>
            <a:off x="2688480" y="3456360"/>
            <a:ext cx="1197360" cy="383760"/>
          </a:xfrm>
          <a:prstGeom prst="roundRect">
            <a:avLst>
              <a:gd name="adj" fmla="val 19048"/>
            </a:avLst>
          </a:prstGeom>
          <a:solidFill>
            <a:srgbClr val="DCFCE7"/>
          </a:solidFill>
          <a:ln w="10160">
            <a:solidFill>
              <a:srgbClr val="DCF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09" name="Text 18"/>
          <p:cNvSpPr/>
          <p:nvPr/>
        </p:nvSpPr>
        <p:spPr>
          <a:xfrm>
            <a:off x="2724840" y="3511440"/>
            <a:ext cx="1124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20" b="1" u="none" strike="noStrike">
                <a:solidFill>
                  <a:srgbClr val="166534"/>
                </a:solidFill>
                <a:effectLst/>
                <a:uFillTx/>
                <a:latin typeface="Aptos"/>
                <a:ea typeface="Aptos"/>
              </a:rPr>
              <a:t>FL-1021A</a:t>
            </a:r>
            <a:endParaRPr lang="en-US" sz="920" b="0" u="none" strike="noStrike">
              <a:solidFill>
                <a:srgbClr val="2D2F38"/>
              </a:solidFill>
              <a:effectLst/>
              <a:uFillTx/>
              <a:latin typeface="Arial"/>
            </a:endParaRPr>
          </a:p>
        </p:txBody>
      </p:sp>
      <p:sp>
        <p:nvSpPr>
          <p:cNvPr id="210" name="Shape 19"/>
          <p:cNvSpPr/>
          <p:nvPr/>
        </p:nvSpPr>
        <p:spPr>
          <a:xfrm>
            <a:off x="941760" y="4187880"/>
            <a:ext cx="1188360" cy="383760"/>
          </a:xfrm>
          <a:prstGeom prst="roundRect">
            <a:avLst>
              <a:gd name="adj" fmla="val 19048"/>
            </a:avLst>
          </a:prstGeom>
          <a:solidFill>
            <a:srgbClr val="DCFCE7"/>
          </a:solidFill>
          <a:ln w="10160">
            <a:solidFill>
              <a:srgbClr val="DCF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11" name="Text 20"/>
          <p:cNvSpPr/>
          <p:nvPr/>
        </p:nvSpPr>
        <p:spPr>
          <a:xfrm>
            <a:off x="978480" y="4242960"/>
            <a:ext cx="1115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20" b="1" u="none" strike="noStrike">
                <a:solidFill>
                  <a:srgbClr val="166534"/>
                </a:solidFill>
                <a:effectLst/>
                <a:uFillTx/>
                <a:latin typeface="Aptos"/>
                <a:ea typeface="Aptos"/>
              </a:rPr>
              <a:t>Bosveld</a:t>
            </a:r>
            <a:endParaRPr lang="en-US" sz="920" b="0" u="none" strike="noStrike">
              <a:solidFill>
                <a:srgbClr val="2D2F38"/>
              </a:solidFill>
              <a:effectLst/>
              <a:uFillTx/>
              <a:latin typeface="Arial"/>
            </a:endParaRPr>
          </a:p>
        </p:txBody>
      </p:sp>
      <p:sp>
        <p:nvSpPr>
          <p:cNvPr id="212" name="Shape 21"/>
          <p:cNvSpPr/>
          <p:nvPr/>
        </p:nvSpPr>
        <p:spPr>
          <a:xfrm>
            <a:off x="2496240" y="4187880"/>
            <a:ext cx="1389600" cy="383760"/>
          </a:xfrm>
          <a:prstGeom prst="roundRect">
            <a:avLst>
              <a:gd name="adj" fmla="val 19048"/>
            </a:avLst>
          </a:prstGeom>
          <a:solidFill>
            <a:srgbClr val="DCFCE7"/>
          </a:solidFill>
          <a:ln w="10160">
            <a:solidFill>
              <a:srgbClr val="DCF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13" name="Text 22"/>
          <p:cNvSpPr/>
          <p:nvPr/>
        </p:nvSpPr>
        <p:spPr>
          <a:xfrm>
            <a:off x="2532960" y="4242960"/>
            <a:ext cx="131652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20" b="1" u="none" strike="noStrike">
                <a:solidFill>
                  <a:srgbClr val="166534"/>
                </a:solidFill>
                <a:effectLst/>
                <a:uFillTx/>
                <a:latin typeface="Aptos"/>
                <a:ea typeface="Aptos"/>
              </a:rPr>
              <a:t>Highveld</a:t>
            </a:r>
            <a:endParaRPr lang="en-US" sz="920" b="0" u="none" strike="noStrike">
              <a:solidFill>
                <a:srgbClr val="2D2F38"/>
              </a:solidFill>
              <a:effectLst/>
              <a:uFillTx/>
              <a:latin typeface="Arial"/>
            </a:endParaRPr>
          </a:p>
        </p:txBody>
      </p:sp>
      <p:sp>
        <p:nvSpPr>
          <p:cNvPr id="214" name="Text 23"/>
          <p:cNvSpPr/>
          <p:nvPr/>
        </p:nvSpPr>
        <p:spPr>
          <a:xfrm>
            <a:off x="868680" y="4736520"/>
            <a:ext cx="33829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040" b="1" u="none" strike="noStrike">
                <a:solidFill>
                  <a:srgbClr val="2D2F38"/>
                </a:solidFill>
                <a:effectLst/>
                <a:uFillTx/>
                <a:latin typeface="Aptos"/>
                <a:ea typeface="Aptos"/>
              </a:rPr>
              <a:t>1 finished lot · 2 customers · 5 confirmed trace edges</a:t>
            </a:r>
            <a:endParaRPr lang="en-US" sz="1040" b="0" u="none" strike="noStrike">
              <a:solidFill>
                <a:srgbClr val="2D2F38"/>
              </a:solidFill>
              <a:effectLst/>
              <a:uFillTx/>
              <a:latin typeface="Arial"/>
            </a:endParaRPr>
          </a:p>
        </p:txBody>
      </p:sp>
      <p:sp>
        <p:nvSpPr>
          <p:cNvPr id="215" name="Shape 24"/>
          <p:cNvSpPr/>
          <p:nvPr/>
        </p:nvSpPr>
        <p:spPr>
          <a:xfrm>
            <a:off x="4645080" y="1874520"/>
            <a:ext cx="3154320" cy="3401280"/>
          </a:xfrm>
          <a:prstGeom prst="roundRect">
            <a:avLst>
              <a:gd name="adj" fmla="val 3768"/>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16" name="Text 25"/>
          <p:cNvSpPr/>
          <p:nvPr/>
        </p:nvSpPr>
        <p:spPr>
          <a:xfrm>
            <a:off x="4901040" y="2130480"/>
            <a:ext cx="26514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D2F38"/>
                </a:solidFill>
                <a:effectLst/>
                <a:uFillTx/>
                <a:latin typeface="Aptos"/>
                <a:ea typeface="Aptos"/>
              </a:rPr>
              <a:t>Unresolved evidence</a:t>
            </a:r>
            <a:endParaRPr lang="en-US" sz="1800" b="0" u="none" strike="noStrike">
              <a:solidFill>
                <a:srgbClr val="2D2F38"/>
              </a:solidFill>
              <a:effectLst/>
              <a:uFillTx/>
              <a:latin typeface="Arial"/>
            </a:endParaRPr>
          </a:p>
        </p:txBody>
      </p:sp>
      <p:sp>
        <p:nvSpPr>
          <p:cNvPr id="217" name="Shape 26"/>
          <p:cNvSpPr/>
          <p:nvPr/>
        </p:nvSpPr>
        <p:spPr>
          <a:xfrm>
            <a:off x="4928760" y="2688480"/>
            <a:ext cx="1663920" cy="264960"/>
          </a:xfrm>
          <a:prstGeom prst="roundRect">
            <a:avLst>
              <a:gd name="adj" fmla="val 24138"/>
            </a:avLst>
          </a:prstGeom>
          <a:solidFill>
            <a:srgbClr val="F4F6FA"/>
          </a:solidFill>
          <a:ln w="8890">
            <a:solidFill>
              <a:srgbClr val="B9C1D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18" name="Text 27"/>
          <p:cNvSpPr/>
          <p:nvPr/>
        </p:nvSpPr>
        <p:spPr>
          <a:xfrm>
            <a:off x="4992480" y="2706480"/>
            <a:ext cx="15357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626B7B"/>
                </a:solidFill>
                <a:effectLst/>
                <a:uFillTx/>
                <a:latin typeface="Aptos"/>
                <a:ea typeface="Aptos"/>
              </a:rPr>
              <a:t>INSUFFICIENT DATA</a:t>
            </a:r>
            <a:endParaRPr lang="en-US" sz="860" b="0" u="none" strike="noStrike">
              <a:solidFill>
                <a:srgbClr val="2D2F38"/>
              </a:solidFill>
              <a:effectLst/>
              <a:uFillTx/>
              <a:latin typeface="Arial"/>
            </a:endParaRPr>
          </a:p>
        </p:txBody>
      </p:sp>
      <p:sp>
        <p:nvSpPr>
          <p:cNvPr id="219" name="Text 28"/>
          <p:cNvSpPr/>
          <p:nvPr/>
        </p:nvSpPr>
        <p:spPr>
          <a:xfrm>
            <a:off x="4937760" y="3154680"/>
            <a:ext cx="2468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2D2F38"/>
                </a:solidFill>
                <a:effectLst/>
                <a:uFillTx/>
                <a:latin typeface="Aptos"/>
                <a:ea typeface="Aptos"/>
              </a:rPr>
              <a:t>320 kg received</a:t>
            </a:r>
            <a:endParaRPr lang="en-US" sz="1400" b="0" u="none" strike="noStrike">
              <a:solidFill>
                <a:srgbClr val="2D2F38"/>
              </a:solidFill>
              <a:effectLst/>
              <a:uFillTx/>
              <a:latin typeface="Arial"/>
            </a:endParaRPr>
          </a:p>
        </p:txBody>
      </p:sp>
      <p:sp>
        <p:nvSpPr>
          <p:cNvPr id="220" name="Text 29"/>
          <p:cNvSpPr/>
          <p:nvPr/>
        </p:nvSpPr>
        <p:spPr>
          <a:xfrm>
            <a:off x="4937760" y="3557160"/>
            <a:ext cx="2468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20" b="0" u="none" strike="noStrike">
                <a:solidFill>
                  <a:srgbClr val="626B7B"/>
                </a:solidFill>
                <a:effectLst/>
                <a:uFillTx/>
                <a:latin typeface="Aptos"/>
                <a:ea typeface="Aptos"/>
              </a:rPr>
              <a:t>180 kg recorded consumed</a:t>
            </a:r>
            <a:endParaRPr lang="en-US" sz="1220" b="0" u="none" strike="noStrike">
              <a:solidFill>
                <a:srgbClr val="2D2F38"/>
              </a:solidFill>
              <a:effectLst/>
              <a:uFillTx/>
              <a:latin typeface="Arial"/>
            </a:endParaRPr>
          </a:p>
        </p:txBody>
      </p:sp>
      <p:sp>
        <p:nvSpPr>
          <p:cNvPr id="221" name="Text 30"/>
          <p:cNvSpPr/>
          <p:nvPr/>
        </p:nvSpPr>
        <p:spPr>
          <a:xfrm>
            <a:off x="4937760" y="3977640"/>
            <a:ext cx="2468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20" b="0" u="none" strike="noStrike">
                <a:solidFill>
                  <a:srgbClr val="626B7B"/>
                </a:solidFill>
                <a:effectLst/>
                <a:uFillTx/>
                <a:latin typeface="Aptos"/>
                <a:ea typeface="Aptos"/>
              </a:rPr>
              <a:t>6,600 units downstream</a:t>
            </a:r>
            <a:endParaRPr lang="en-US" sz="1220" b="0" u="none" strike="noStrike">
              <a:solidFill>
                <a:srgbClr val="2D2F38"/>
              </a:solidFill>
              <a:effectLst/>
              <a:uFillTx/>
              <a:latin typeface="Arial"/>
            </a:endParaRPr>
          </a:p>
        </p:txBody>
      </p:sp>
      <p:sp>
        <p:nvSpPr>
          <p:cNvPr id="222" name="Text 31"/>
          <p:cNvSpPr/>
          <p:nvPr/>
        </p:nvSpPr>
        <p:spPr>
          <a:xfrm>
            <a:off x="4937760" y="4489560"/>
            <a:ext cx="2505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20" b="0" u="none" strike="noStrike">
                <a:solidFill>
                  <a:srgbClr val="2D3858"/>
                </a:solidFill>
                <a:effectLst/>
                <a:uFillTx/>
                <a:latin typeface="Aptos"/>
                <a:ea typeface="Aptos"/>
              </a:rPr>
              <a:t>No justified kg-to-unit conversion; mismatch stays open.</a:t>
            </a:r>
            <a:endParaRPr lang="en-US" sz="1120" b="0" u="none" strike="noStrike">
              <a:solidFill>
                <a:srgbClr val="2D2F38"/>
              </a:solidFill>
              <a:effectLst/>
              <a:uFillTx/>
              <a:latin typeface="Arial"/>
            </a:endParaRPr>
          </a:p>
        </p:txBody>
      </p:sp>
      <p:sp>
        <p:nvSpPr>
          <p:cNvPr id="223" name="Shape 32"/>
          <p:cNvSpPr/>
          <p:nvPr/>
        </p:nvSpPr>
        <p:spPr>
          <a:xfrm>
            <a:off x="8046720" y="1874520"/>
            <a:ext cx="3492720" cy="3401280"/>
          </a:xfrm>
          <a:prstGeom prst="roundRect">
            <a:avLst>
              <a:gd name="adj" fmla="val 3495"/>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24" name="Text 33"/>
          <p:cNvSpPr/>
          <p:nvPr/>
        </p:nvSpPr>
        <p:spPr>
          <a:xfrm>
            <a:off x="8321040" y="2130480"/>
            <a:ext cx="29257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D2F38"/>
                </a:solidFill>
                <a:effectLst/>
                <a:uFillTx/>
                <a:latin typeface="Aptos"/>
                <a:ea typeface="Aptos"/>
              </a:rPr>
              <a:t>Decision trace</a:t>
            </a:r>
            <a:endParaRPr lang="en-US" sz="1800" b="0" u="none" strike="noStrike">
              <a:solidFill>
                <a:srgbClr val="2D2F38"/>
              </a:solidFill>
              <a:effectLst/>
              <a:uFillTx/>
              <a:latin typeface="Arial"/>
            </a:endParaRPr>
          </a:p>
        </p:txBody>
      </p:sp>
      <p:sp>
        <p:nvSpPr>
          <p:cNvPr id="225" name="Shape 34"/>
          <p:cNvSpPr/>
          <p:nvPr/>
        </p:nvSpPr>
        <p:spPr>
          <a:xfrm>
            <a:off x="8357760" y="2816280"/>
            <a:ext cx="109440" cy="109440"/>
          </a:xfrm>
          <a:prstGeom prst="ellipse">
            <a:avLst/>
          </a:prstGeom>
          <a:solidFill>
            <a:srgbClr val="991B1B"/>
          </a:solidFill>
          <a:ln w="7620">
            <a:solidFill>
              <a:srgbClr val="991B1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226" name="Text 35"/>
          <p:cNvSpPr/>
          <p:nvPr/>
        </p:nvSpPr>
        <p:spPr>
          <a:xfrm>
            <a:off x="8613720" y="2743200"/>
            <a:ext cx="2331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40" b="1" u="none" strike="noStrike">
                <a:solidFill>
                  <a:srgbClr val="2D2F38"/>
                </a:solidFill>
                <a:effectLst/>
                <a:uFillTx/>
                <a:latin typeface="Aptos"/>
                <a:ea typeface="Aptos"/>
              </a:rPr>
              <a:t>FL-1034C</a:t>
            </a:r>
            <a:endParaRPr lang="en-US" sz="1240" b="0" u="none" strike="noStrike">
              <a:solidFill>
                <a:srgbClr val="2D2F38"/>
              </a:solidFill>
              <a:effectLst/>
              <a:uFillTx/>
              <a:latin typeface="Arial"/>
            </a:endParaRPr>
          </a:p>
        </p:txBody>
      </p:sp>
      <p:sp>
        <p:nvSpPr>
          <p:cNvPr id="227" name="Text 36"/>
          <p:cNvSpPr/>
          <p:nvPr/>
        </p:nvSpPr>
        <p:spPr>
          <a:xfrm>
            <a:off x="8613720" y="2999160"/>
            <a:ext cx="2450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626B7B"/>
                </a:solidFill>
                <a:effectLst/>
                <a:uFillTx/>
                <a:latin typeface="Aptos"/>
                <a:ea typeface="Aptos"/>
              </a:rPr>
              <a:t>excluded after false-positive rejection</a:t>
            </a:r>
            <a:endParaRPr lang="en-US" sz="1030" b="0" u="none" strike="noStrike">
              <a:solidFill>
                <a:srgbClr val="2D2F38"/>
              </a:solidFill>
              <a:effectLst/>
              <a:uFillTx/>
              <a:latin typeface="Arial"/>
            </a:endParaRPr>
          </a:p>
        </p:txBody>
      </p:sp>
      <p:sp>
        <p:nvSpPr>
          <p:cNvPr id="228" name="Shape 37"/>
          <p:cNvSpPr/>
          <p:nvPr/>
        </p:nvSpPr>
        <p:spPr>
          <a:xfrm>
            <a:off x="8357760" y="3566160"/>
            <a:ext cx="109440" cy="10944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229" name="Text 38"/>
          <p:cNvSpPr/>
          <p:nvPr/>
        </p:nvSpPr>
        <p:spPr>
          <a:xfrm>
            <a:off x="8613720" y="3493080"/>
            <a:ext cx="2331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40" b="1" u="none" strike="noStrike">
                <a:solidFill>
                  <a:srgbClr val="2D2F38"/>
                </a:solidFill>
                <a:effectLst/>
                <a:uFillTx/>
                <a:latin typeface="Aptos"/>
                <a:ea typeface="Aptos"/>
              </a:rPr>
              <a:t>RM-O873</a:t>
            </a:r>
            <a:endParaRPr lang="en-US" sz="1240" b="0" u="none" strike="noStrike">
              <a:solidFill>
                <a:srgbClr val="2D2F38"/>
              </a:solidFill>
              <a:effectLst/>
              <a:uFillTx/>
              <a:latin typeface="Arial"/>
            </a:endParaRPr>
          </a:p>
        </p:txBody>
      </p:sp>
      <p:sp>
        <p:nvSpPr>
          <p:cNvPr id="230" name="Text 39"/>
          <p:cNvSpPr/>
          <p:nvPr/>
        </p:nvSpPr>
        <p:spPr>
          <a:xfrm>
            <a:off x="8613720" y="3749040"/>
            <a:ext cx="2450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626B7B"/>
                </a:solidFill>
                <a:effectLst/>
                <a:uFillTx/>
                <a:latin typeface="Aptos"/>
                <a:ea typeface="Aptos"/>
              </a:rPr>
              <a:t>ambiguous alias deferred</a:t>
            </a:r>
            <a:endParaRPr lang="en-US" sz="1030" b="0" u="none" strike="noStrike">
              <a:solidFill>
                <a:srgbClr val="2D2F38"/>
              </a:solidFill>
              <a:effectLst/>
              <a:uFillTx/>
              <a:latin typeface="Arial"/>
            </a:endParaRPr>
          </a:p>
        </p:txBody>
      </p:sp>
      <p:sp>
        <p:nvSpPr>
          <p:cNvPr id="231" name="Shape 40"/>
          <p:cNvSpPr/>
          <p:nvPr/>
        </p:nvSpPr>
        <p:spPr>
          <a:xfrm>
            <a:off x="8357760" y="4316040"/>
            <a:ext cx="109440" cy="10944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232" name="Text 41"/>
          <p:cNvSpPr/>
          <p:nvPr/>
        </p:nvSpPr>
        <p:spPr>
          <a:xfrm>
            <a:off x="8613720" y="4242960"/>
            <a:ext cx="2331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40" b="1" u="none" strike="noStrike">
                <a:solidFill>
                  <a:srgbClr val="2D2F38"/>
                </a:solidFill>
                <a:effectLst/>
                <a:uFillTx/>
                <a:latin typeface="Aptos"/>
                <a:ea typeface="Aptos"/>
              </a:rPr>
              <a:t>3 findings</a:t>
            </a:r>
            <a:endParaRPr lang="en-US" sz="1240" b="0" u="none" strike="noStrike">
              <a:solidFill>
                <a:srgbClr val="2D2F38"/>
              </a:solidFill>
              <a:effectLst/>
              <a:uFillTx/>
              <a:latin typeface="Arial"/>
            </a:endParaRPr>
          </a:p>
        </p:txBody>
      </p:sp>
      <p:sp>
        <p:nvSpPr>
          <p:cNvPr id="233" name="Text 42"/>
          <p:cNvSpPr/>
          <p:nvPr/>
        </p:nvSpPr>
        <p:spPr>
          <a:xfrm>
            <a:off x="8613720" y="4498920"/>
            <a:ext cx="24501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626B7B"/>
                </a:solidFill>
                <a:effectLst/>
                <a:uFillTx/>
                <a:latin typeface="Aptos"/>
                <a:ea typeface="Aptos"/>
              </a:rPr>
              <a:t>quantity mismatch, ambiguous ID, unreviewed claims</a:t>
            </a:r>
            <a:endParaRPr lang="en-US" sz="1030" b="0" u="none" strike="noStrike">
              <a:solidFill>
                <a:srgbClr val="2D2F38"/>
              </a:solidFill>
              <a:effectLst/>
              <a:uFillTx/>
              <a:latin typeface="Arial"/>
            </a:endParaRPr>
          </a:p>
        </p:txBody>
      </p:sp>
      <p:sp>
        <p:nvSpPr>
          <p:cNvPr id="234" name="Text 43"/>
          <p:cNvSpPr/>
          <p:nvPr/>
        </p:nvSpPr>
        <p:spPr>
          <a:xfrm>
            <a:off x="850320" y="5650920"/>
            <a:ext cx="1044216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40" b="1" u="none" strike="noStrike">
                <a:solidFill>
                  <a:srgbClr val="39466C"/>
                </a:solidFill>
                <a:effectLst/>
                <a:uFillTx/>
                <a:latin typeface="Aptos"/>
                <a:ea typeface="Aptos"/>
              </a:rPr>
              <a:t>Possible scope was empty in the final snapshot; ambiguity remains disclosed in findings.</a:t>
            </a:r>
            <a:endParaRPr lang="en-US" sz="1340" b="0" u="none" strike="noStrike">
              <a:solidFill>
                <a:srgbClr val="2D2F38"/>
              </a:solidFill>
              <a:effectLst/>
              <a:uFillTx/>
              <a:latin typeface="Arial"/>
            </a:endParaRPr>
          </a:p>
        </p:txBody>
      </p:sp>
      <p:sp>
        <p:nvSpPr>
          <p:cNvPr id="235" name="PlaceHolder 1"/>
          <p:cNvSpPr>
            <a:spLocks noGrp="1"/>
          </p:cNvSpPr>
          <p:nvPr>
            <p:ph type="sldNum" idx="9"/>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8D05EF7A-7C13-4F1B-A173-41A487E19727}" type="slidenum">
              <a:rPr lang="en-US" sz="700" b="0" u="none" strike="noStrike">
                <a:solidFill>
                  <a:srgbClr val="626B7B"/>
                </a:solidFill>
                <a:effectLst/>
                <a:uFillTx/>
                <a:latin typeface="Aptos"/>
                <a:ea typeface="Aptos"/>
              </a:rPr>
              <a:t>6</a:t>
            </a:fld>
            <a:endParaRPr lang="en-US" sz="700" b="0" u="none" strike="noStrike">
              <a:solidFill>
                <a:srgbClr val="2D2F38"/>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06 / WHY THIS APPROACH</a:t>
            </a:r>
            <a:endParaRPr lang="en-US" sz="900" b="0" u="none" strike="noStrike">
              <a:solidFill>
                <a:srgbClr val="2D2F38"/>
              </a:solidFill>
              <a:effectLst/>
              <a:uFillTx/>
              <a:latin typeface="Arial"/>
            </a:endParaRPr>
          </a:p>
        </p:txBody>
      </p:sp>
      <p:sp>
        <p:nvSpPr>
          <p:cNvPr id="237"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A reviewable evidence layer-not an autonomous recall decision</a:t>
            </a:r>
            <a:endParaRPr lang="en-US" sz="2600" b="0" u="none" strike="noStrike">
              <a:solidFill>
                <a:srgbClr val="2D2F38"/>
              </a:solidFill>
              <a:effectLst/>
              <a:uFillTx/>
              <a:latin typeface="Arial"/>
            </a:endParaRPr>
          </a:p>
        </p:txBody>
      </p:sp>
      <p:sp>
        <p:nvSpPr>
          <p:cNvPr id="238"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The intended advantage is preserving ambiguity and provenance across the investigation.</a:t>
            </a:r>
            <a:endParaRPr lang="en-US" sz="1250" b="0" u="none" strike="noStrike">
              <a:solidFill>
                <a:srgbClr val="2D2F38"/>
              </a:solidFill>
              <a:effectLst/>
              <a:uFillTx/>
              <a:latin typeface="Arial"/>
            </a:endParaRPr>
          </a:p>
        </p:txBody>
      </p:sp>
      <p:sp>
        <p:nvSpPr>
          <p:cNvPr id="239" name="Shape 3"/>
          <p:cNvSpPr/>
          <p:nvPr/>
        </p:nvSpPr>
        <p:spPr>
          <a:xfrm>
            <a:off x="685800" y="1828800"/>
            <a:ext cx="5239080" cy="438480"/>
          </a:xfrm>
          <a:prstGeom prst="roundRect">
            <a:avLst>
              <a:gd name="adj" fmla="val 20833"/>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40" name="Shape 4"/>
          <p:cNvSpPr/>
          <p:nvPr/>
        </p:nvSpPr>
        <p:spPr>
          <a:xfrm>
            <a:off x="685800" y="1828800"/>
            <a:ext cx="54360" cy="438480"/>
          </a:xfrm>
          <a:prstGeom prst="rect">
            <a:avLst/>
          </a:prstGeom>
          <a:solidFill>
            <a:srgbClr val="39466C"/>
          </a:solidFill>
          <a:ln w="12700">
            <a:solidFill>
              <a:srgbClr val="3946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1" name="Text 5"/>
          <p:cNvSpPr/>
          <p:nvPr/>
        </p:nvSpPr>
        <p:spPr>
          <a:xfrm>
            <a:off x="850320" y="1874520"/>
            <a:ext cx="4983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2D2F38"/>
                </a:solidFill>
                <a:effectLst/>
                <a:uFillTx/>
                <a:latin typeface="Aptos"/>
                <a:ea typeface="Aptos"/>
              </a:rPr>
              <a:t>What is demonstrated in code</a:t>
            </a:r>
            <a:endParaRPr lang="en-US" sz="1350" b="0" u="none" strike="noStrike">
              <a:solidFill>
                <a:srgbClr val="2D2F38"/>
              </a:solidFill>
              <a:effectLst/>
              <a:uFillTx/>
              <a:latin typeface="Arial"/>
            </a:endParaRPr>
          </a:p>
        </p:txBody>
      </p:sp>
      <p:sp>
        <p:nvSpPr>
          <p:cNvPr id="242" name="Shape 6"/>
          <p:cNvSpPr/>
          <p:nvPr/>
        </p:nvSpPr>
        <p:spPr>
          <a:xfrm>
            <a:off x="905400" y="251460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43" name="Text 7"/>
          <p:cNvSpPr/>
          <p:nvPr/>
        </p:nvSpPr>
        <p:spPr>
          <a:xfrm>
            <a:off x="1060560" y="242316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Local Llama can produce candidate facts from supported text records.</a:t>
            </a:r>
            <a:endParaRPr lang="en-US" sz="1150" b="0" u="none" strike="noStrike">
              <a:solidFill>
                <a:srgbClr val="2D2F38"/>
              </a:solidFill>
              <a:effectLst/>
              <a:uFillTx/>
              <a:latin typeface="Arial"/>
            </a:endParaRPr>
          </a:p>
        </p:txBody>
      </p:sp>
      <p:sp>
        <p:nvSpPr>
          <p:cNvPr id="244" name="Shape 8"/>
          <p:cNvSpPr/>
          <p:nvPr/>
        </p:nvSpPr>
        <p:spPr>
          <a:xfrm>
            <a:off x="905400" y="299916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45" name="Text 9"/>
          <p:cNvSpPr/>
          <p:nvPr/>
        </p:nvSpPr>
        <p:spPr>
          <a:xfrm>
            <a:off x="1060560" y="290772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Quotes are checked against cited source lines; unverifiable identifier matches are flagged.</a:t>
            </a:r>
            <a:endParaRPr lang="en-US" sz="1150" b="0" u="none" strike="noStrike">
              <a:solidFill>
                <a:srgbClr val="2D2F38"/>
              </a:solidFill>
              <a:effectLst/>
              <a:uFillTx/>
              <a:latin typeface="Arial"/>
            </a:endParaRPr>
          </a:p>
        </p:txBody>
      </p:sp>
      <p:sp>
        <p:nvSpPr>
          <p:cNvPr id="246" name="Shape 10"/>
          <p:cNvSpPr/>
          <p:nvPr/>
        </p:nvSpPr>
        <p:spPr>
          <a:xfrm>
            <a:off x="905400" y="348372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47" name="Text 11"/>
          <p:cNvSpPr/>
          <p:nvPr/>
        </p:nvSpPr>
        <p:spPr>
          <a:xfrm>
            <a:off x="1060560" y="339228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Relationships require explicit human decisions.</a:t>
            </a:r>
            <a:endParaRPr lang="en-US" sz="1150" b="0" u="none" strike="noStrike">
              <a:solidFill>
                <a:srgbClr val="2D2F38"/>
              </a:solidFill>
              <a:effectLst/>
              <a:uFillTx/>
              <a:latin typeface="Arial"/>
            </a:endParaRPr>
          </a:p>
        </p:txBody>
      </p:sp>
      <p:sp>
        <p:nvSpPr>
          <p:cNvPr id="248" name="Shape 12"/>
          <p:cNvSpPr/>
          <p:nvPr/>
        </p:nvSpPr>
        <p:spPr>
          <a:xfrm>
            <a:off x="905400" y="396864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49" name="Text 13"/>
          <p:cNvSpPr/>
          <p:nvPr/>
        </p:nvSpPr>
        <p:spPr>
          <a:xfrm>
            <a:off x="1060560" y="387720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Rejected/edited supporting claims can demote dependent links.</a:t>
            </a:r>
            <a:endParaRPr lang="en-US" sz="1150" b="0" u="none" strike="noStrike">
              <a:solidFill>
                <a:srgbClr val="2D2F38"/>
              </a:solidFill>
              <a:effectLst/>
              <a:uFillTx/>
              <a:latin typeface="Arial"/>
            </a:endParaRPr>
          </a:p>
        </p:txBody>
      </p:sp>
      <p:sp>
        <p:nvSpPr>
          <p:cNvPr id="250" name="Shape 14"/>
          <p:cNvSpPr/>
          <p:nvPr/>
        </p:nvSpPr>
        <p:spPr>
          <a:xfrm>
            <a:off x="905400" y="4453200"/>
            <a:ext cx="63720" cy="63720"/>
          </a:xfrm>
          <a:prstGeom prst="ellipse">
            <a:avLst/>
          </a:prstGeom>
          <a:solidFill>
            <a:srgbClr val="39466C"/>
          </a:solidFill>
          <a:ln w="7620">
            <a:solidFill>
              <a:srgbClr val="39466C"/>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51" name="Text 15"/>
          <p:cNvSpPr/>
          <p:nvPr/>
        </p:nvSpPr>
        <p:spPr>
          <a:xfrm>
            <a:off x="1060560" y="436176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Trace traversal and snapshots are deterministic.</a:t>
            </a:r>
            <a:endParaRPr lang="en-US" sz="1150" b="0" u="none" strike="noStrike">
              <a:solidFill>
                <a:srgbClr val="2D2F38"/>
              </a:solidFill>
              <a:effectLst/>
              <a:uFillTx/>
              <a:latin typeface="Arial"/>
            </a:endParaRPr>
          </a:p>
        </p:txBody>
      </p:sp>
      <p:sp>
        <p:nvSpPr>
          <p:cNvPr id="252" name="Shape 16"/>
          <p:cNvSpPr/>
          <p:nvPr/>
        </p:nvSpPr>
        <p:spPr>
          <a:xfrm>
            <a:off x="6236280" y="1828800"/>
            <a:ext cx="5239080" cy="438480"/>
          </a:xfrm>
          <a:prstGeom prst="roundRect">
            <a:avLst>
              <a:gd name="adj" fmla="val 20833"/>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53" name="Shape 17"/>
          <p:cNvSpPr/>
          <p:nvPr/>
        </p:nvSpPr>
        <p:spPr>
          <a:xfrm>
            <a:off x="6236280" y="1828800"/>
            <a:ext cx="54360" cy="438480"/>
          </a:xfrm>
          <a:prstGeom prst="rect">
            <a:avLst/>
          </a:prstGeom>
          <a:solidFill>
            <a:srgbClr val="2D3858"/>
          </a:solidFill>
          <a:ln w="12700">
            <a:solidFill>
              <a:srgbClr val="2D38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4" name="Text 18"/>
          <p:cNvSpPr/>
          <p:nvPr/>
        </p:nvSpPr>
        <p:spPr>
          <a:xfrm>
            <a:off x="6400800" y="1874520"/>
            <a:ext cx="49831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2D2F38"/>
                </a:solidFill>
                <a:effectLst/>
                <a:uFillTx/>
                <a:latin typeface="Aptos"/>
                <a:ea typeface="Aptos"/>
              </a:rPr>
              <a:t>What is still a hypothesis or limitation</a:t>
            </a:r>
            <a:endParaRPr lang="en-US" sz="1350" b="0" u="none" strike="noStrike">
              <a:solidFill>
                <a:srgbClr val="2D2F38"/>
              </a:solidFill>
              <a:effectLst/>
              <a:uFillTx/>
              <a:latin typeface="Arial"/>
            </a:endParaRPr>
          </a:p>
        </p:txBody>
      </p:sp>
      <p:sp>
        <p:nvSpPr>
          <p:cNvPr id="255" name="Shape 19"/>
          <p:cNvSpPr/>
          <p:nvPr/>
        </p:nvSpPr>
        <p:spPr>
          <a:xfrm>
            <a:off x="6455520" y="251460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56" name="Text 20"/>
          <p:cNvSpPr/>
          <p:nvPr/>
        </p:nvSpPr>
        <p:spPr>
          <a:xfrm>
            <a:off x="6611040" y="242316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Faster than manual reconstruction - not measured.</a:t>
            </a:r>
            <a:endParaRPr lang="en-US" sz="1150" b="0" u="none" strike="noStrike">
              <a:solidFill>
                <a:srgbClr val="2D2F38"/>
              </a:solidFill>
              <a:effectLst/>
              <a:uFillTx/>
              <a:latin typeface="Arial"/>
            </a:endParaRPr>
          </a:p>
        </p:txBody>
      </p:sp>
      <p:sp>
        <p:nvSpPr>
          <p:cNvPr id="257" name="Shape 21"/>
          <p:cNvSpPr/>
          <p:nvPr/>
        </p:nvSpPr>
        <p:spPr>
          <a:xfrm>
            <a:off x="6455520" y="299916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58" name="Text 22"/>
          <p:cNvSpPr/>
          <p:nvPr/>
        </p:nvSpPr>
        <p:spPr>
          <a:xfrm>
            <a:off x="6611040" y="290772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Better than existing traceability software - not validated.</a:t>
            </a:r>
            <a:endParaRPr lang="en-US" sz="1150" b="0" u="none" strike="noStrike">
              <a:solidFill>
                <a:srgbClr val="2D2F38"/>
              </a:solidFill>
              <a:effectLst/>
              <a:uFillTx/>
              <a:latin typeface="Arial"/>
            </a:endParaRPr>
          </a:p>
        </p:txBody>
      </p:sp>
      <p:sp>
        <p:nvSpPr>
          <p:cNvPr id="259" name="Shape 23"/>
          <p:cNvSpPr/>
          <p:nvPr/>
        </p:nvSpPr>
        <p:spPr>
          <a:xfrm>
            <a:off x="6455520" y="348372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60" name="Text 24"/>
          <p:cNvSpPr/>
          <p:nvPr/>
        </p:nvSpPr>
        <p:spPr>
          <a:xfrm>
            <a:off x="6611040" y="339228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Robust on real business documents - not yet tested.</a:t>
            </a:r>
            <a:endParaRPr lang="en-US" sz="1150" b="0" u="none" strike="noStrike">
              <a:solidFill>
                <a:srgbClr val="2D2F38"/>
              </a:solidFill>
              <a:effectLst/>
              <a:uFillTx/>
              <a:latin typeface="Arial"/>
            </a:endParaRPr>
          </a:p>
        </p:txBody>
      </p:sp>
      <p:sp>
        <p:nvSpPr>
          <p:cNvPr id="261" name="Shape 25"/>
          <p:cNvSpPr/>
          <p:nvPr/>
        </p:nvSpPr>
        <p:spPr>
          <a:xfrm>
            <a:off x="6455520" y="396864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62" name="Text 26"/>
          <p:cNvSpPr/>
          <p:nvPr/>
        </p:nvSpPr>
        <p:spPr>
          <a:xfrm>
            <a:off x="6611040" y="387720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ERP integrations - not implemented.</a:t>
            </a:r>
            <a:endParaRPr lang="en-US" sz="1150" b="0" u="none" strike="noStrike">
              <a:solidFill>
                <a:srgbClr val="2D2F38"/>
              </a:solidFill>
              <a:effectLst/>
              <a:uFillTx/>
              <a:latin typeface="Arial"/>
            </a:endParaRPr>
          </a:p>
        </p:txBody>
      </p:sp>
      <p:sp>
        <p:nvSpPr>
          <p:cNvPr id="263" name="Shape 27"/>
          <p:cNvSpPr/>
          <p:nvPr/>
        </p:nvSpPr>
        <p:spPr>
          <a:xfrm>
            <a:off x="6455520" y="445320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64" name="Text 28"/>
          <p:cNvSpPr/>
          <p:nvPr/>
        </p:nvSpPr>
        <p:spPr>
          <a:xfrm>
            <a:off x="6611040" y="4361760"/>
            <a:ext cx="4672080" cy="46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50" b="0" u="none" strike="noStrike">
                <a:solidFill>
                  <a:srgbClr val="626B7B"/>
                </a:solidFill>
                <a:effectLst/>
                <a:uFillTx/>
                <a:latin typeface="Aptos"/>
                <a:ea typeface="Aptos"/>
              </a:rPr>
              <a:t>Quote-verbatim does not prove the extracted value is semantically correct.</a:t>
            </a:r>
            <a:endParaRPr lang="en-US" sz="1150" b="0" u="none" strike="noStrike">
              <a:solidFill>
                <a:srgbClr val="2D2F38"/>
              </a:solidFill>
              <a:effectLst/>
              <a:uFillTx/>
              <a:latin typeface="Arial"/>
            </a:endParaRPr>
          </a:p>
        </p:txBody>
      </p:sp>
      <p:sp>
        <p:nvSpPr>
          <p:cNvPr id="265" name="Shape 29"/>
          <p:cNvSpPr/>
          <p:nvPr/>
        </p:nvSpPr>
        <p:spPr>
          <a:xfrm>
            <a:off x="1234440" y="5413320"/>
            <a:ext cx="9719640" cy="502560"/>
          </a:xfrm>
          <a:prstGeom prst="roundRect">
            <a:avLst>
              <a:gd name="adj" fmla="val 18182"/>
            </a:avLst>
          </a:prstGeom>
          <a:solidFill>
            <a:srgbClr val="F4F6FA"/>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66" name="Text 30"/>
          <p:cNvSpPr/>
          <p:nvPr/>
        </p:nvSpPr>
        <p:spPr>
          <a:xfrm>
            <a:off x="1417320" y="5513760"/>
            <a:ext cx="935388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10" b="1" u="none" strike="noStrike">
                <a:solidFill>
                  <a:srgbClr val="2D2F38"/>
                </a:solidFill>
                <a:effectLst/>
                <a:uFillTx/>
                <a:latin typeface="Aptos"/>
                <a:ea typeface="Aptos"/>
              </a:rPr>
              <a:t>Human-owned food-safety decisions · explicit uncertainty · auditable review</a:t>
            </a:r>
            <a:endParaRPr lang="en-US" sz="1310" b="0" u="none" strike="noStrike">
              <a:solidFill>
                <a:srgbClr val="2D2F38"/>
              </a:solidFill>
              <a:effectLst/>
              <a:uFillTx/>
              <a:latin typeface="Arial"/>
            </a:endParaRPr>
          </a:p>
        </p:txBody>
      </p:sp>
      <p:sp>
        <p:nvSpPr>
          <p:cNvPr id="267" name="PlaceHolder 1"/>
          <p:cNvSpPr>
            <a:spLocks noGrp="1"/>
          </p:cNvSpPr>
          <p:nvPr>
            <p:ph type="sldNum" idx="10"/>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391379F0-0FB6-4E6E-9755-1454A6484A66}" type="slidenum">
              <a:rPr lang="en-US" sz="700" b="0" u="none" strike="noStrike">
                <a:solidFill>
                  <a:srgbClr val="626B7B"/>
                </a:solidFill>
                <a:effectLst/>
                <a:uFillTx/>
                <a:latin typeface="Aptos"/>
                <a:ea typeface="Aptos"/>
              </a:rPr>
              <a:t>7</a:t>
            </a:fld>
            <a:endParaRPr lang="en-US" sz="700" b="0" u="none" strike="noStrike">
              <a:solidFill>
                <a:srgbClr val="2D2F38"/>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07 / WHAT THE BENCHMARK SAYS</a:t>
            </a:r>
            <a:endParaRPr lang="en-US" sz="900" b="0" u="none" strike="noStrike">
              <a:solidFill>
                <a:srgbClr val="2D2F38"/>
              </a:solidFill>
              <a:effectLst/>
              <a:uFillTx/>
              <a:latin typeface="Arial"/>
            </a:endParaRPr>
          </a:p>
        </p:txBody>
      </p:sp>
      <p:sp>
        <p:nvSpPr>
          <p:cNvPr id="269"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Observed results-without pretending this is an accuracy study</a:t>
            </a:r>
            <a:endParaRPr lang="en-US" sz="2600" b="0" u="none" strike="noStrike">
              <a:solidFill>
                <a:srgbClr val="2D2F38"/>
              </a:solidFill>
              <a:effectLst/>
              <a:uFillTx/>
              <a:latin typeface="Arial"/>
            </a:endParaRPr>
          </a:p>
        </p:txBody>
      </p:sp>
      <p:sp>
        <p:nvSpPr>
          <p:cNvPr id="270"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Run 3 · isolated pilot data root · local llama3.2:3b · one authored fictional scenario</a:t>
            </a:r>
            <a:endParaRPr lang="en-US" sz="1250" b="0" u="none" strike="noStrike">
              <a:solidFill>
                <a:srgbClr val="2D2F38"/>
              </a:solidFill>
              <a:effectLst/>
              <a:uFillTx/>
              <a:latin typeface="Arial"/>
            </a:endParaRPr>
          </a:p>
        </p:txBody>
      </p:sp>
      <p:sp>
        <p:nvSpPr>
          <p:cNvPr id="271" name="Shape 3"/>
          <p:cNvSpPr/>
          <p:nvPr/>
        </p:nvSpPr>
        <p:spPr>
          <a:xfrm>
            <a:off x="640080" y="1847160"/>
            <a:ext cx="2578320" cy="1078560"/>
          </a:xfrm>
          <a:prstGeom prst="roundRect">
            <a:avLst>
              <a:gd name="adj" fmla="val 1016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72" name="Text 4"/>
          <p:cNvSpPr/>
          <p:nvPr/>
        </p:nvSpPr>
        <p:spPr>
          <a:xfrm>
            <a:off x="786240" y="20300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39466C"/>
                </a:solidFill>
                <a:effectLst/>
                <a:uFillTx/>
                <a:latin typeface="Aptos"/>
                <a:ea typeface="Aptos"/>
              </a:rPr>
              <a:t>53.1 s</a:t>
            </a:r>
            <a:endParaRPr lang="en-US" sz="2300" b="0" u="none" strike="noStrike">
              <a:solidFill>
                <a:srgbClr val="2D2F38"/>
              </a:solidFill>
              <a:effectLst/>
              <a:uFillTx/>
              <a:latin typeface="Arial"/>
            </a:endParaRPr>
          </a:p>
        </p:txBody>
      </p:sp>
      <p:sp>
        <p:nvSpPr>
          <p:cNvPr id="273" name="Text 5"/>
          <p:cNvSpPr/>
          <p:nvPr/>
        </p:nvSpPr>
        <p:spPr>
          <a:xfrm>
            <a:off x="749880" y="2532960"/>
            <a:ext cx="23587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70" b="0" u="none" strike="noStrike">
                <a:solidFill>
                  <a:srgbClr val="626B7B"/>
                </a:solidFill>
                <a:effectLst/>
                <a:uFillTx/>
                <a:latin typeface="Aptos"/>
                <a:ea typeface="Aptos"/>
              </a:rPr>
              <a:t>7-document extraction</a:t>
            </a:r>
            <a:endParaRPr lang="en-US" sz="970" b="0" u="none" strike="noStrike">
              <a:solidFill>
                <a:srgbClr val="2D2F38"/>
              </a:solidFill>
              <a:effectLst/>
              <a:uFillTx/>
              <a:latin typeface="Arial"/>
            </a:endParaRPr>
          </a:p>
        </p:txBody>
      </p:sp>
      <p:sp>
        <p:nvSpPr>
          <p:cNvPr id="274" name="Shape 6"/>
          <p:cNvSpPr/>
          <p:nvPr/>
        </p:nvSpPr>
        <p:spPr>
          <a:xfrm>
            <a:off x="3520440" y="1847160"/>
            <a:ext cx="2578320" cy="1078560"/>
          </a:xfrm>
          <a:prstGeom prst="roundRect">
            <a:avLst>
              <a:gd name="adj" fmla="val 1016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75" name="Text 7"/>
          <p:cNvSpPr/>
          <p:nvPr/>
        </p:nvSpPr>
        <p:spPr>
          <a:xfrm>
            <a:off x="3666600" y="20300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39466C"/>
                </a:solidFill>
                <a:effectLst/>
                <a:uFillTx/>
                <a:latin typeface="Aptos"/>
                <a:ea typeface="Aptos"/>
              </a:rPr>
              <a:t>8 / 13</a:t>
            </a:r>
            <a:endParaRPr lang="en-US" sz="2300" b="0" u="none" strike="noStrike">
              <a:solidFill>
                <a:srgbClr val="2D2F38"/>
              </a:solidFill>
              <a:effectLst/>
              <a:uFillTx/>
              <a:latin typeface="Arial"/>
            </a:endParaRPr>
          </a:p>
        </p:txBody>
      </p:sp>
      <p:sp>
        <p:nvSpPr>
          <p:cNvPr id="276" name="Text 8"/>
          <p:cNvSpPr/>
          <p:nvPr/>
        </p:nvSpPr>
        <p:spPr>
          <a:xfrm>
            <a:off x="3630240" y="2532960"/>
            <a:ext cx="23587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70" b="0" u="none" strike="noStrike">
                <a:solidFill>
                  <a:srgbClr val="626B7B"/>
                </a:solidFill>
                <a:effectLst/>
                <a:uFillTx/>
                <a:latin typeface="Aptos"/>
                <a:ea typeface="Aptos"/>
              </a:rPr>
              <a:t>verbatim quote at cited line</a:t>
            </a:r>
            <a:endParaRPr lang="en-US" sz="970" b="0" u="none" strike="noStrike">
              <a:solidFill>
                <a:srgbClr val="2D2F38"/>
              </a:solidFill>
              <a:effectLst/>
              <a:uFillTx/>
              <a:latin typeface="Arial"/>
            </a:endParaRPr>
          </a:p>
        </p:txBody>
      </p:sp>
      <p:sp>
        <p:nvSpPr>
          <p:cNvPr id="277" name="Shape 9"/>
          <p:cNvSpPr/>
          <p:nvPr/>
        </p:nvSpPr>
        <p:spPr>
          <a:xfrm>
            <a:off x="6400800" y="1847160"/>
            <a:ext cx="2578320" cy="1078560"/>
          </a:xfrm>
          <a:prstGeom prst="roundRect">
            <a:avLst>
              <a:gd name="adj" fmla="val 1016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78" name="Text 10"/>
          <p:cNvSpPr/>
          <p:nvPr/>
        </p:nvSpPr>
        <p:spPr>
          <a:xfrm>
            <a:off x="6546960" y="20300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2D3858"/>
                </a:solidFill>
                <a:effectLst/>
                <a:uFillTx/>
                <a:latin typeface="Aptos"/>
                <a:ea typeface="Aptos"/>
              </a:rPr>
              <a:t>5 / 13</a:t>
            </a:r>
            <a:endParaRPr lang="en-US" sz="2300" b="0" u="none" strike="noStrike">
              <a:solidFill>
                <a:srgbClr val="2D2F38"/>
              </a:solidFill>
              <a:effectLst/>
              <a:uFillTx/>
              <a:latin typeface="Arial"/>
            </a:endParaRPr>
          </a:p>
        </p:txBody>
      </p:sp>
      <p:sp>
        <p:nvSpPr>
          <p:cNvPr id="279" name="Text 11"/>
          <p:cNvSpPr/>
          <p:nvPr/>
        </p:nvSpPr>
        <p:spPr>
          <a:xfrm>
            <a:off x="6510600" y="2532960"/>
            <a:ext cx="23587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70" b="0" u="none" strike="noStrike">
                <a:solidFill>
                  <a:srgbClr val="626B7B"/>
                </a:solidFill>
                <a:effectLst/>
                <a:uFillTx/>
                <a:latin typeface="Aptos"/>
                <a:ea typeface="Aptos"/>
              </a:rPr>
              <a:t>identifier-only; flagged</a:t>
            </a:r>
            <a:endParaRPr lang="en-US" sz="970" b="0" u="none" strike="noStrike">
              <a:solidFill>
                <a:srgbClr val="2D2F38"/>
              </a:solidFill>
              <a:effectLst/>
              <a:uFillTx/>
              <a:latin typeface="Arial"/>
            </a:endParaRPr>
          </a:p>
        </p:txBody>
      </p:sp>
      <p:sp>
        <p:nvSpPr>
          <p:cNvPr id="280" name="Shape 12"/>
          <p:cNvSpPr/>
          <p:nvPr/>
        </p:nvSpPr>
        <p:spPr>
          <a:xfrm>
            <a:off x="9281160" y="1847160"/>
            <a:ext cx="2578320" cy="1078560"/>
          </a:xfrm>
          <a:prstGeom prst="roundRect">
            <a:avLst>
              <a:gd name="adj" fmla="val 10169"/>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81" name="Text 13"/>
          <p:cNvSpPr/>
          <p:nvPr/>
        </p:nvSpPr>
        <p:spPr>
          <a:xfrm>
            <a:off x="9427320" y="20300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300" b="1" u="none" strike="noStrike">
                <a:solidFill>
                  <a:srgbClr val="39466C"/>
                </a:solidFill>
                <a:effectLst/>
                <a:uFillTx/>
                <a:latin typeface="Aptos"/>
                <a:ea typeface="Aptos"/>
              </a:rPr>
              <a:t>8 proposals</a:t>
            </a:r>
            <a:endParaRPr lang="en-US" sz="2300" b="0" u="none" strike="noStrike">
              <a:solidFill>
                <a:srgbClr val="2D2F38"/>
              </a:solidFill>
              <a:effectLst/>
              <a:uFillTx/>
              <a:latin typeface="Arial"/>
            </a:endParaRPr>
          </a:p>
        </p:txBody>
      </p:sp>
      <p:sp>
        <p:nvSpPr>
          <p:cNvPr id="282" name="Text 14"/>
          <p:cNvSpPr/>
          <p:nvPr/>
        </p:nvSpPr>
        <p:spPr>
          <a:xfrm>
            <a:off x="9390960" y="2532960"/>
            <a:ext cx="23587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70" b="0" u="none" strike="noStrike">
                <a:solidFill>
                  <a:srgbClr val="626B7B"/>
                </a:solidFill>
                <a:effectLst/>
                <a:uFillTx/>
                <a:latin typeface="Aptos"/>
                <a:ea typeface="Aptos"/>
              </a:rPr>
              <a:t>7 confirmed · 1 rejected</a:t>
            </a:r>
            <a:endParaRPr lang="en-US" sz="970" b="0" u="none" strike="noStrike">
              <a:solidFill>
                <a:srgbClr val="2D2F38"/>
              </a:solidFill>
              <a:effectLst/>
              <a:uFillTx/>
              <a:latin typeface="Arial"/>
            </a:endParaRPr>
          </a:p>
        </p:txBody>
      </p:sp>
      <p:sp>
        <p:nvSpPr>
          <p:cNvPr id="283" name="Shape 15"/>
          <p:cNvSpPr/>
          <p:nvPr/>
        </p:nvSpPr>
        <p:spPr>
          <a:xfrm>
            <a:off x="658440" y="3310200"/>
            <a:ext cx="5394600" cy="1938240"/>
          </a:xfrm>
          <a:prstGeom prst="roundRect">
            <a:avLst>
              <a:gd name="adj" fmla="val 5660"/>
            </a:avLst>
          </a:prstGeom>
          <a:solidFill>
            <a:srgbClr val="DCFCE7"/>
          </a:solidFill>
          <a:ln w="10160">
            <a:solidFill>
              <a:srgbClr val="86EFA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84" name="Text 16"/>
          <p:cNvSpPr/>
          <p:nvPr/>
        </p:nvSpPr>
        <p:spPr>
          <a:xfrm>
            <a:off x="914400" y="3547800"/>
            <a:ext cx="4772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6534"/>
                </a:solidFill>
                <a:effectLst/>
                <a:uFillTx/>
                <a:latin typeface="Aptos"/>
                <a:ea typeface="Aptos"/>
              </a:rPr>
              <a:t>Outcome observed</a:t>
            </a:r>
            <a:endParaRPr lang="en-US" sz="1600" b="0" u="none" strike="noStrike">
              <a:solidFill>
                <a:srgbClr val="2D2F38"/>
              </a:solidFill>
              <a:effectLst/>
              <a:uFillTx/>
              <a:latin typeface="Arial"/>
            </a:endParaRPr>
          </a:p>
        </p:txBody>
      </p:sp>
      <p:sp>
        <p:nvSpPr>
          <p:cNvPr id="285" name="Shape 17"/>
          <p:cNvSpPr/>
          <p:nvPr/>
        </p:nvSpPr>
        <p:spPr>
          <a:xfrm>
            <a:off x="914400" y="4114800"/>
            <a:ext cx="63720" cy="63720"/>
          </a:xfrm>
          <a:prstGeom prst="ellipse">
            <a:avLst/>
          </a:prstGeom>
          <a:solidFill>
            <a:srgbClr val="166534"/>
          </a:solidFill>
          <a:ln w="7620">
            <a:solidFill>
              <a:srgbClr val="166534"/>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86" name="Text 18"/>
          <p:cNvSpPr/>
          <p:nvPr/>
        </p:nvSpPr>
        <p:spPr>
          <a:xfrm>
            <a:off x="1069920" y="402336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50" b="0" u="none" strike="noStrike">
                <a:solidFill>
                  <a:srgbClr val="2D2F38"/>
                </a:solidFill>
                <a:effectLst/>
                <a:uFillTx/>
                <a:latin typeface="Aptos"/>
                <a:ea typeface="Aptos"/>
              </a:rPr>
              <a:t>Confirmed trace: FL-1021A → Bosveld + Highveld.</a:t>
            </a:r>
            <a:endParaRPr lang="en-US" sz="1050" b="0" u="none" strike="noStrike">
              <a:solidFill>
                <a:srgbClr val="2D2F38"/>
              </a:solidFill>
              <a:effectLst/>
              <a:uFillTx/>
              <a:latin typeface="Arial"/>
            </a:endParaRPr>
          </a:p>
        </p:txBody>
      </p:sp>
      <p:sp>
        <p:nvSpPr>
          <p:cNvPr id="287" name="Shape 19"/>
          <p:cNvSpPr/>
          <p:nvPr/>
        </p:nvSpPr>
        <p:spPr>
          <a:xfrm>
            <a:off x="914400" y="4398120"/>
            <a:ext cx="63720" cy="63720"/>
          </a:xfrm>
          <a:prstGeom prst="ellipse">
            <a:avLst/>
          </a:prstGeom>
          <a:solidFill>
            <a:srgbClr val="166534"/>
          </a:solidFill>
          <a:ln w="7620">
            <a:solidFill>
              <a:srgbClr val="166534"/>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88" name="Text 20"/>
          <p:cNvSpPr/>
          <p:nvPr/>
        </p:nvSpPr>
        <p:spPr>
          <a:xfrm>
            <a:off x="1069920" y="430668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50" b="0" u="none" strike="noStrike">
                <a:solidFill>
                  <a:srgbClr val="2D2F38"/>
                </a:solidFill>
                <a:effectLst/>
                <a:uFillTx/>
                <a:latin typeface="Aptos"/>
                <a:ea typeface="Aptos"/>
              </a:rPr>
              <a:t>False-positive destination for FL-1034C rejected.</a:t>
            </a:r>
            <a:endParaRPr lang="en-US" sz="1050" b="0" u="none" strike="noStrike">
              <a:solidFill>
                <a:srgbClr val="2D2F38"/>
              </a:solidFill>
              <a:effectLst/>
              <a:uFillTx/>
              <a:latin typeface="Arial"/>
            </a:endParaRPr>
          </a:p>
        </p:txBody>
      </p:sp>
      <p:sp>
        <p:nvSpPr>
          <p:cNvPr id="289" name="Shape 21"/>
          <p:cNvSpPr/>
          <p:nvPr/>
        </p:nvSpPr>
        <p:spPr>
          <a:xfrm>
            <a:off x="914400" y="4681800"/>
            <a:ext cx="63720" cy="63720"/>
          </a:xfrm>
          <a:prstGeom prst="ellipse">
            <a:avLst/>
          </a:prstGeom>
          <a:solidFill>
            <a:srgbClr val="166534"/>
          </a:solidFill>
          <a:ln w="7620">
            <a:solidFill>
              <a:srgbClr val="166534"/>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90" name="Text 22"/>
          <p:cNvSpPr/>
          <p:nvPr/>
        </p:nvSpPr>
        <p:spPr>
          <a:xfrm>
            <a:off x="1069920" y="459036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50" b="0" u="none" strike="noStrike">
                <a:solidFill>
                  <a:srgbClr val="2D2F38"/>
                </a:solidFill>
                <a:effectLst/>
                <a:uFillTx/>
                <a:latin typeface="Aptos"/>
                <a:ea typeface="Aptos"/>
              </a:rPr>
              <a:t>RM-O873 alias deferred; not silently merged.</a:t>
            </a:r>
            <a:endParaRPr lang="en-US" sz="1050" b="0" u="none" strike="noStrike">
              <a:solidFill>
                <a:srgbClr val="2D2F38"/>
              </a:solidFill>
              <a:effectLst/>
              <a:uFillTx/>
              <a:latin typeface="Arial"/>
            </a:endParaRPr>
          </a:p>
        </p:txBody>
      </p:sp>
      <p:sp>
        <p:nvSpPr>
          <p:cNvPr id="291" name="Shape 23"/>
          <p:cNvSpPr/>
          <p:nvPr/>
        </p:nvSpPr>
        <p:spPr>
          <a:xfrm>
            <a:off x="914400" y="4965120"/>
            <a:ext cx="63720" cy="63720"/>
          </a:xfrm>
          <a:prstGeom prst="ellipse">
            <a:avLst/>
          </a:prstGeom>
          <a:solidFill>
            <a:srgbClr val="166534"/>
          </a:solidFill>
          <a:ln w="7620">
            <a:solidFill>
              <a:srgbClr val="166534"/>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92" name="Text 24"/>
          <p:cNvSpPr/>
          <p:nvPr/>
        </p:nvSpPr>
        <p:spPr>
          <a:xfrm>
            <a:off x="1069920" y="487368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50" b="0" u="none" strike="noStrike">
                <a:solidFill>
                  <a:srgbClr val="2D2F38"/>
                </a:solidFill>
                <a:effectLst/>
                <a:uFillTx/>
                <a:latin typeface="Aptos"/>
                <a:ea typeface="Aptos"/>
              </a:rPr>
              <a:t>Mass balance remains insufficient.</a:t>
            </a:r>
            <a:endParaRPr lang="en-US" sz="1050" b="0" u="none" strike="noStrike">
              <a:solidFill>
                <a:srgbClr val="2D2F38"/>
              </a:solidFill>
              <a:effectLst/>
              <a:uFillTx/>
              <a:latin typeface="Arial"/>
            </a:endParaRPr>
          </a:p>
        </p:txBody>
      </p:sp>
      <p:sp>
        <p:nvSpPr>
          <p:cNvPr id="293" name="Shape 25"/>
          <p:cNvSpPr/>
          <p:nvPr/>
        </p:nvSpPr>
        <p:spPr>
          <a:xfrm>
            <a:off x="6245280" y="3310200"/>
            <a:ext cx="5284800" cy="1938240"/>
          </a:xfrm>
          <a:prstGeom prst="roundRect">
            <a:avLst>
              <a:gd name="adj" fmla="val 5660"/>
            </a:avLst>
          </a:prstGeom>
          <a:solidFill>
            <a:srgbClr val="FEF3C7"/>
          </a:solidFill>
          <a:ln w="10160">
            <a:solidFill>
              <a:srgbClr val="FEF3C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294" name="Text 26"/>
          <p:cNvSpPr/>
          <p:nvPr/>
        </p:nvSpPr>
        <p:spPr>
          <a:xfrm>
            <a:off x="6492240" y="3547800"/>
            <a:ext cx="4571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2D3858"/>
                </a:solidFill>
                <a:effectLst/>
                <a:uFillTx/>
                <a:latin typeface="Aptos"/>
                <a:ea typeface="Aptos"/>
              </a:rPr>
              <a:t>Do not overclaim</a:t>
            </a:r>
            <a:endParaRPr lang="en-US" sz="1600" b="0" u="none" strike="noStrike">
              <a:solidFill>
                <a:srgbClr val="2D2F38"/>
              </a:solidFill>
              <a:effectLst/>
              <a:uFillTx/>
              <a:latin typeface="Arial"/>
            </a:endParaRPr>
          </a:p>
        </p:txBody>
      </p:sp>
      <p:sp>
        <p:nvSpPr>
          <p:cNvPr id="295" name="Shape 27"/>
          <p:cNvSpPr/>
          <p:nvPr/>
        </p:nvSpPr>
        <p:spPr>
          <a:xfrm>
            <a:off x="6473880" y="411480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96" name="Text 28"/>
          <p:cNvSpPr/>
          <p:nvPr/>
        </p:nvSpPr>
        <p:spPr>
          <a:xfrm>
            <a:off x="6629400" y="402336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2D2F38"/>
                </a:solidFill>
                <a:effectLst/>
                <a:uFillTx/>
                <a:latin typeface="Aptos"/>
                <a:ea typeface="Aptos"/>
              </a:rPr>
              <a:t>All 48 facts remained unreviewed in this run.</a:t>
            </a:r>
            <a:endParaRPr lang="en-US" sz="1030" b="0" u="none" strike="noStrike">
              <a:solidFill>
                <a:srgbClr val="2D2F38"/>
              </a:solidFill>
              <a:effectLst/>
              <a:uFillTx/>
              <a:latin typeface="Arial"/>
            </a:endParaRPr>
          </a:p>
        </p:txBody>
      </p:sp>
      <p:sp>
        <p:nvSpPr>
          <p:cNvPr id="297" name="Shape 29"/>
          <p:cNvSpPr/>
          <p:nvPr/>
        </p:nvSpPr>
        <p:spPr>
          <a:xfrm>
            <a:off x="6473880" y="439812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298" name="Text 30"/>
          <p:cNvSpPr/>
          <p:nvPr/>
        </p:nvSpPr>
        <p:spPr>
          <a:xfrm>
            <a:off x="6629400" y="430668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2D2F38"/>
                </a:solidFill>
                <a:effectLst/>
                <a:uFillTx/>
                <a:latin typeface="Aptos"/>
                <a:ea typeface="Aptos"/>
              </a:rPr>
              <a:t>4 quote-verified claims had values on adjacent lines.</a:t>
            </a:r>
            <a:endParaRPr lang="en-US" sz="1030" b="0" u="none" strike="noStrike">
              <a:solidFill>
                <a:srgbClr val="2D2F38"/>
              </a:solidFill>
              <a:effectLst/>
              <a:uFillTx/>
              <a:latin typeface="Arial"/>
            </a:endParaRPr>
          </a:p>
        </p:txBody>
      </p:sp>
      <p:sp>
        <p:nvSpPr>
          <p:cNvPr id="299" name="Shape 31"/>
          <p:cNvSpPr/>
          <p:nvPr/>
        </p:nvSpPr>
        <p:spPr>
          <a:xfrm>
            <a:off x="6473880" y="468180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300" name="Text 32"/>
          <p:cNvSpPr/>
          <p:nvPr/>
        </p:nvSpPr>
        <p:spPr>
          <a:xfrm>
            <a:off x="6629400" y="459036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2D2F38"/>
                </a:solidFill>
                <a:effectLst/>
                <a:uFillTx/>
                <a:latin typeface="Aptos"/>
                <a:ea typeface="Aptos"/>
              </a:rPr>
              <a:t>No manual baseline, customer study or accuracy rate.</a:t>
            </a:r>
            <a:endParaRPr lang="en-US" sz="1030" b="0" u="none" strike="noStrike">
              <a:solidFill>
                <a:srgbClr val="2D2F38"/>
              </a:solidFill>
              <a:effectLst/>
              <a:uFillTx/>
              <a:latin typeface="Arial"/>
            </a:endParaRPr>
          </a:p>
        </p:txBody>
      </p:sp>
      <p:sp>
        <p:nvSpPr>
          <p:cNvPr id="301" name="Shape 33"/>
          <p:cNvSpPr/>
          <p:nvPr/>
        </p:nvSpPr>
        <p:spPr>
          <a:xfrm>
            <a:off x="6473880" y="4965120"/>
            <a:ext cx="63720" cy="63720"/>
          </a:xfrm>
          <a:prstGeom prst="ellipse">
            <a:avLst/>
          </a:prstGeom>
          <a:solidFill>
            <a:srgbClr val="2D3858"/>
          </a:solidFill>
          <a:ln w="7620">
            <a:solidFill>
              <a:srgbClr val="2D3858"/>
            </a:solidFill>
            <a:round/>
          </a:ln>
        </p:spPr>
        <p:style>
          <a:lnRef idx="0">
            <a:scrgbClr r="0" g="0" b="0"/>
          </a:lnRef>
          <a:fillRef idx="0">
            <a:scrgbClr r="0" g="0" b="0"/>
          </a:fillRef>
          <a:effectRef idx="0">
            <a:scrgbClr r="0" g="0" b="0"/>
          </a:effectRef>
          <a:fontRef idx="minor"/>
        </p:style>
        <p:txBody>
          <a:bodyPr lIns="90000" tIns="0" rIns="90000" bIns="0" anchor="t">
            <a:noAutofit/>
          </a:bodyPr>
          <a:lstStyle/>
          <a:p>
            <a:endParaRPr lang="en-US" sz="1800" b="0" u="none" strike="noStrike">
              <a:solidFill>
                <a:srgbClr val="FFFFFF"/>
              </a:solidFill>
              <a:effectLst/>
              <a:uFillTx/>
              <a:latin typeface="Arial"/>
            </a:endParaRPr>
          </a:p>
        </p:txBody>
      </p:sp>
      <p:sp>
        <p:nvSpPr>
          <p:cNvPr id="302" name="Text 34"/>
          <p:cNvSpPr/>
          <p:nvPr/>
        </p:nvSpPr>
        <p:spPr>
          <a:xfrm>
            <a:off x="6629400" y="4873680"/>
            <a:ext cx="45532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30" b="0" u="none" strike="noStrike">
                <a:solidFill>
                  <a:srgbClr val="2D2F38"/>
                </a:solidFill>
                <a:effectLst/>
                <a:uFillTx/>
                <a:latin typeface="Aptos"/>
                <a:ea typeface="Aptos"/>
              </a:rPr>
              <a:t>The 7 input documents were authored fiction.</a:t>
            </a:r>
            <a:endParaRPr lang="en-US" sz="1030" b="0" u="none" strike="noStrike">
              <a:solidFill>
                <a:srgbClr val="2D2F38"/>
              </a:solidFill>
              <a:effectLst/>
              <a:uFillTx/>
              <a:latin typeface="Arial"/>
            </a:endParaRPr>
          </a:p>
        </p:txBody>
      </p:sp>
      <p:sp>
        <p:nvSpPr>
          <p:cNvPr id="303" name="Text 35"/>
          <p:cNvSpPr/>
          <p:nvPr/>
        </p:nvSpPr>
        <p:spPr>
          <a:xfrm>
            <a:off x="914400" y="5650920"/>
            <a:ext cx="102409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0" u="none" strike="noStrike">
                <a:solidFill>
                  <a:srgbClr val="626B7B"/>
                </a:solidFill>
                <a:effectLst/>
                <a:uFillTx/>
                <a:latin typeface="Aptos"/>
                <a:ea typeface="Aptos"/>
              </a:rPr>
              <a:t>Run timings are single-run observations, not a performance guarantee. The benchmark does not measure customer value.</a:t>
            </a:r>
            <a:endParaRPr lang="en-US" sz="1030" b="0" u="none" strike="noStrike">
              <a:solidFill>
                <a:srgbClr val="2D2F38"/>
              </a:solidFill>
              <a:effectLst/>
              <a:uFillTx/>
              <a:latin typeface="Arial"/>
            </a:endParaRPr>
          </a:p>
        </p:txBody>
      </p:sp>
      <p:sp>
        <p:nvSpPr>
          <p:cNvPr id="304" name="PlaceHolder 1"/>
          <p:cNvSpPr>
            <a:spLocks noGrp="1"/>
          </p:cNvSpPr>
          <p:nvPr>
            <p:ph type="sldNum" idx="11"/>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9E00FE6C-564A-4A34-991E-048D3A77B2CA}" type="slidenum">
              <a:rPr lang="en-US" sz="700" b="0" u="none" strike="noStrike">
                <a:solidFill>
                  <a:srgbClr val="626B7B"/>
                </a:solidFill>
                <a:effectLst/>
                <a:uFillTx/>
                <a:latin typeface="Aptos"/>
                <a:ea typeface="Aptos"/>
              </a:rPr>
              <a:t>8</a:t>
            </a:fld>
            <a:endParaRPr lang="en-US" sz="700" b="0" u="none" strike="noStrike">
              <a:solidFill>
                <a:srgbClr val="2D2F38"/>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Text 0"/>
          <p:cNvSpPr/>
          <p:nvPr/>
        </p:nvSpPr>
        <p:spPr>
          <a:xfrm>
            <a:off x="567000" y="384120"/>
            <a:ext cx="10881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00" b="1" u="none" strike="noStrike" spc="181">
                <a:solidFill>
                  <a:srgbClr val="39466C"/>
                </a:solidFill>
                <a:effectLst/>
                <a:uFillTx/>
                <a:latin typeface="Aptos"/>
                <a:ea typeface="Aptos"/>
              </a:rPr>
              <a:t>08 / WHAT WE NEED NEXT</a:t>
            </a:r>
            <a:endParaRPr lang="en-US" sz="900" b="0" u="none" strike="noStrike">
              <a:solidFill>
                <a:srgbClr val="2D2F38"/>
              </a:solidFill>
              <a:effectLst/>
              <a:uFillTx/>
              <a:latin typeface="Arial"/>
            </a:endParaRPr>
          </a:p>
        </p:txBody>
      </p:sp>
      <p:sp>
        <p:nvSpPr>
          <p:cNvPr id="306" name="Text 1"/>
          <p:cNvSpPr/>
          <p:nvPr/>
        </p:nvSpPr>
        <p:spPr>
          <a:xfrm>
            <a:off x="567000" y="658440"/>
            <a:ext cx="110181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2D2F38"/>
                </a:solidFill>
                <a:effectLst/>
                <a:uFillTx/>
                <a:latin typeface="Aptos"/>
                <a:ea typeface="Aptos"/>
              </a:rPr>
              <a:t>Help us validate the investigation workflow in the real world</a:t>
            </a:r>
            <a:endParaRPr lang="en-US" sz="2600" b="0" u="none" strike="noStrike">
              <a:solidFill>
                <a:srgbClr val="2D2F38"/>
              </a:solidFill>
              <a:effectLst/>
              <a:uFillTx/>
              <a:latin typeface="Arial"/>
            </a:endParaRPr>
          </a:p>
        </p:txBody>
      </p:sp>
      <p:sp>
        <p:nvSpPr>
          <p:cNvPr id="307" name="Text 2"/>
          <p:cNvSpPr/>
          <p:nvPr/>
        </p:nvSpPr>
        <p:spPr>
          <a:xfrm>
            <a:off x="585360" y="119772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250" b="0" u="none" strike="noStrike">
                <a:solidFill>
                  <a:srgbClr val="626B7B"/>
                </a:solidFill>
                <a:effectLst/>
                <a:uFillTx/>
                <a:latin typeface="Aptos"/>
                <a:ea typeface="Aptos"/>
              </a:rPr>
              <a:t>Klarrow is seeking expert review and supervised validation-not claiming traction it has not earned.</a:t>
            </a:r>
            <a:endParaRPr lang="en-US" sz="1250" b="0" u="none" strike="noStrike">
              <a:solidFill>
                <a:srgbClr val="2D2F38"/>
              </a:solidFill>
              <a:effectLst/>
              <a:uFillTx/>
              <a:latin typeface="Arial"/>
            </a:endParaRPr>
          </a:p>
        </p:txBody>
      </p:sp>
      <p:sp>
        <p:nvSpPr>
          <p:cNvPr id="308" name="Shape 3"/>
          <p:cNvSpPr/>
          <p:nvPr/>
        </p:nvSpPr>
        <p:spPr>
          <a:xfrm>
            <a:off x="777240" y="1993320"/>
            <a:ext cx="3401280" cy="1828440"/>
          </a:xfrm>
          <a:prstGeom prst="roundRect">
            <a:avLst>
              <a:gd name="adj" fmla="val 6500"/>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09" name="Shape 4"/>
          <p:cNvSpPr/>
          <p:nvPr/>
        </p:nvSpPr>
        <p:spPr>
          <a:xfrm>
            <a:off x="978480" y="2194560"/>
            <a:ext cx="41112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10" name="Text 5"/>
          <p:cNvSpPr/>
          <p:nvPr/>
        </p:nvSpPr>
        <p:spPr>
          <a:xfrm>
            <a:off x="1042560" y="2212920"/>
            <a:ext cx="282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01</a:t>
            </a:r>
            <a:endParaRPr lang="en-US" sz="860" b="0" u="none" strike="noStrike">
              <a:solidFill>
                <a:srgbClr val="2D2F38"/>
              </a:solidFill>
              <a:effectLst/>
              <a:uFillTx/>
              <a:latin typeface="Arial"/>
            </a:endParaRPr>
          </a:p>
        </p:txBody>
      </p:sp>
      <p:sp>
        <p:nvSpPr>
          <p:cNvPr id="311" name="Text 6"/>
          <p:cNvSpPr/>
          <p:nvPr/>
        </p:nvSpPr>
        <p:spPr>
          <a:xfrm>
            <a:off x="978480" y="2697480"/>
            <a:ext cx="29257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2D2F38"/>
                </a:solidFill>
                <a:effectLst/>
                <a:uFillTx/>
                <a:latin typeface="Aptos"/>
                <a:ea typeface="Aptos"/>
              </a:rPr>
              <a:t>Practitioner review</a:t>
            </a:r>
            <a:endParaRPr lang="en-US" sz="1500" b="0" u="none" strike="noStrike">
              <a:solidFill>
                <a:srgbClr val="2D2F38"/>
              </a:solidFill>
              <a:effectLst/>
              <a:uFillTx/>
              <a:latin typeface="Arial"/>
            </a:endParaRPr>
          </a:p>
        </p:txBody>
      </p:sp>
      <p:sp>
        <p:nvSpPr>
          <p:cNvPr id="312" name="Text 7"/>
          <p:cNvSpPr/>
          <p:nvPr/>
        </p:nvSpPr>
        <p:spPr>
          <a:xfrm>
            <a:off x="978480" y="3173040"/>
            <a:ext cx="29073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10" b="0" u="none" strike="noStrike">
                <a:solidFill>
                  <a:srgbClr val="626B7B"/>
                </a:solidFill>
                <a:effectLst/>
                <a:uFillTx/>
                <a:latin typeface="Aptos"/>
                <a:ea typeface="Aptos"/>
              </a:rPr>
              <a:t>A food-safety / QA professional to challenge the workflow and its report.</a:t>
            </a:r>
            <a:endParaRPr lang="en-US" sz="1110" b="0" u="none" strike="noStrike">
              <a:solidFill>
                <a:srgbClr val="2D2F38"/>
              </a:solidFill>
              <a:effectLst/>
              <a:uFillTx/>
              <a:latin typeface="Arial"/>
            </a:endParaRPr>
          </a:p>
        </p:txBody>
      </p:sp>
      <p:sp>
        <p:nvSpPr>
          <p:cNvPr id="313" name="Shape 8"/>
          <p:cNvSpPr/>
          <p:nvPr/>
        </p:nvSpPr>
        <p:spPr>
          <a:xfrm>
            <a:off x="4599360" y="1993320"/>
            <a:ext cx="3401280" cy="1828440"/>
          </a:xfrm>
          <a:prstGeom prst="roundRect">
            <a:avLst>
              <a:gd name="adj" fmla="val 6500"/>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14" name="Shape 9"/>
          <p:cNvSpPr/>
          <p:nvPr/>
        </p:nvSpPr>
        <p:spPr>
          <a:xfrm>
            <a:off x="4800600" y="2194560"/>
            <a:ext cx="41112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15" name="Text 10"/>
          <p:cNvSpPr/>
          <p:nvPr/>
        </p:nvSpPr>
        <p:spPr>
          <a:xfrm>
            <a:off x="4864680" y="2212920"/>
            <a:ext cx="282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02</a:t>
            </a:r>
            <a:endParaRPr lang="en-US" sz="860" b="0" u="none" strike="noStrike">
              <a:solidFill>
                <a:srgbClr val="2D2F38"/>
              </a:solidFill>
              <a:effectLst/>
              <a:uFillTx/>
              <a:latin typeface="Arial"/>
            </a:endParaRPr>
          </a:p>
        </p:txBody>
      </p:sp>
      <p:sp>
        <p:nvSpPr>
          <p:cNvPr id="316" name="Text 11"/>
          <p:cNvSpPr/>
          <p:nvPr/>
        </p:nvSpPr>
        <p:spPr>
          <a:xfrm>
            <a:off x="4800600" y="2697480"/>
            <a:ext cx="29257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2D2F38"/>
                </a:solidFill>
                <a:effectLst/>
                <a:uFillTx/>
                <a:latin typeface="Aptos"/>
                <a:ea typeface="Aptos"/>
              </a:rPr>
              <a:t>Authorised test records</a:t>
            </a:r>
            <a:endParaRPr lang="en-US" sz="1500" b="0" u="none" strike="noStrike">
              <a:solidFill>
                <a:srgbClr val="2D2F38"/>
              </a:solidFill>
              <a:effectLst/>
              <a:uFillTx/>
              <a:latin typeface="Arial"/>
            </a:endParaRPr>
          </a:p>
        </p:txBody>
      </p:sp>
      <p:sp>
        <p:nvSpPr>
          <p:cNvPr id="317" name="Text 12"/>
          <p:cNvSpPr/>
          <p:nvPr/>
        </p:nvSpPr>
        <p:spPr>
          <a:xfrm>
            <a:off x="4800600" y="3173040"/>
            <a:ext cx="29073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10" b="0" u="none" strike="noStrike">
                <a:solidFill>
                  <a:srgbClr val="626B7B"/>
                </a:solidFill>
                <a:effectLst/>
                <a:uFillTx/>
                <a:latin typeface="Aptos"/>
                <a:ea typeface="Aptos"/>
              </a:rPr>
              <a:t>Redacted or purpose-built records to test real document variability safely.</a:t>
            </a:r>
            <a:endParaRPr lang="en-US" sz="1110" b="0" u="none" strike="noStrike">
              <a:solidFill>
                <a:srgbClr val="2D2F38"/>
              </a:solidFill>
              <a:effectLst/>
              <a:uFillTx/>
              <a:latin typeface="Arial"/>
            </a:endParaRPr>
          </a:p>
        </p:txBody>
      </p:sp>
      <p:sp>
        <p:nvSpPr>
          <p:cNvPr id="318" name="Shape 13"/>
          <p:cNvSpPr/>
          <p:nvPr/>
        </p:nvSpPr>
        <p:spPr>
          <a:xfrm>
            <a:off x="8421480" y="1993320"/>
            <a:ext cx="3401280" cy="1828440"/>
          </a:xfrm>
          <a:prstGeom prst="roundRect">
            <a:avLst>
              <a:gd name="adj" fmla="val 6500"/>
            </a:avLst>
          </a:prstGeom>
          <a:solidFill>
            <a:srgbClr val="FFFFFF"/>
          </a:solidFill>
          <a:ln w="10160">
            <a:solidFill>
              <a:srgbClr val="E5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19" name="Shape 14"/>
          <p:cNvSpPr/>
          <p:nvPr/>
        </p:nvSpPr>
        <p:spPr>
          <a:xfrm>
            <a:off x="8622720" y="2194560"/>
            <a:ext cx="411120" cy="264960"/>
          </a:xfrm>
          <a:prstGeom prst="roundRect">
            <a:avLst>
              <a:gd name="adj" fmla="val 24138"/>
            </a:avLst>
          </a:prstGeom>
          <a:solidFill>
            <a:srgbClr val="E7EBF4"/>
          </a:solidFill>
          <a:ln w="8890">
            <a:solidFill>
              <a:srgbClr val="E7EBF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2D2F38"/>
              </a:solidFill>
              <a:effectLst/>
              <a:uFillTx/>
              <a:latin typeface="Arial"/>
            </a:endParaRPr>
          </a:p>
        </p:txBody>
      </p:sp>
      <p:sp>
        <p:nvSpPr>
          <p:cNvPr id="320" name="Text 15"/>
          <p:cNvSpPr/>
          <p:nvPr/>
        </p:nvSpPr>
        <p:spPr>
          <a:xfrm>
            <a:off x="8686800" y="2212920"/>
            <a:ext cx="2829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9466C"/>
                </a:solidFill>
                <a:effectLst/>
                <a:uFillTx/>
                <a:latin typeface="Aptos"/>
                <a:ea typeface="Aptos"/>
              </a:rPr>
              <a:t>03</a:t>
            </a:r>
            <a:endParaRPr lang="en-US" sz="860" b="0" u="none" strike="noStrike">
              <a:solidFill>
                <a:srgbClr val="2D2F38"/>
              </a:solidFill>
              <a:effectLst/>
              <a:uFillTx/>
              <a:latin typeface="Arial"/>
            </a:endParaRPr>
          </a:p>
        </p:txBody>
      </p:sp>
      <p:sp>
        <p:nvSpPr>
          <p:cNvPr id="321" name="Text 16"/>
          <p:cNvSpPr/>
          <p:nvPr/>
        </p:nvSpPr>
        <p:spPr>
          <a:xfrm>
            <a:off x="8622720" y="2697480"/>
            <a:ext cx="292572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2D2F38"/>
                </a:solidFill>
                <a:effectLst/>
                <a:uFillTx/>
                <a:latin typeface="Aptos"/>
                <a:ea typeface="Aptos"/>
              </a:rPr>
              <a:t>Measured comparison</a:t>
            </a:r>
            <a:endParaRPr lang="en-US" sz="1500" b="0" u="none" strike="noStrike">
              <a:solidFill>
                <a:srgbClr val="2D2F38"/>
              </a:solidFill>
              <a:effectLst/>
              <a:uFillTx/>
              <a:latin typeface="Arial"/>
            </a:endParaRPr>
          </a:p>
        </p:txBody>
      </p:sp>
      <p:sp>
        <p:nvSpPr>
          <p:cNvPr id="322" name="Text 17"/>
          <p:cNvSpPr/>
          <p:nvPr/>
        </p:nvSpPr>
        <p:spPr>
          <a:xfrm>
            <a:off x="8622720" y="3173040"/>
            <a:ext cx="29073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110" b="0" u="none" strike="noStrike">
                <a:solidFill>
                  <a:srgbClr val="626B7B"/>
                </a:solidFill>
                <a:effectLst/>
                <a:uFillTx/>
                <a:latin typeface="Aptos"/>
                <a:ea typeface="Aptos"/>
              </a:rPr>
              <a:t>One timed mock recall: manual process vs Klarrow, independently checked.</a:t>
            </a:r>
            <a:endParaRPr lang="en-US" sz="1110" b="0" u="none" strike="noStrike">
              <a:solidFill>
                <a:srgbClr val="2D2F38"/>
              </a:solidFill>
              <a:effectLst/>
              <a:uFillTx/>
              <a:latin typeface="Arial"/>
            </a:endParaRPr>
          </a:p>
        </p:txBody>
      </p:sp>
      <p:sp>
        <p:nvSpPr>
          <p:cNvPr id="323" name="Shape 18"/>
          <p:cNvSpPr/>
          <p:nvPr/>
        </p:nvSpPr>
        <p:spPr>
          <a:xfrm>
            <a:off x="1078920" y="4343400"/>
            <a:ext cx="10039680" cy="932400"/>
          </a:xfrm>
          <a:prstGeom prst="roundRect">
            <a:avLst>
              <a:gd name="adj" fmla="val 12745"/>
            </a:avLst>
          </a:prstGeom>
          <a:solidFill>
            <a:srgbClr val="2D2F38"/>
          </a:solidFill>
          <a:ln w="10160">
            <a:solidFill>
              <a:srgbClr val="2D2F3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Text 19"/>
          <p:cNvSpPr/>
          <p:nvPr/>
        </p:nvSpPr>
        <p:spPr>
          <a:xfrm>
            <a:off x="1417320" y="4553640"/>
            <a:ext cx="2102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200" b="1" u="none" strike="noStrike">
                <a:solidFill>
                  <a:srgbClr val="FFFFFF"/>
                </a:solidFill>
                <a:effectLst/>
                <a:uFillTx/>
                <a:latin typeface="Aptos"/>
                <a:ea typeface="Aptos"/>
              </a:rPr>
              <a:t>Klarrow</a:t>
            </a:r>
            <a:endParaRPr lang="en-US" sz="2200" b="0" u="none" strike="noStrike">
              <a:solidFill>
                <a:srgbClr val="2D2F38"/>
              </a:solidFill>
              <a:effectLst/>
              <a:uFillTx/>
              <a:latin typeface="Arial"/>
            </a:endParaRPr>
          </a:p>
        </p:txBody>
      </p:sp>
      <p:sp>
        <p:nvSpPr>
          <p:cNvPr id="325" name="Text 20"/>
          <p:cNvSpPr/>
          <p:nvPr/>
        </p:nvSpPr>
        <p:spPr>
          <a:xfrm>
            <a:off x="3703320" y="4553640"/>
            <a:ext cx="69033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E5E8F0"/>
                </a:solidFill>
                <a:effectLst/>
                <a:uFillTx/>
                <a:latin typeface="Aptos"/>
                <a:ea typeface="Aptos"/>
              </a:rPr>
              <a:t>The evidence-reconciliation workbench for food-traceability investigations.</a:t>
            </a:r>
            <a:endParaRPr lang="en-US" sz="1400" b="0" u="none" strike="noStrike">
              <a:solidFill>
                <a:srgbClr val="2D2F38"/>
              </a:solidFill>
              <a:effectLst/>
              <a:uFillTx/>
              <a:latin typeface="Arial"/>
            </a:endParaRPr>
          </a:p>
        </p:txBody>
      </p:sp>
      <p:sp>
        <p:nvSpPr>
          <p:cNvPr id="326" name="Text 21"/>
          <p:cNvSpPr/>
          <p:nvPr/>
        </p:nvSpPr>
        <p:spPr>
          <a:xfrm>
            <a:off x="914400" y="5669280"/>
            <a:ext cx="10286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u="none" strike="noStrike">
                <a:solidFill>
                  <a:srgbClr val="626B7B"/>
                </a:solidFill>
                <a:effectLst/>
                <a:uFillTx/>
                <a:latin typeface="Aptos"/>
                <a:ea typeface="Aptos"/>
              </a:rPr>
              <a:t>Next milestone: practitioner-reviewed benchmark + controlled pilot plan. Not yet a production or compliance tool.</a:t>
            </a:r>
            <a:endParaRPr lang="en-US" sz="1100" b="0" u="none" strike="noStrike">
              <a:solidFill>
                <a:srgbClr val="2D2F38"/>
              </a:solidFill>
              <a:effectLst/>
              <a:uFillTx/>
              <a:latin typeface="Arial"/>
            </a:endParaRPr>
          </a:p>
        </p:txBody>
      </p:sp>
      <p:sp>
        <p:nvSpPr>
          <p:cNvPr id="327" name="PlaceHolder 1"/>
          <p:cNvSpPr>
            <a:spLocks noGrp="1"/>
          </p:cNvSpPr>
          <p:nvPr>
            <p:ph type="sldNum" idx="12"/>
          </p:nvPr>
        </p:nvSpPr>
        <p:spPr>
          <a:xfrm>
            <a:off x="1168596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700" b="0" u="none" strike="noStrike">
                <a:solidFill>
                  <a:srgbClr val="626B7B"/>
                </a:solidFill>
                <a:effectLst/>
                <a:uFillTx/>
                <a:latin typeface="Aptos"/>
                <a:ea typeface="Aptos"/>
              </a:defRPr>
            </a:lvl1pPr>
          </a:lstStyle>
          <a:p>
            <a:pPr indent="0" defTabSz="914400">
              <a:lnSpc>
                <a:spcPct val="100000"/>
              </a:lnSpc>
              <a:buNone/>
            </a:pPr>
            <a:fld id="{3EE33A61-009F-4248-A4CF-F45FF554379E}" type="slidenum">
              <a:rPr lang="en-US" sz="700" b="0" u="none" strike="noStrike">
                <a:solidFill>
                  <a:srgbClr val="626B7B"/>
                </a:solidFill>
                <a:effectLst/>
                <a:uFillTx/>
                <a:latin typeface="Aptos"/>
                <a:ea typeface="Aptos"/>
              </a:rPr>
              <a:t>9</a:t>
            </a:fld>
            <a:endParaRPr lang="en-US" sz="700" b="0" u="none" strike="noStrike">
              <a:solidFill>
                <a:srgbClr val="2D2F38"/>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2D2F38"/>
      </a:dk1>
      <a:lt1>
        <a:srgbClr val="FFFFFF"/>
      </a:lt1>
      <a:dk2>
        <a:srgbClr val="39466C"/>
      </a:dk2>
      <a:lt2>
        <a:srgbClr val="E5E8F0"/>
      </a:lt2>
      <a:accent1>
        <a:srgbClr val="39466C"/>
      </a:accent1>
      <a:accent2>
        <a:srgbClr val="B45309"/>
      </a:accent2>
      <a:accent3>
        <a:srgbClr val="A0A6B4"/>
      </a:accent3>
      <a:accent4>
        <a:srgbClr val="FCD34D"/>
      </a:accent4>
      <a:accent5>
        <a:srgbClr val="A0A6B4"/>
      </a:accent5>
      <a:accent6>
        <a:srgbClr val="166534"/>
      </a:accent6>
      <a:hlink>
        <a:srgbClr val="39466C"/>
      </a:hlink>
      <a:folHlink>
        <a:srgbClr val="39466C"/>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2D2F38"/>
      </a:dk1>
      <a:lt1>
        <a:srgbClr val="FFFFFF"/>
      </a:lt1>
      <a:dk2>
        <a:srgbClr val="2D2F38"/>
      </a:dk2>
      <a:lt2>
        <a:srgbClr val="FFFFFF"/>
      </a:lt2>
      <a:accent1>
        <a:srgbClr val="166534"/>
      </a:accent1>
      <a:accent2>
        <a:srgbClr val="39466C"/>
      </a:accent2>
      <a:accent3>
        <a:srgbClr val="B45309"/>
      </a:accent3>
      <a:accent4>
        <a:srgbClr val="39466C"/>
      </a:accent4>
      <a:accent5>
        <a:srgbClr val="FCD34D"/>
      </a:accent5>
      <a:accent6>
        <a:srgbClr val="991B1B"/>
      </a:accent6>
      <a:hlink>
        <a:srgbClr val="39466C"/>
      </a:hlink>
      <a:folHlink>
        <a:srgbClr val="39466C"/>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1601</Words>
  <Application>Microsoft Office PowerPoint</Application>
  <PresentationFormat>Widescreen</PresentationFormat>
  <Paragraphs>207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Klarrow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Skii Lynn</cp:lastModifiedBy>
  <cp:revision>1</cp:revision>
  <dcterms:modified xsi:type="dcterms:W3CDTF">2026-10-17T20:09:51Z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2026-10-17T18:48:39Z</dcterms:created>
  <dc:creator>Klarrow</dc:creator>
  <dc:description/>
  <dc:language>en-US</dc:language>
  <cp:lastModifiedBy>Klarrow</cp:lastModifiedBy>
  <dcterms:modified xsi:type="dcterms:W3CDTF">2026-10-17T18:48:39Z</dcterms:modified>
  <cp:revision>1</cp:revision>
  <dc:subject>Pitch deck based on the 17 October 2026 Run 3 benchmark</dc:subject>
  <dc:title>Klarrow - The Evidence Layer for Food Traceability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9</vt:r8>
  </property>
  <property fmtid="{D5CDD505-2E9C-101B-9397-08002B2CF9AE}" pid="3" name="PresentationFormat">
    <vt:lpwstr>On-screen Show (16:9)</vt:lpwstr>
  </property>
  <property fmtid="{D5CDD505-2E9C-101B-9397-08002B2CF9AE}" pid="4" name="Slides">
    <vt:r8>9</vt:r8>
  </property>
</Properties>
</file>