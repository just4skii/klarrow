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946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larrow-k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7472"/>
            <a:ext cx="566928" cy="5212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15568" y="384048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D2F38"/>
                </a:solidFill>
                <a:latin typeface="Segoe UI Semibold"/>
              </a:rPr>
              <a:t>Klarrow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713232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950" b="0">
                <a:solidFill>
                  <a:srgbClr val="6B7280"/>
                </a:solidFill>
                <a:latin typeface="Segoe UI"/>
              </a:rPr>
              <a:t>Evidence-reconciliation workbench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00" b="1">
                <a:solidFill>
                  <a:srgbClr val="39466C"/>
                </a:solidFill>
                <a:latin typeface="Segoe UI"/>
              </a:rPr>
              <a:t>RUN 4  -  CONTROLLED SYNTHETIC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36192"/>
            <a:ext cx="64008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2500" b="1">
                <a:solidFill>
                  <a:srgbClr val="2D2F38"/>
                </a:solidFill>
                <a:latin typeface="Segoe UI Semibold"/>
              </a:rPr>
              <a:t>Evidence reconciliation for
food-traceability investigations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64008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1050" b="0">
                <a:solidFill>
                  <a:srgbClr val="2D2F38"/>
                </a:solidFill>
                <a:latin typeface="Segoe UI"/>
              </a:rPr>
              <a:t>Klarrow helps an operator assemble and challenge fragmented supplier, production and dispatch records - with source grounding, human decisions and explicit uncertainty.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246120"/>
            <a:ext cx="1417320" cy="713232"/>
          </a:xfrm>
          <a:prstGeom prst="roundRect">
            <a:avLst/>
          </a:prstGeom>
          <a:solidFill>
            <a:srgbClr val="F4F6FA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3375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39466C"/>
                </a:solidFill>
                <a:latin typeface="Segoe UI Semibold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65760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1">
                <a:solidFill>
                  <a:srgbClr val="6B7280"/>
                </a:solidFill>
                <a:latin typeface="Segoe UI"/>
              </a:rPr>
              <a:t>AI rows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29967" y="3246120"/>
            <a:ext cx="1417320" cy="713232"/>
          </a:xfrm>
          <a:prstGeom prst="roundRect">
            <a:avLst/>
          </a:prstGeom>
          <a:solidFill>
            <a:srgbClr val="F4F6FA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9696" y="33375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39466C"/>
                </a:solidFill>
                <a:latin typeface="Segoe UI Semibold"/>
              </a:rP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39696" y="365760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1">
                <a:solidFill>
                  <a:srgbClr val="6B7280"/>
                </a:solidFill>
                <a:latin typeface="Segoe UI"/>
              </a:rPr>
              <a:t>parser rows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2736" y="3246120"/>
            <a:ext cx="1417320" cy="713232"/>
          </a:xfrm>
          <a:prstGeom prst="roundRect">
            <a:avLst/>
          </a:prstGeom>
          <a:solidFill>
            <a:srgbClr val="F4F6FA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2463" y="33375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39466C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12463" y="365760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1">
                <a:solidFill>
                  <a:srgbClr val="6B7280"/>
                </a:solidFill>
                <a:latin typeface="Segoe UI"/>
              </a:rPr>
              <a:t>value-in-quote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75504" y="3246120"/>
            <a:ext cx="1417320" cy="713232"/>
          </a:xfrm>
          <a:prstGeom prst="roundRect">
            <a:avLst/>
          </a:prstGeom>
          <a:solidFill>
            <a:srgbClr val="F4F6FA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33375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39466C"/>
                </a:solidFill>
                <a:latin typeface="Segoe UI Semibold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365760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1">
                <a:solidFill>
                  <a:srgbClr val="6B7280"/>
                </a:solidFill>
                <a:latin typeface="Segoe UI"/>
              </a:rPr>
              <a:t>identifier-only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24528"/>
            <a:ext cx="6217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00" b="1">
                <a:solidFill>
                  <a:srgbClr val="39466C"/>
                </a:solidFill>
                <a:latin typeface="Segoe UI"/>
              </a:rPr>
              <a:t>WHAT IT DOES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07408"/>
            <a:ext cx="6217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0">
                <a:solidFill>
                  <a:srgbClr val="2D2F38"/>
                </a:solidFill>
                <a:latin typeface="Segoe UI"/>
              </a:rPr>
              <a:t>-  Ingests supported text, CSV/TSV, Excel, EML, logs and text-selectable PDF.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745736"/>
            <a:ext cx="6217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0">
                <a:solidFill>
                  <a:srgbClr val="2D2F38"/>
                </a:solidFill>
                <a:latin typeface="Segoe UI"/>
              </a:rPr>
              <a:t>-  Uses local Meta Llama 3.2 3B to propose candidate facts; deterministic code handles structured parsing and traversal; a three-scenario evaluation suite passes all locked checks in deterministic mode.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084064"/>
            <a:ext cx="6217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0">
                <a:solidFill>
                  <a:srgbClr val="2D2F38"/>
                </a:solidFill>
                <a:latin typeface="Segoe UI"/>
              </a:rPr>
              <a:t>-  Keeps value-in-quote, adjacent-line context, identifier-only and unlocated claims distinct; humans confirm relationships.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422392"/>
            <a:ext cx="6217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0">
                <a:solidFill>
                  <a:srgbClr val="2D2F38"/>
                </a:solidFill>
                <a:latin typeface="Segoe UI"/>
              </a:rPr>
              <a:t>-  Separates confirmed scope from possible exposure and records findings, caveats and audit history.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870448"/>
            <a:ext cx="6309360" cy="502920"/>
          </a:xfrm>
          <a:prstGeom prst="roundRect">
            <a:avLst/>
          </a:prstGeom>
          <a:solidFill>
            <a:srgbClr val="F4F6FA"/>
          </a:solidFill>
          <a:ln w="10160">
            <a:solidFill>
              <a:srgbClr val="E5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934456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>
                <a:solidFill>
                  <a:srgbClr val="2D2F38"/>
                </a:solidFill>
                <a:latin typeface="Segoe UI"/>
              </a:rPr>
              <a:t>Not a recall decision system. Not certified. Not production-ready. The Run 4 demo is one authored scenario; accuracy, time savings and customer demand remain unmeasured.</a:t>
            </a:r>
          </a:p>
        </p:txBody>
      </p:sp>
      <p:pic>
        <p:nvPicPr>
          <p:cNvPr id="28" name="Picture 27" descr="one-pager-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685800"/>
            <a:ext cx="4251960" cy="4892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178040" y="5669280"/>
            <a:ext cx="4251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6B7280"/>
                </a:solidFill>
                <a:latin typeface="Segoe UI"/>
              </a:rPr>
              <a:t>Trace snapshot - confirmed scope, unresolved gaps, insufficient mass balance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73952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A0A6B4"/>
                </a:solidFill>
                <a:latin typeface="Segoe UI"/>
              </a:rPr>
              <a:t>Klarrow - evidence-reconciliation workbench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647395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00" b="0">
                <a:solidFill>
                  <a:srgbClr val="A0A6B4"/>
                </a:solidFill>
                <a:latin typeface="Segoe UI"/>
              </a:rPr>
              <a:t>18 Oct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