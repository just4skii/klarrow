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72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investigation moment, not the technology. Klarrow is a human-in-the-loop workbench, not a recall decision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problem is fragmented evidence, drifting identifiers and quantities that do not reconcile. Do not claim all factories behave this way; say this is the workflow we are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five-step workflow. State the no-OCR boundary. Klarrow sits beside the ERP.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Local Meta Llama 3.2 3B proposes candidate facts. Deterministic code handles structured parsing and graph traversal. Humans decide. Do not say the AI runs the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false-positive rejection and deferred alias. The human gate is the product. Confirmation is a human decision, not independent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Confirmed scope: FL-1021A, Bosveld and Highveld. FL-1034C stays outside the RM-0873 trace while the alias is deferred. Mass balance is insufficient; no conversion is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honesty slide. One authored scenario, one model, one operator, n=1. No accuracy, time-saving, customer or production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South African context: producer responsibility, export traceability audits, NCC investigation/recall powers. Do not claim FSMA 204 applies in South Africa.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for a practitioner review and authorised/redacted records. This is a draft 30-day validation plan, not a committed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evidence discipline. Invite a supervised evaluation. Do not imply customers, pilots or regulatory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46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A0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a1_logo" descr="klarrow-k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920"/>
            <a:ext cx="749808" cy="685800"/>
          </a:xfrm>
          <a:prstGeom prst="rect">
            <a:avLst/>
          </a:prstGeom>
        </p:spPr>
      </p:pic>
      <p:sp>
        <p:nvSpPr>
          <p:cNvPr id="4" name="a1_wordmark"/>
          <p:cNvSpPr txBox="1"/>
          <p:nvPr/>
        </p:nvSpPr>
        <p:spPr>
          <a:xfrm>
            <a:off x="1572768" y="51206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Klarrow</a:t>
            </a:r>
          </a:p>
        </p:txBody>
      </p:sp>
      <p:sp>
        <p:nvSpPr>
          <p:cNvPr id="5" name="a2_sub"/>
          <p:cNvSpPr txBox="1"/>
          <p:nvPr/>
        </p:nvSpPr>
        <p:spPr>
          <a:xfrm>
            <a:off x="1591056" y="9601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A0A6B4"/>
                </a:solidFill>
                <a:latin typeface="Segoe UI"/>
              </a:rPr>
              <a:t>Evidence-reconciliation workbench</a:t>
            </a:r>
          </a:p>
        </p:txBody>
      </p:sp>
      <p:sp>
        <p:nvSpPr>
          <p:cNvPr id="6" name="a2_kicker"/>
          <p:cNvSpPr txBox="1"/>
          <p:nvPr/>
        </p:nvSpPr>
        <p:spPr>
          <a:xfrm>
            <a:off x="749808" y="1874519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0A6B4"/>
                </a:solidFill>
                <a:latin typeface="Segoe UI"/>
              </a:rPr>
              <a:t>AI ACADEMY SOUTH AFRICA  ·  PITCHATHON</a:t>
            </a:r>
          </a:p>
        </p:txBody>
      </p:sp>
      <p:sp>
        <p:nvSpPr>
          <p:cNvPr id="7" name="a2_title"/>
          <p:cNvSpPr txBox="1"/>
          <p:nvPr/>
        </p:nvSpPr>
        <p:spPr>
          <a:xfrm>
            <a:off x="731520" y="2240280"/>
            <a:ext cx="7040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Evidence reconciliation
for food-traceability
investigations</a:t>
            </a:r>
          </a:p>
        </p:txBody>
      </p:sp>
      <p:sp>
        <p:nvSpPr>
          <p:cNvPr id="8" name="a3_body"/>
          <p:cNvSpPr txBox="1"/>
          <p:nvPr/>
        </p:nvSpPr>
        <p:spPr>
          <a:xfrm>
            <a:off x="749808" y="438912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A0A6B4"/>
                </a:solidFill>
                <a:latin typeface="Segoe UI"/>
              </a:rPr>
              <a:t>Klarrow helps an operator assemble and challenge fragmented supplier, production and dispatch records - with source grounding, human decisions and explicit uncertainty.</a:t>
            </a:r>
          </a:p>
        </p:txBody>
      </p:sp>
      <p:sp>
        <p:nvSpPr>
          <p:cNvPr id="9" name="a3_note"/>
          <p:cNvSpPr txBox="1"/>
          <p:nvPr/>
        </p:nvSpPr>
        <p:spPr>
          <a:xfrm>
            <a:off x="749808" y="589788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A0A6B4"/>
                </a:solidFill>
                <a:latin typeface="Segoe UI"/>
              </a:rPr>
              <a:t>Prototype demonstration  ·  18 October 2026  ·  Run 4 controlled synthetic scenario</a:t>
            </a:r>
          </a:p>
        </p:txBody>
      </p:sp>
      <p:pic>
        <p:nvPicPr>
          <p:cNvPr id="10" name="img_logo" descr="klarrow-k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331720"/>
            <a:ext cx="2971800" cy="2724912"/>
          </a:xfrm>
          <a:prstGeom prst="rect">
            <a:avLst/>
          </a:prstGeom>
        </p:spPr>
      </p:pic>
      <p:sp>
        <p:nvSpPr>
          <p:cNvPr id="11" name="bg"/>
          <p:cNvSpPr/>
          <p:nvPr/>
        </p:nvSpPr>
        <p:spPr>
          <a:xfrm>
            <a:off x="8366760" y="5394960"/>
            <a:ext cx="2971800" cy="22860"/>
          </a:xfrm>
          <a:prstGeom prst="rect">
            <a:avLst/>
          </a:prstGeom>
          <a:solidFill>
            <a:srgbClr val="A0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3_tag"/>
          <p:cNvSpPr txBox="1"/>
          <p:nvPr/>
        </p:nvSpPr>
        <p:spPr>
          <a:xfrm>
            <a:off x="8366760" y="553212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Human review. Source grounding. Explicit uncertainty.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kicker"/>
          <p:cNvSpPr txBox="1"/>
          <p:nvPr/>
        </p:nvSpPr>
        <p:spPr>
          <a:xfrm>
            <a:off x="731520" y="5029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9466C"/>
                </a:solidFill>
                <a:latin typeface="Segoe UI"/>
              </a:rPr>
              <a:t>THE INVESTIGATION MOMENT</a:t>
            </a:r>
          </a:p>
        </p:txBody>
      </p:sp>
      <p:sp>
        <p:nvSpPr>
          <p:cNvPr id="3" name="a2_title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400" b="1">
                <a:solidFill>
                  <a:srgbClr val="2D2F38"/>
                </a:solidFill>
                <a:latin typeface="Segoe UI Semibold"/>
              </a:rPr>
              <a:t>A supplier alert starts a document hunt,
not a clean database query.</a:t>
            </a:r>
          </a:p>
        </p:txBody>
      </p:sp>
      <p:sp>
        <p:nvSpPr>
          <p:cNvPr id="4" name="a2_num0"/>
          <p:cNvSpPr/>
          <p:nvPr/>
        </p:nvSpPr>
        <p:spPr>
          <a:xfrm>
            <a:off x="731520" y="169164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394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2_num0_t"/>
          <p:cNvSpPr txBox="1"/>
          <p:nvPr/>
        </p:nvSpPr>
        <p:spPr>
          <a:xfrm>
            <a:off x="731520" y="1810512"/>
            <a:ext cx="475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6" name="a2_q0"/>
          <p:cNvSpPr txBox="1"/>
          <p:nvPr/>
        </p:nvSpPr>
        <p:spPr>
          <a:xfrm>
            <a:off x="1389888" y="167335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D2F38"/>
                </a:solidFill>
                <a:latin typeface="Segoe UI Semibold"/>
              </a:rPr>
              <a:t>Which batches used the lot?</a:t>
            </a:r>
          </a:p>
        </p:txBody>
      </p:sp>
      <p:sp>
        <p:nvSpPr>
          <p:cNvPr id="7" name="a2_d0"/>
          <p:cNvSpPr txBox="1"/>
          <p:nvPr/>
        </p:nvSpPr>
        <p:spPr>
          <a:xfrm>
            <a:off x="1389888" y="2002536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Production sheets, batch records and stock ledgers rarely share one identifier.</a:t>
            </a:r>
          </a:p>
        </p:txBody>
      </p:sp>
      <p:sp>
        <p:nvSpPr>
          <p:cNvPr id="8" name="a2_num1"/>
          <p:cNvSpPr/>
          <p:nvPr/>
        </p:nvSpPr>
        <p:spPr>
          <a:xfrm>
            <a:off x="731520" y="286207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394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2_num1_t"/>
          <p:cNvSpPr txBox="1"/>
          <p:nvPr/>
        </p:nvSpPr>
        <p:spPr>
          <a:xfrm>
            <a:off x="731520" y="2980944"/>
            <a:ext cx="475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0" name="a2_q1"/>
          <p:cNvSpPr txBox="1"/>
          <p:nvPr/>
        </p:nvSpPr>
        <p:spPr>
          <a:xfrm>
            <a:off x="1389888" y="284378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D2F38"/>
                </a:solidFill>
                <a:latin typeface="Segoe UI Semibold"/>
              </a:rPr>
              <a:t>Which customers received them?</a:t>
            </a:r>
          </a:p>
        </p:txBody>
      </p:sp>
      <p:sp>
        <p:nvSpPr>
          <p:cNvPr id="11" name="a2_d1"/>
          <p:cNvSpPr txBox="1"/>
          <p:nvPr/>
        </p:nvSpPr>
        <p:spPr>
          <a:xfrm>
            <a:off x="1389888" y="3172968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Dispatch notes and invoices sit across warehouses, carriers and spreadsheets.</a:t>
            </a:r>
          </a:p>
        </p:txBody>
      </p:sp>
      <p:sp>
        <p:nvSpPr>
          <p:cNvPr id="12" name="a2_num2"/>
          <p:cNvSpPr/>
          <p:nvPr/>
        </p:nvSpPr>
        <p:spPr>
          <a:xfrm>
            <a:off x="731520" y="4032504"/>
            <a:ext cx="475488" cy="475488"/>
          </a:xfrm>
          <a:prstGeom prst="roundRect">
            <a:avLst>
              <a:gd name="adj" fmla="val 8000"/>
            </a:avLst>
          </a:prstGeom>
          <a:solidFill>
            <a:srgbClr val="394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2_num2_t"/>
          <p:cNvSpPr txBox="1"/>
          <p:nvPr/>
        </p:nvSpPr>
        <p:spPr>
          <a:xfrm>
            <a:off x="731520" y="4151376"/>
            <a:ext cx="475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4" name="a2_q2"/>
          <p:cNvSpPr txBox="1"/>
          <p:nvPr/>
        </p:nvSpPr>
        <p:spPr>
          <a:xfrm>
            <a:off x="1389888" y="4014216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D2F38"/>
                </a:solidFill>
                <a:latin typeface="Segoe UI Semibold"/>
              </a:rPr>
              <a:t>Where does the evidence stop lining up?</a:t>
            </a:r>
          </a:p>
        </p:txBody>
      </p:sp>
      <p:sp>
        <p:nvSpPr>
          <p:cNvPr id="15" name="a2_d2"/>
          <p:cNvSpPr txBox="1"/>
          <p:nvPr/>
        </p:nvSpPr>
        <p:spPr>
          <a:xfrm>
            <a:off x="1389888" y="4343400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Quantities disagree; records are missing; typos look like real lot codes.</a:t>
            </a:r>
          </a:p>
        </p:txBody>
      </p:sp>
      <p:sp>
        <p:nvSpPr>
          <p:cNvPr id="16" name="a3_docpanel"/>
          <p:cNvSpPr/>
          <p:nvPr/>
        </p:nvSpPr>
        <p:spPr>
          <a:xfrm>
            <a:off x="6629400" y="1234440"/>
            <a:ext cx="48006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3_dockicker"/>
          <p:cNvSpPr txBox="1"/>
          <p:nvPr/>
        </p:nvSpPr>
        <p:spPr>
          <a:xfrm>
            <a:off x="6903720" y="1481328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9466C"/>
                </a:solidFill>
                <a:latin typeface="Segoe UI"/>
              </a:rPr>
              <a:t>RECORDS ARRIVE IN DIFFERENT SHAPES</a:t>
            </a:r>
          </a:p>
        </p:txBody>
      </p:sp>
      <p:sp>
        <p:nvSpPr>
          <p:cNvPr id="18" name="a3_chip_PDF"/>
          <p:cNvSpPr/>
          <p:nvPr/>
        </p:nvSpPr>
        <p:spPr>
          <a:xfrm>
            <a:off x="7406640" y="1874519"/>
            <a:ext cx="960120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A0A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3_chip_PDF_t"/>
          <p:cNvSpPr txBox="1"/>
          <p:nvPr/>
        </p:nvSpPr>
        <p:spPr>
          <a:xfrm>
            <a:off x="7406640" y="2011679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39466C"/>
                </a:solidFill>
                <a:latin typeface="Segoe UI"/>
              </a:rPr>
              <a:t>PDF</a:t>
            </a:r>
          </a:p>
        </p:txBody>
      </p:sp>
      <p:sp>
        <p:nvSpPr>
          <p:cNvPr id="20" name="a3_chip_CSV"/>
          <p:cNvSpPr/>
          <p:nvPr/>
        </p:nvSpPr>
        <p:spPr>
          <a:xfrm>
            <a:off x="8778240" y="1874519"/>
            <a:ext cx="960120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A0A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3_chip_CSV_t"/>
          <p:cNvSpPr txBox="1"/>
          <p:nvPr/>
        </p:nvSpPr>
        <p:spPr>
          <a:xfrm>
            <a:off x="8778240" y="2011679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39466C"/>
                </a:solidFill>
                <a:latin typeface="Segoe UI"/>
              </a:rPr>
              <a:t>CSV</a:t>
            </a:r>
          </a:p>
        </p:txBody>
      </p:sp>
      <p:sp>
        <p:nvSpPr>
          <p:cNvPr id="22" name="a3_chip_XLSX"/>
          <p:cNvSpPr/>
          <p:nvPr/>
        </p:nvSpPr>
        <p:spPr>
          <a:xfrm>
            <a:off x="10149840" y="1874519"/>
            <a:ext cx="960120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A0A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3_chip_XLSX_t"/>
          <p:cNvSpPr txBox="1"/>
          <p:nvPr/>
        </p:nvSpPr>
        <p:spPr>
          <a:xfrm>
            <a:off x="10149840" y="2011679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39466C"/>
                </a:solidFill>
                <a:latin typeface="Segoe UI"/>
              </a:rPr>
              <a:t>XLSX</a:t>
            </a:r>
          </a:p>
        </p:txBody>
      </p:sp>
      <p:sp>
        <p:nvSpPr>
          <p:cNvPr id="24" name="a3_chip_LOG"/>
          <p:cNvSpPr/>
          <p:nvPr/>
        </p:nvSpPr>
        <p:spPr>
          <a:xfrm>
            <a:off x="8046720" y="2697479"/>
            <a:ext cx="960120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A0A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3_chip_LOG_t"/>
          <p:cNvSpPr txBox="1"/>
          <p:nvPr/>
        </p:nvSpPr>
        <p:spPr>
          <a:xfrm>
            <a:off x="8046720" y="2834639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39466C"/>
                </a:solidFill>
                <a:latin typeface="Segoe UI"/>
              </a:rPr>
              <a:t>LOG</a:t>
            </a:r>
          </a:p>
        </p:txBody>
      </p:sp>
      <p:sp>
        <p:nvSpPr>
          <p:cNvPr id="26" name="a3_chip_EML"/>
          <p:cNvSpPr/>
          <p:nvPr/>
        </p:nvSpPr>
        <p:spPr>
          <a:xfrm>
            <a:off x="9464040" y="2697479"/>
            <a:ext cx="960120" cy="502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A0A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3_chip_EML_t"/>
          <p:cNvSpPr txBox="1"/>
          <p:nvPr/>
        </p:nvSpPr>
        <p:spPr>
          <a:xfrm>
            <a:off x="9464040" y="2834639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39466C"/>
                </a:solidFill>
                <a:latin typeface="Segoe UI"/>
              </a:rPr>
              <a:t>EML</a:t>
            </a:r>
          </a:p>
        </p:txBody>
      </p:sp>
      <p:sp>
        <p:nvSpPr>
          <p:cNvPr id="28" name="a3_note1"/>
          <p:cNvSpPr txBox="1"/>
          <p:nvPr/>
        </p:nvSpPr>
        <p:spPr>
          <a:xfrm>
            <a:off x="7315200" y="34290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2F38"/>
                </a:solidFill>
                <a:latin typeface="Segoe UI"/>
              </a:rPr>
              <a:t>same lot, different identifiers</a:t>
            </a:r>
          </a:p>
        </p:txBody>
      </p:sp>
      <p:sp>
        <p:nvSpPr>
          <p:cNvPr id="29" name="a3_note2"/>
          <p:cNvSpPr txBox="1"/>
          <p:nvPr/>
        </p:nvSpPr>
        <p:spPr>
          <a:xfrm>
            <a:off x="7315200" y="373075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2F38"/>
                </a:solidFill>
                <a:latin typeface="Segoe UI"/>
              </a:rPr>
              <a:t>kg  vs  units</a:t>
            </a:r>
          </a:p>
        </p:txBody>
      </p:sp>
      <p:sp>
        <p:nvSpPr>
          <p:cNvPr id="30" name="a3_note3"/>
          <p:cNvSpPr txBox="1"/>
          <p:nvPr/>
        </p:nvSpPr>
        <p:spPr>
          <a:xfrm>
            <a:off x="7315200" y="403250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2F38"/>
                </a:solidFill>
                <a:latin typeface="Segoe UI"/>
              </a:rPr>
              <a:t>missing pages  ·  near-match codes</a:t>
            </a:r>
          </a:p>
        </p:txBody>
      </p:sp>
      <p:sp>
        <p:nvSpPr>
          <p:cNvPr id="31" name="a4_callout"/>
          <p:cNvSpPr txBox="1"/>
          <p:nvPr/>
        </p:nvSpPr>
        <p:spPr>
          <a:xfrm>
            <a:off x="749808" y="57150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39466C"/>
                </a:solidFill>
                <a:latin typeface="Segoe UI"/>
              </a:rPr>
              <a:t>The operator must assemble, challenge and document the evidence trail. Klarrow is designed for that moment - not to decide food safety.</a:t>
            </a:r>
          </a:p>
        </p:txBody>
      </p:sp>
      <p:sp>
        <p:nvSpPr>
          <p:cNvPr id="32" name="footer"/>
          <p:cNvSpPr txBox="1"/>
          <p:nvPr/>
        </p:nvSpPr>
        <p:spPr>
          <a:xfrm>
            <a:off x="73152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A0A6B4"/>
                </a:solidFill>
                <a:latin typeface="Segoe UI"/>
              </a:rPr>
              <a:t>Klarrow · evidence-reconciliation workbench</a:t>
            </a:r>
          </a:p>
        </p:txBody>
      </p:sp>
      <p:sp>
        <p:nvSpPr>
          <p:cNvPr id="33" name="footer"/>
          <p:cNvSpPr txBox="1"/>
          <p:nvPr/>
        </p:nvSpPr>
        <p:spPr>
          <a:xfrm>
            <a:off x="11155680" y="644652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0A6B4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9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4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85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3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7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2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65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1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5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45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9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35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125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17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215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6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30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/>
      <p:bldP spid="29" grpId="0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kicker"/>
          <p:cNvSpPr txBox="1"/>
          <p:nvPr/>
        </p:nvSpPr>
        <p:spPr>
          <a:xfrm>
            <a:off x="731520" y="5029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9466C"/>
                </a:solidFill>
                <a:latin typeface="Segoe UI"/>
              </a:rPr>
              <a:t>THE WORKBENCH</a:t>
            </a:r>
          </a:p>
        </p:txBody>
      </p:sp>
      <p:sp>
        <p:nvSpPr>
          <p:cNvPr id="3" name="a2_title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400" b="1">
                <a:solidFill>
                  <a:srgbClr val="2D2F38"/>
                </a:solidFill>
                <a:latin typeface="Segoe UI Semibold"/>
              </a:rPr>
              <a:t>One workbench: ingest, ground, review, trace, export.</a:t>
            </a:r>
          </a:p>
        </p:txBody>
      </p:sp>
      <p:sp>
        <p:nvSpPr>
          <p:cNvPr id="4" name="a2_step0"/>
          <p:cNvSpPr/>
          <p:nvPr/>
        </p:nvSpPr>
        <p:spPr>
          <a:xfrm>
            <a:off x="731520" y="132588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2_step0_n"/>
          <p:cNvSpPr txBox="1"/>
          <p:nvPr/>
        </p:nvSpPr>
        <p:spPr>
          <a:xfrm>
            <a:off x="841248" y="1444752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39466C"/>
                </a:solidFill>
                <a:latin typeface="Segoe UI"/>
              </a:rPr>
              <a:t>1</a:t>
            </a:r>
          </a:p>
        </p:txBody>
      </p:sp>
      <p:sp>
        <p:nvSpPr>
          <p:cNvPr id="6" name="a2_step0_t"/>
          <p:cNvSpPr txBox="1"/>
          <p:nvPr/>
        </p:nvSpPr>
        <p:spPr>
          <a:xfrm>
            <a:off x="1115568" y="14264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D2F38"/>
                </a:solidFill>
                <a:latin typeface="Segoe UI Semibold"/>
              </a:rPr>
              <a:t>Ingest</a:t>
            </a:r>
          </a:p>
        </p:txBody>
      </p:sp>
      <p:sp>
        <p:nvSpPr>
          <p:cNvPr id="7" name="a2_arrow0"/>
          <p:cNvSpPr txBox="1"/>
          <p:nvPr/>
        </p:nvSpPr>
        <p:spPr>
          <a:xfrm>
            <a:off x="2706624" y="141732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A0A6B4"/>
                </a:solidFill>
                <a:latin typeface="Segoe UI"/>
              </a:rPr>
              <a:t>›</a:t>
            </a:r>
          </a:p>
        </p:txBody>
      </p:sp>
      <p:sp>
        <p:nvSpPr>
          <p:cNvPr id="8" name="a2_step1"/>
          <p:cNvSpPr/>
          <p:nvPr/>
        </p:nvSpPr>
        <p:spPr>
          <a:xfrm>
            <a:off x="2944368" y="132588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2_step1_n"/>
          <p:cNvSpPr txBox="1"/>
          <p:nvPr/>
        </p:nvSpPr>
        <p:spPr>
          <a:xfrm>
            <a:off x="3054096" y="1444752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39466C"/>
                </a:solidFill>
                <a:latin typeface="Segoe UI"/>
              </a:rPr>
              <a:t>2</a:t>
            </a:r>
          </a:p>
        </p:txBody>
      </p:sp>
      <p:sp>
        <p:nvSpPr>
          <p:cNvPr id="10" name="a2_step1_t"/>
          <p:cNvSpPr txBox="1"/>
          <p:nvPr/>
        </p:nvSpPr>
        <p:spPr>
          <a:xfrm>
            <a:off x="3328415" y="14264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D2F38"/>
                </a:solidFill>
                <a:latin typeface="Segoe UI Semibold"/>
              </a:rPr>
              <a:t>Extract</a:t>
            </a:r>
          </a:p>
        </p:txBody>
      </p:sp>
      <p:sp>
        <p:nvSpPr>
          <p:cNvPr id="11" name="a2_arrow1"/>
          <p:cNvSpPr txBox="1"/>
          <p:nvPr/>
        </p:nvSpPr>
        <p:spPr>
          <a:xfrm>
            <a:off x="4919472" y="141732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A0A6B4"/>
                </a:solidFill>
                <a:latin typeface="Segoe UI"/>
              </a:rPr>
              <a:t>›</a:t>
            </a:r>
          </a:p>
        </p:txBody>
      </p:sp>
      <p:sp>
        <p:nvSpPr>
          <p:cNvPr id="12" name="a2_step2"/>
          <p:cNvSpPr/>
          <p:nvPr/>
        </p:nvSpPr>
        <p:spPr>
          <a:xfrm>
            <a:off x="5157216" y="132588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2_step2_n"/>
          <p:cNvSpPr txBox="1"/>
          <p:nvPr/>
        </p:nvSpPr>
        <p:spPr>
          <a:xfrm>
            <a:off x="5266944" y="1444752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39466C"/>
                </a:solidFill>
                <a:latin typeface="Segoe UI"/>
              </a:rPr>
              <a:t>3</a:t>
            </a:r>
          </a:p>
        </p:txBody>
      </p:sp>
      <p:sp>
        <p:nvSpPr>
          <p:cNvPr id="14" name="a2_step2_t"/>
          <p:cNvSpPr txBox="1"/>
          <p:nvPr/>
        </p:nvSpPr>
        <p:spPr>
          <a:xfrm>
            <a:off x="5541264" y="14264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D2F38"/>
                </a:solidFill>
                <a:latin typeface="Segoe UI Semibold"/>
              </a:rPr>
              <a:t>Ground</a:t>
            </a:r>
          </a:p>
        </p:txBody>
      </p:sp>
      <p:sp>
        <p:nvSpPr>
          <p:cNvPr id="15" name="a2_arrow2"/>
          <p:cNvSpPr txBox="1"/>
          <p:nvPr/>
        </p:nvSpPr>
        <p:spPr>
          <a:xfrm>
            <a:off x="7132320" y="141732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A0A6B4"/>
                </a:solidFill>
                <a:latin typeface="Segoe UI"/>
              </a:rPr>
              <a:t>›</a:t>
            </a:r>
          </a:p>
        </p:txBody>
      </p:sp>
      <p:sp>
        <p:nvSpPr>
          <p:cNvPr id="16" name="a2_step3"/>
          <p:cNvSpPr/>
          <p:nvPr/>
        </p:nvSpPr>
        <p:spPr>
          <a:xfrm>
            <a:off x="7370064" y="132588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2_step3_n"/>
          <p:cNvSpPr txBox="1"/>
          <p:nvPr/>
        </p:nvSpPr>
        <p:spPr>
          <a:xfrm>
            <a:off x="7479792" y="1444752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39466C"/>
                </a:solidFill>
                <a:latin typeface="Segoe UI"/>
              </a:rPr>
              <a:t>4</a:t>
            </a:r>
          </a:p>
        </p:txBody>
      </p:sp>
      <p:sp>
        <p:nvSpPr>
          <p:cNvPr id="18" name="a2_step3_t"/>
          <p:cNvSpPr txBox="1"/>
          <p:nvPr/>
        </p:nvSpPr>
        <p:spPr>
          <a:xfrm>
            <a:off x="7754112" y="14264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D2F38"/>
                </a:solidFill>
                <a:latin typeface="Segoe UI Semibold"/>
              </a:rPr>
              <a:t>Review</a:t>
            </a:r>
          </a:p>
        </p:txBody>
      </p:sp>
      <p:sp>
        <p:nvSpPr>
          <p:cNvPr id="19" name="a2_arrow3"/>
          <p:cNvSpPr txBox="1"/>
          <p:nvPr/>
        </p:nvSpPr>
        <p:spPr>
          <a:xfrm>
            <a:off x="9345168" y="141732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A0A6B4"/>
                </a:solidFill>
                <a:latin typeface="Segoe UI"/>
              </a:rPr>
              <a:t>›</a:t>
            </a:r>
          </a:p>
        </p:txBody>
      </p:sp>
      <p:sp>
        <p:nvSpPr>
          <p:cNvPr id="20" name="a2_step4"/>
          <p:cNvSpPr/>
          <p:nvPr/>
        </p:nvSpPr>
        <p:spPr>
          <a:xfrm>
            <a:off x="9582912" y="132588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2_step4_n"/>
          <p:cNvSpPr txBox="1"/>
          <p:nvPr/>
        </p:nvSpPr>
        <p:spPr>
          <a:xfrm>
            <a:off x="9692640" y="1444752"/>
            <a:ext cx="228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39466C"/>
                </a:solidFill>
                <a:latin typeface="Segoe UI"/>
              </a:rPr>
              <a:t>5</a:t>
            </a:r>
          </a:p>
        </p:txBody>
      </p:sp>
      <p:sp>
        <p:nvSpPr>
          <p:cNvPr id="22" name="a2_step4_t"/>
          <p:cNvSpPr txBox="1"/>
          <p:nvPr/>
        </p:nvSpPr>
        <p:spPr>
          <a:xfrm>
            <a:off x="9966960" y="14264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D2F38"/>
                </a:solidFill>
                <a:latin typeface="Segoe UI Semibold"/>
              </a:rPr>
              <a:t>Trace &amp; export</a:t>
            </a:r>
          </a:p>
        </p:txBody>
      </p:sp>
      <p:pic>
        <p:nvPicPr>
          <p:cNvPr id="23" name="img_evidence" descr="evidence-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6812280" cy="3401568"/>
          </a:xfrm>
          <a:prstGeom prst="rect">
            <a:avLst/>
          </a:prstGeom>
        </p:spPr>
      </p:pic>
      <p:sp>
        <p:nvSpPr>
          <p:cNvPr id="24" name="a3_panel"/>
          <p:cNvSpPr/>
          <p:nvPr/>
        </p:nvSpPr>
        <p:spPr>
          <a:xfrm>
            <a:off x="7818120" y="2423160"/>
            <a:ext cx="3611880" cy="340156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3_kicker"/>
          <p:cNvSpPr txBox="1"/>
          <p:nvPr/>
        </p:nvSpPr>
        <p:spPr>
          <a:xfrm>
            <a:off x="8046720" y="265176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9466C"/>
                </a:solidFill>
                <a:latin typeface="Segoe UI"/>
              </a:rPr>
              <a:t>SUPPORTED INPUTS</a:t>
            </a:r>
          </a:p>
        </p:txBody>
      </p:sp>
      <p:sp>
        <p:nvSpPr>
          <p:cNvPr id="26" name="a3_body"/>
          <p:cNvSpPr txBox="1"/>
          <p:nvPr/>
        </p:nvSpPr>
        <p:spPr>
          <a:xfrm>
            <a:off x="8046720" y="2907792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2D2F38"/>
                </a:solidFill>
                <a:latin typeface="Segoe UI"/>
              </a:rPr>
              <a:t>Text · CSV/TSV · Excel · EML · logs · text-selectable PDF</a:t>
            </a:r>
          </a:p>
        </p:txBody>
      </p:sp>
      <p:sp>
        <p:nvSpPr>
          <p:cNvPr id="27" name="a3_kicker2"/>
          <p:cNvSpPr txBox="1"/>
          <p:nvPr/>
        </p:nvSpPr>
        <p:spPr>
          <a:xfrm>
            <a:off x="8046720" y="361188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7791F"/>
                </a:solidFill>
                <a:latin typeface="Segoe UI"/>
              </a:rPr>
              <a:t>HONEST BOUNDARY</a:t>
            </a:r>
          </a:p>
        </p:txBody>
      </p:sp>
      <p:sp>
        <p:nvSpPr>
          <p:cNvPr id="28" name="a3_body2"/>
          <p:cNvSpPr txBox="1"/>
          <p:nvPr/>
        </p:nvSpPr>
        <p:spPr>
          <a:xfrm>
            <a:off x="8046720" y="3867912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 b="0">
                <a:solidFill>
                  <a:srgbClr val="2D2F38"/>
                </a:solidFill>
                <a:latin typeface="Segoe UI"/>
              </a:rPr>
              <a:t>Images and scanned PDFs are retained but not OCR'd. The prototype does not read handwriting or photographs.</a:t>
            </a:r>
          </a:p>
        </p:txBody>
      </p:sp>
      <p:sp>
        <p:nvSpPr>
          <p:cNvPr id="29" name="a3_note"/>
          <p:cNvSpPr txBox="1"/>
          <p:nvPr/>
        </p:nvSpPr>
        <p:spPr>
          <a:xfrm>
            <a:off x="8046720" y="48920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39466C"/>
                </a:solidFill>
                <a:latin typeface="Segoe UI"/>
              </a:rPr>
              <a:t>Klarrow sits beside the system of record. It does not replace the ERP.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73152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A0A6B4"/>
                </a:solidFill>
                <a:latin typeface="Segoe UI"/>
              </a:rPr>
              <a:t>Klarrow · evidence-reconciliation workbench</a:t>
            </a:r>
          </a:p>
        </p:txBody>
      </p:sp>
      <p:sp>
        <p:nvSpPr>
          <p:cNvPr id="31" name="footer"/>
          <p:cNvSpPr txBox="1"/>
          <p:nvPr/>
        </p:nvSpPr>
        <p:spPr>
          <a:xfrm>
            <a:off x="11155680" y="644652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0A6B4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9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4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85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3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7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2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65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1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5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4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9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35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125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17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215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4" grpId="0" animBg="1"/>
      <p:bldP spid="25" grpId="0"/>
      <p:bldP spid="26" grpId="0"/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kicker"/>
          <p:cNvSpPr txBox="1"/>
          <p:nvPr/>
        </p:nvSpPr>
        <p:spPr>
          <a:xfrm>
            <a:off x="731520" y="5029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9466C"/>
                </a:solidFill>
                <a:latin typeface="Segoe UI"/>
              </a:rPr>
              <a:t>THE AI ROLE</a:t>
            </a:r>
          </a:p>
        </p:txBody>
      </p:sp>
      <p:sp>
        <p:nvSpPr>
          <p:cNvPr id="3" name="a2_title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400" b="1">
                <a:solidFill>
                  <a:srgbClr val="2D2F38"/>
                </a:solidFill>
                <a:latin typeface="Segoe UI Semibold"/>
              </a:rPr>
              <a:t>Meta Llama proposes candidate facts.
Deterministic code and people decide.</a:t>
            </a:r>
          </a:p>
        </p:txBody>
      </p:sp>
      <p:pic>
        <p:nvPicPr>
          <p:cNvPr id="4" name="img_claims" descr="claims-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6629400" cy="3977639"/>
          </a:xfrm>
          <a:prstGeom prst="rect">
            <a:avLst/>
          </a:prstGeom>
        </p:spPr>
      </p:pic>
      <p:sp>
        <p:nvSpPr>
          <p:cNvPr id="5" name="a2_role0"/>
          <p:cNvSpPr/>
          <p:nvPr/>
        </p:nvSpPr>
        <p:spPr>
          <a:xfrm>
            <a:off x="7635240" y="1627632"/>
            <a:ext cx="379476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2_role0_h"/>
          <p:cNvSpPr txBox="1"/>
          <p:nvPr/>
        </p:nvSpPr>
        <p:spPr>
          <a:xfrm>
            <a:off x="7818120" y="1737360"/>
            <a:ext cx="3429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39466C"/>
                </a:solidFill>
                <a:latin typeface="Segoe UI"/>
              </a:rPr>
              <a:t>LOCAL META LLAMA 3.2 3B</a:t>
            </a:r>
          </a:p>
        </p:txBody>
      </p:sp>
      <p:sp>
        <p:nvSpPr>
          <p:cNvPr id="7" name="a2_role0_b"/>
          <p:cNvSpPr txBox="1"/>
          <p:nvPr/>
        </p:nvSpPr>
        <p:spPr>
          <a:xfrm>
            <a:off x="7818120" y="1965960"/>
            <a:ext cx="3383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D2F38"/>
                </a:solidFill>
                <a:latin typeface="Segoe UI"/>
              </a:rPr>
              <a:t>Candidate fact extraction from supported text. No cloud model call in this run.</a:t>
            </a:r>
          </a:p>
        </p:txBody>
      </p:sp>
      <p:sp>
        <p:nvSpPr>
          <p:cNvPr id="8" name="a2_role1"/>
          <p:cNvSpPr/>
          <p:nvPr/>
        </p:nvSpPr>
        <p:spPr>
          <a:xfrm>
            <a:off x="7635240" y="2953512"/>
            <a:ext cx="379476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2_role1_h"/>
          <p:cNvSpPr txBox="1"/>
          <p:nvPr/>
        </p:nvSpPr>
        <p:spPr>
          <a:xfrm>
            <a:off x="7818120" y="3063240"/>
            <a:ext cx="3429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39466C"/>
                </a:solidFill>
                <a:latin typeface="Segoe UI"/>
              </a:rPr>
              <a:t>DETERMINISTIC PARSERS</a:t>
            </a:r>
          </a:p>
        </p:txBody>
      </p:sp>
      <p:sp>
        <p:nvSpPr>
          <p:cNvPr id="10" name="a2_role1_b"/>
          <p:cNvSpPr txBox="1"/>
          <p:nvPr/>
        </p:nvSpPr>
        <p:spPr>
          <a:xfrm>
            <a:off x="7818120" y="3291840"/>
            <a:ext cx="3383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D2F38"/>
                </a:solidFill>
                <a:latin typeface="Segoe UI"/>
              </a:rPr>
              <a:t>Structured rows, lots, quantities and trace-link proposals. Graph traversal is code, not the model.</a:t>
            </a:r>
          </a:p>
        </p:txBody>
      </p:sp>
      <p:sp>
        <p:nvSpPr>
          <p:cNvPr id="11" name="a2_role2"/>
          <p:cNvSpPr/>
          <p:nvPr/>
        </p:nvSpPr>
        <p:spPr>
          <a:xfrm>
            <a:off x="7635240" y="4279392"/>
            <a:ext cx="379476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2_role2_h"/>
          <p:cNvSpPr txBox="1"/>
          <p:nvPr/>
        </p:nvSpPr>
        <p:spPr>
          <a:xfrm>
            <a:off x="7818120" y="4389120"/>
            <a:ext cx="3429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2F6B52"/>
                </a:solidFill>
                <a:latin typeface="Segoe UI"/>
              </a:rPr>
              <a:t>HUMAN REVIEWER</a:t>
            </a:r>
          </a:p>
        </p:txBody>
      </p:sp>
      <p:sp>
        <p:nvSpPr>
          <p:cNvPr id="13" name="a2_role2_b"/>
          <p:cNvSpPr txBox="1"/>
          <p:nvPr/>
        </p:nvSpPr>
        <p:spPr>
          <a:xfrm>
            <a:off x="7818120" y="4617720"/>
            <a:ext cx="3383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D2F38"/>
                </a:solidFill>
                <a:latin typeface="Segoe UI"/>
              </a:rPr>
              <a:t>Confirms, rejects or edits with a reason. Every decision is written to the audit trail.</a:t>
            </a:r>
          </a:p>
        </p:txBody>
      </p:sp>
      <p:sp>
        <p:nvSpPr>
          <p:cNvPr id="14" name="a4_metric0"/>
          <p:cNvSpPr/>
          <p:nvPr/>
        </p:nvSpPr>
        <p:spPr>
          <a:xfrm>
            <a:off x="731520" y="5650992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4_metric0_v"/>
          <p:cNvSpPr txBox="1"/>
          <p:nvPr/>
        </p:nvSpPr>
        <p:spPr>
          <a:xfrm>
            <a:off x="859536" y="576072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F6B52"/>
                </a:solidFill>
                <a:latin typeface="Segoe UI Semibold"/>
              </a:rPr>
              <a:t>15</a:t>
            </a:r>
          </a:p>
        </p:txBody>
      </p:sp>
      <p:sp>
        <p:nvSpPr>
          <p:cNvPr id="16" name="a4_metric0_l"/>
          <p:cNvSpPr txBox="1"/>
          <p:nvPr/>
        </p:nvSpPr>
        <p:spPr>
          <a:xfrm>
            <a:off x="859536" y="6126479"/>
            <a:ext cx="17556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6B7280"/>
                </a:solidFill>
                <a:latin typeface="Segoe UI"/>
              </a:rPr>
              <a:t>AI rows</a:t>
            </a:r>
          </a:p>
        </p:txBody>
      </p:sp>
      <p:sp>
        <p:nvSpPr>
          <p:cNvPr id="17" name="a4_metric1"/>
          <p:cNvSpPr/>
          <p:nvPr/>
        </p:nvSpPr>
        <p:spPr>
          <a:xfrm>
            <a:off x="2944368" y="5650992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4_metric1_v"/>
          <p:cNvSpPr txBox="1"/>
          <p:nvPr/>
        </p:nvSpPr>
        <p:spPr>
          <a:xfrm>
            <a:off x="3072384" y="576072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F6B52"/>
                </a:solidFill>
                <a:latin typeface="Segoe UI Semibold"/>
              </a:rPr>
              <a:t>35</a:t>
            </a:r>
          </a:p>
        </p:txBody>
      </p:sp>
      <p:sp>
        <p:nvSpPr>
          <p:cNvPr id="19" name="a4_metric1_l"/>
          <p:cNvSpPr txBox="1"/>
          <p:nvPr/>
        </p:nvSpPr>
        <p:spPr>
          <a:xfrm>
            <a:off x="3072384" y="6126479"/>
            <a:ext cx="17556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6B7280"/>
                </a:solidFill>
                <a:latin typeface="Segoe UI"/>
              </a:rPr>
              <a:t>parser rows</a:t>
            </a:r>
          </a:p>
        </p:txBody>
      </p:sp>
      <p:sp>
        <p:nvSpPr>
          <p:cNvPr id="20" name="a4_metric2"/>
          <p:cNvSpPr/>
          <p:nvPr/>
        </p:nvSpPr>
        <p:spPr>
          <a:xfrm>
            <a:off x="5157216" y="5650992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4_metric2_v"/>
          <p:cNvSpPr txBox="1"/>
          <p:nvPr/>
        </p:nvSpPr>
        <p:spPr>
          <a:xfrm>
            <a:off x="5285231" y="576072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9466C"/>
                </a:solidFill>
                <a:latin typeface="Segoe UI Semibold"/>
              </a:rPr>
              <a:t>4</a:t>
            </a:r>
          </a:p>
        </p:txBody>
      </p:sp>
      <p:sp>
        <p:nvSpPr>
          <p:cNvPr id="22" name="a4_metric2_l"/>
          <p:cNvSpPr txBox="1"/>
          <p:nvPr/>
        </p:nvSpPr>
        <p:spPr>
          <a:xfrm>
            <a:off x="5285231" y="6126479"/>
            <a:ext cx="17556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6B7280"/>
                </a:solidFill>
                <a:latin typeface="Segoe UI"/>
              </a:rPr>
              <a:t>value-in-quote</a:t>
            </a:r>
          </a:p>
        </p:txBody>
      </p:sp>
      <p:sp>
        <p:nvSpPr>
          <p:cNvPr id="23" name="a4_metric3"/>
          <p:cNvSpPr/>
          <p:nvPr/>
        </p:nvSpPr>
        <p:spPr>
          <a:xfrm>
            <a:off x="7370064" y="5650992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4_metric3_v"/>
          <p:cNvSpPr txBox="1"/>
          <p:nvPr/>
        </p:nvSpPr>
        <p:spPr>
          <a:xfrm>
            <a:off x="7498080" y="576072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B7791F"/>
                </a:solidFill>
                <a:latin typeface="Segoe UI Semibold"/>
              </a:rPr>
              <a:t>3</a:t>
            </a:r>
          </a:p>
        </p:txBody>
      </p:sp>
      <p:sp>
        <p:nvSpPr>
          <p:cNvPr id="25" name="a4_metric3_l"/>
          <p:cNvSpPr txBox="1"/>
          <p:nvPr/>
        </p:nvSpPr>
        <p:spPr>
          <a:xfrm>
            <a:off x="7498080" y="6126479"/>
            <a:ext cx="17556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6B7280"/>
                </a:solidFill>
                <a:latin typeface="Segoe UI"/>
              </a:rPr>
              <a:t>adjacent context</a:t>
            </a:r>
          </a:p>
        </p:txBody>
      </p:sp>
      <p:sp>
        <p:nvSpPr>
          <p:cNvPr id="26" name="a4_metric4"/>
          <p:cNvSpPr/>
          <p:nvPr/>
        </p:nvSpPr>
        <p:spPr>
          <a:xfrm>
            <a:off x="9582912" y="5650992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4_metric4_v"/>
          <p:cNvSpPr txBox="1"/>
          <p:nvPr/>
        </p:nvSpPr>
        <p:spPr>
          <a:xfrm>
            <a:off x="9710928" y="576072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B7791F"/>
                </a:solidFill>
                <a:latin typeface="Segoe UI Semibold"/>
              </a:rPr>
              <a:t>8</a:t>
            </a:r>
          </a:p>
        </p:txBody>
      </p:sp>
      <p:sp>
        <p:nvSpPr>
          <p:cNvPr id="28" name="a4_metric4_l"/>
          <p:cNvSpPr txBox="1"/>
          <p:nvPr/>
        </p:nvSpPr>
        <p:spPr>
          <a:xfrm>
            <a:off x="9710928" y="6126479"/>
            <a:ext cx="17556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6B7280"/>
                </a:solidFill>
                <a:latin typeface="Segoe UI"/>
              </a:rPr>
              <a:t>identifier-only</a:t>
            </a:r>
          </a:p>
        </p:txBody>
      </p:sp>
      <p:sp>
        <p:nvSpPr>
          <p:cNvPr id="29" name="a5_note"/>
          <p:cNvSpPr txBox="1"/>
          <p:nvPr/>
        </p:nvSpPr>
        <p:spPr>
          <a:xfrm>
            <a:off x="749808" y="6382512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>
                <a:solidFill>
                  <a:srgbClr val="6B7280"/>
                </a:solidFill>
                <a:latin typeface="Segoe UI"/>
              </a:rPr>
              <a:t>Run 4 · one authored seven-document scenario · 15 AI rows contain duplicate values; this is not 15 unique discoveries. No unique AI-only raw token was established.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73152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A0A6B4"/>
                </a:solidFill>
                <a:latin typeface="Segoe UI"/>
              </a:rPr>
              <a:t>Klarrow · evidence-reconciliation workbench</a:t>
            </a:r>
          </a:p>
        </p:txBody>
      </p:sp>
      <p:sp>
        <p:nvSpPr>
          <p:cNvPr id="31" name="footer"/>
          <p:cNvSpPr txBox="1"/>
          <p:nvPr/>
        </p:nvSpPr>
        <p:spPr>
          <a:xfrm>
            <a:off x="11155680" y="644652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0A6B4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9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4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85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3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7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2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65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1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5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45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9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35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125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17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215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kicker"/>
          <p:cNvSpPr txBox="1"/>
          <p:nvPr/>
        </p:nvSpPr>
        <p:spPr>
          <a:xfrm>
            <a:off x="731520" y="5029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9466C"/>
                </a:solidFill>
                <a:latin typeface="Segoe UI"/>
              </a:rPr>
              <a:t>THE HUMAN GATE</a:t>
            </a:r>
          </a:p>
        </p:txBody>
      </p:sp>
      <p:sp>
        <p:nvSpPr>
          <p:cNvPr id="3" name="a2_title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400" b="1">
                <a:solidFill>
                  <a:srgbClr val="2D2F38"/>
                </a:solidFill>
                <a:latin typeface="Segoe UI Semibold"/>
              </a:rPr>
              <a:t>A relationship is not confirmed just because
a model proposed it.</a:t>
            </a:r>
          </a:p>
        </p:txBody>
      </p:sp>
      <p:pic>
        <p:nvPicPr>
          <p:cNvPr id="4" name="img_links" descr="trace-links-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6537960" cy="4041648"/>
          </a:xfrm>
          <a:prstGeom prst="rect">
            <a:avLst/>
          </a:prstGeom>
        </p:spPr>
      </p:pic>
      <p:sp>
        <p:nvSpPr>
          <p:cNvPr id="5" name="a2_panel"/>
          <p:cNvSpPr/>
          <p:nvPr/>
        </p:nvSpPr>
        <p:spPr>
          <a:xfrm>
            <a:off x="7589520" y="1600200"/>
            <a:ext cx="3840480" cy="404164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2_kicker"/>
          <p:cNvSpPr txBox="1"/>
          <p:nvPr/>
        </p:nvSpPr>
        <p:spPr>
          <a:xfrm>
            <a:off x="7818120" y="1810512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9466C"/>
                </a:solidFill>
                <a:latin typeface="Segoe UI"/>
              </a:rPr>
              <a:t>RUN 4 REVIEW OUTCOME</a:t>
            </a:r>
          </a:p>
        </p:txBody>
      </p:sp>
      <p:sp>
        <p:nvSpPr>
          <p:cNvPr id="7" name="a2_body"/>
          <p:cNvSpPr txBox="1"/>
          <p:nvPr/>
        </p:nvSpPr>
        <p:spPr>
          <a:xfrm>
            <a:off x="7818120" y="2103120"/>
            <a:ext cx="333756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50" b="1">
                <a:solidFill>
                  <a:srgbClr val="39466C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8 relationship proposals.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50" b="1">
                <a:solidFill>
                  <a:srgbClr val="39466C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7 confirmed by the operator; 1 rejected.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50" b="1">
                <a:solidFill>
                  <a:srgbClr val="39466C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The rejected link is a false-positive dispatch phrase: "Run 2 output: PB-2026-1013-B".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50" b="1">
                <a:solidFill>
                  <a:srgbClr val="39466C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RM-O873 / RM-0873 alias deferred, not silently merged.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50" b="1">
                <a:solidFill>
                  <a:srgbClr val="39466C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Supporting facts reviewed for confirmed links; 36 facts remain unreviewed.</a:t>
            </a:r>
          </a:p>
        </p:txBody>
      </p:sp>
      <p:sp>
        <p:nvSpPr>
          <p:cNvPr id="8" name="a3_note"/>
          <p:cNvSpPr txBox="1"/>
          <p:nvPr/>
        </p:nvSpPr>
        <p:spPr>
          <a:xfrm>
            <a:off x="7818120" y="48920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39466C"/>
                </a:solidFill>
                <a:latin typeface="Segoe UI"/>
              </a:rPr>
              <a:t>Confirmation records a human decision. It is not independent proof of truth.</a:t>
            </a:r>
          </a:p>
        </p:txBody>
      </p:sp>
      <p:sp>
        <p:nvSpPr>
          <p:cNvPr id="9" name="a4_note"/>
          <p:cNvSpPr txBox="1"/>
          <p:nvPr/>
        </p:nvSpPr>
        <p:spPr>
          <a:xfrm>
            <a:off x="749808" y="598932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The false positive is a feature of the demo, not a hidden failure: the gate caught it before it entered confirmed scope.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73152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A0A6B4"/>
                </a:solidFill>
                <a:latin typeface="Segoe UI"/>
              </a:rPr>
              <a:t>Klarrow · evidence-reconciliation workbench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11155680" y="644652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0A6B4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animBg="1"/>
      <p:bldP spid="6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kicker"/>
          <p:cNvSpPr txBox="1"/>
          <p:nvPr/>
        </p:nvSpPr>
        <p:spPr>
          <a:xfrm>
            <a:off x="731520" y="5029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9466C"/>
                </a:solidFill>
                <a:latin typeface="Segoe UI"/>
              </a:rPr>
              <a:t>THE TRACE</a:t>
            </a:r>
          </a:p>
        </p:txBody>
      </p:sp>
      <p:sp>
        <p:nvSpPr>
          <p:cNvPr id="3" name="a2_title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400" b="1">
                <a:solidFill>
                  <a:srgbClr val="2D2F38"/>
                </a:solidFill>
                <a:latin typeface="Segoe UI Semibold"/>
              </a:rPr>
              <a:t>The trace separates confirmed scope
from possible exposure.</a:t>
            </a:r>
          </a:p>
        </p:txBody>
      </p:sp>
      <p:pic>
        <p:nvPicPr>
          <p:cNvPr id="4" name="img_trace" descr="trace-top-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6080760" cy="4434840"/>
          </a:xfrm>
          <a:prstGeom prst="rect">
            <a:avLst/>
          </a:prstGeom>
        </p:spPr>
      </p:pic>
      <p:sp>
        <p:nvSpPr>
          <p:cNvPr id="5" name="a2_panel"/>
          <p:cNvSpPr/>
          <p:nvPr/>
        </p:nvSpPr>
        <p:spPr>
          <a:xfrm>
            <a:off x="7863840" y="150876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2_kicker"/>
          <p:cNvSpPr txBox="1"/>
          <p:nvPr/>
        </p:nvSpPr>
        <p:spPr>
          <a:xfrm>
            <a:off x="8092440" y="173736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9466C"/>
                </a:solidFill>
                <a:latin typeface="Segoe UI"/>
              </a:rPr>
              <a:t>RUN 4 SNAPSHOT</a:t>
            </a:r>
          </a:p>
        </p:txBody>
      </p:sp>
      <p:sp>
        <p:nvSpPr>
          <p:cNvPr id="7" name="a2_conf"/>
          <p:cNvSpPr txBox="1"/>
          <p:nvPr/>
        </p:nvSpPr>
        <p:spPr>
          <a:xfrm>
            <a:off x="8092440" y="2029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F6B52"/>
                </a:solidFill>
                <a:latin typeface="Segoe UI"/>
              </a:rPr>
              <a:t>Confirmed</a:t>
            </a:r>
          </a:p>
        </p:txBody>
      </p:sp>
      <p:sp>
        <p:nvSpPr>
          <p:cNvPr id="8" name="a2_confv"/>
          <p:cNvSpPr txBox="1"/>
          <p:nvPr/>
        </p:nvSpPr>
        <p:spPr>
          <a:xfrm>
            <a:off x="8092440" y="2267712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2F38"/>
                </a:solidFill>
                <a:latin typeface="Segoe UI"/>
              </a:rPr>
              <a:t>FL-1021A  →  Bosveld + Highveld</a:t>
            </a:r>
          </a:p>
        </p:txBody>
      </p:sp>
      <p:sp>
        <p:nvSpPr>
          <p:cNvPr id="9" name="a2_out"/>
          <p:cNvSpPr txBox="1"/>
          <p:nvPr/>
        </p:nvSpPr>
        <p:spPr>
          <a:xfrm>
            <a:off x="8092440" y="278892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7791F"/>
                </a:solidFill>
                <a:latin typeface="Segoe UI"/>
              </a:rPr>
              <a:t>Outside this trace</a:t>
            </a:r>
          </a:p>
        </p:txBody>
      </p:sp>
      <p:sp>
        <p:nvSpPr>
          <p:cNvPr id="10" name="a2_outv"/>
          <p:cNvSpPr txBox="1"/>
          <p:nvPr/>
        </p:nvSpPr>
        <p:spPr>
          <a:xfrm>
            <a:off x="8092440" y="3026664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D2F38"/>
                </a:solidFill>
                <a:latin typeface="Segoe UI"/>
              </a:rPr>
              <a:t>FL-1034C stays outside the RM-0873 trace while the RM-O873 alias is deferred.</a:t>
            </a:r>
          </a:p>
        </p:txBody>
      </p:sp>
      <p:sp>
        <p:nvSpPr>
          <p:cNvPr id="11" name="a2_pos"/>
          <p:cNvSpPr txBox="1"/>
          <p:nvPr/>
        </p:nvSpPr>
        <p:spPr>
          <a:xfrm>
            <a:off x="8092440" y="370332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B7280"/>
                </a:solidFill>
                <a:latin typeface="Segoe UI"/>
              </a:rPr>
              <a:t>Possible scope</a:t>
            </a:r>
          </a:p>
        </p:txBody>
      </p:sp>
      <p:sp>
        <p:nvSpPr>
          <p:cNvPr id="12" name="a2_posv"/>
          <p:cNvSpPr txBox="1"/>
          <p:nvPr/>
        </p:nvSpPr>
        <p:spPr>
          <a:xfrm>
            <a:off x="8092440" y="3941063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D2F38"/>
                </a:solidFill>
                <a:latin typeface="Segoe UI"/>
              </a:rPr>
              <a:t>Empty in this snapshot.</a:t>
            </a:r>
          </a:p>
        </p:txBody>
      </p:sp>
      <p:sp>
        <p:nvSpPr>
          <p:cNvPr id="13" name="a2_mb"/>
          <p:cNvSpPr txBox="1"/>
          <p:nvPr/>
        </p:nvSpPr>
        <p:spPr>
          <a:xfrm>
            <a:off x="8092440" y="434340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7791F"/>
                </a:solidFill>
                <a:latin typeface="Segoe UI"/>
              </a:rPr>
              <a:t>Mass balance</a:t>
            </a:r>
          </a:p>
        </p:txBody>
      </p:sp>
      <p:sp>
        <p:nvSpPr>
          <p:cNvPr id="14" name="a2_mbv"/>
          <p:cNvSpPr txBox="1"/>
          <p:nvPr/>
        </p:nvSpPr>
        <p:spPr>
          <a:xfrm>
            <a:off x="8092440" y="4581144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D2F38"/>
                </a:solidFill>
                <a:latin typeface="Segoe UI"/>
              </a:rPr>
              <a:t>Insufficient: 320 kg input vs 6,600 units output. No conversion invented.</a:t>
            </a:r>
          </a:p>
        </p:txBody>
      </p:sp>
      <p:sp>
        <p:nvSpPr>
          <p:cNvPr id="15" name="a2_find"/>
          <p:cNvSpPr txBox="1"/>
          <p:nvPr/>
        </p:nvSpPr>
        <p:spPr>
          <a:xfrm>
            <a:off x="8092440" y="49834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39466C"/>
                </a:solidFill>
                <a:latin typeface="Segoe UI"/>
              </a:rPr>
              <a:t>3 open findings</a:t>
            </a:r>
          </a:p>
        </p:txBody>
      </p:sp>
      <p:sp>
        <p:nvSpPr>
          <p:cNvPr id="16" name="a3_note"/>
          <p:cNvSpPr txBox="1"/>
          <p:nvPr/>
        </p:nvSpPr>
        <p:spPr>
          <a:xfrm>
            <a:off x="8092440" y="57607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B7280"/>
                </a:solidFill>
                <a:latin typeface="Segoe UI"/>
              </a:rPr>
              <a:t>Not a recall decision.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73152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A0A6B4"/>
                </a:solidFill>
                <a:latin typeface="Segoe UI"/>
              </a:rPr>
              <a:t>Klarrow · evidence-reconciliation workbench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11155680" y="644652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0A6B4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9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4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85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3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kicker"/>
          <p:cNvSpPr txBox="1"/>
          <p:nvPr/>
        </p:nvSpPr>
        <p:spPr>
          <a:xfrm>
            <a:off x="731520" y="5029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9466C"/>
                </a:solidFill>
                <a:latin typeface="Segoe UI"/>
              </a:rPr>
              <a:t>THE EVIDENCE BOUNDARY</a:t>
            </a:r>
          </a:p>
        </p:txBody>
      </p:sp>
      <p:sp>
        <p:nvSpPr>
          <p:cNvPr id="3" name="a2_title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400" b="1">
                <a:solidFill>
                  <a:srgbClr val="2D2F38"/>
                </a:solidFill>
                <a:latin typeface="Segoe UI Semibold"/>
              </a:rPr>
              <a:t>What this run supports - and what it does not.</a:t>
            </a:r>
          </a:p>
        </p:txBody>
      </p:sp>
      <p:sp>
        <p:nvSpPr>
          <p:cNvPr id="4" name="a2_good"/>
          <p:cNvSpPr/>
          <p:nvPr/>
        </p:nvSpPr>
        <p:spPr>
          <a:xfrm>
            <a:off x="731520" y="1645920"/>
            <a:ext cx="5257800" cy="3566160"/>
          </a:xfrm>
          <a:prstGeom prst="roundRect">
            <a:avLst>
              <a:gd name="adj" fmla="val 8000"/>
            </a:avLst>
          </a:prstGeom>
          <a:solidFill>
            <a:srgbClr val="E8F2EC"/>
          </a:solidFill>
          <a:ln w="10160">
            <a:solidFill>
              <a:srgbClr val="C9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2_goodk"/>
          <p:cNvSpPr txBox="1"/>
          <p:nvPr/>
        </p:nvSpPr>
        <p:spPr>
          <a:xfrm>
            <a:off x="960120" y="1847088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F6B52"/>
                </a:solidFill>
                <a:latin typeface="Segoe UI"/>
              </a:rPr>
              <a:t>OBSERVED</a:t>
            </a:r>
          </a:p>
        </p:txBody>
      </p:sp>
      <p:sp>
        <p:nvSpPr>
          <p:cNvPr id="6" name="a2_goodb"/>
          <p:cNvSpPr txBox="1"/>
          <p:nvPr/>
        </p:nvSpPr>
        <p:spPr>
          <a:xfrm>
            <a:off x="960120" y="2148840"/>
            <a:ext cx="46634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2F6B52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End-to-end workflow on one authored scenario.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2F6B52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Local Llama candidate facts; deterministic parsing and traversal.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2F6B52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Four grounding states, including adjacent-line context.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2F6B52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Human rejection of one false-positive relationship.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2F6B52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Deferred alias; confirmed vs possible scope; export.</a:t>
            </a:r>
          </a:p>
        </p:txBody>
      </p:sp>
      <p:sp>
        <p:nvSpPr>
          <p:cNvPr id="7" name="a2_bad"/>
          <p:cNvSpPr/>
          <p:nvPr/>
        </p:nvSpPr>
        <p:spPr>
          <a:xfrm>
            <a:off x="6263640" y="1645920"/>
            <a:ext cx="5166360" cy="3566160"/>
          </a:xfrm>
          <a:prstGeom prst="roundRect">
            <a:avLst>
              <a:gd name="adj" fmla="val 8000"/>
            </a:avLst>
          </a:prstGeom>
          <a:solidFill>
            <a:srgbClr val="FBF3E0"/>
          </a:solidFill>
          <a:ln w="10160">
            <a:solidFill>
              <a:srgbClr val="E8D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2_badk"/>
          <p:cNvSpPr txBox="1"/>
          <p:nvPr/>
        </p:nvSpPr>
        <p:spPr>
          <a:xfrm>
            <a:off x="6492240" y="1847088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7791F"/>
                </a:solidFill>
                <a:latin typeface="Segoe UI"/>
              </a:rPr>
              <a:t>NOT ESTABLISHED</a:t>
            </a:r>
          </a:p>
        </p:txBody>
      </p:sp>
      <p:sp>
        <p:nvSpPr>
          <p:cNvPr id="9" name="a2_badb"/>
          <p:cNvSpPr txBox="1"/>
          <p:nvPr/>
        </p:nvSpPr>
        <p:spPr>
          <a:xfrm>
            <a:off x="6492240" y="2148840"/>
            <a:ext cx="452628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B7791F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General accuracy, precision or recall.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B7791F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Time saved vs manual work.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B7791F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Unique AI-only raw facts.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B7791F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Real customer data, demand or pilots.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B7791F"/>
                </a:solidFill>
                <a:latin typeface="Segoe UI"/>
              </a:rPr>
              <a:t>•  </a:t>
            </a:r>
            <a:r>
              <a:rPr sz="950">
                <a:solidFill>
                  <a:srgbClr val="2D2F38"/>
                </a:solidFill>
                <a:latin typeface="Segoe UI"/>
              </a:rPr>
              <a:t>Production readiness, OCR or certification.</a:t>
            </a:r>
          </a:p>
        </p:txBody>
      </p:sp>
      <p:sp>
        <p:nvSpPr>
          <p:cNvPr id="10" name="a3_rule"/>
          <p:cNvSpPr txBox="1"/>
          <p:nvPr/>
        </p:nvSpPr>
        <p:spPr>
          <a:xfrm>
            <a:off x="749808" y="55778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9466C"/>
                </a:solidFill>
                <a:latin typeface="Segoe UI"/>
              </a:rPr>
              <a:t>One authored scenario  ·  one local model  ·  one operator  ·  n=1</a:t>
            </a:r>
          </a:p>
        </p:txBody>
      </p:sp>
      <p:sp>
        <p:nvSpPr>
          <p:cNvPr id="11" name="a3_note"/>
          <p:cNvSpPr txBox="1"/>
          <p:nvPr/>
        </p:nvSpPr>
        <p:spPr>
          <a:xfrm>
            <a:off x="749808" y="59893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We are deliberately showing the boundary, not hiding it.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73152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A0A6B4"/>
                </a:solidFill>
                <a:latin typeface="Segoe UI"/>
              </a:rPr>
              <a:t>Klarrow · evidence-reconciliation workbench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11155680" y="644652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0A6B4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 animBg="1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kicker"/>
          <p:cNvSpPr txBox="1"/>
          <p:nvPr/>
        </p:nvSpPr>
        <p:spPr>
          <a:xfrm>
            <a:off x="731520" y="5029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9466C"/>
                </a:solidFill>
                <a:latin typeface="Segoe UI"/>
              </a:rPr>
              <a:t>SOUTH AFRICAN CONTEXT</a:t>
            </a:r>
          </a:p>
        </p:txBody>
      </p:sp>
      <p:sp>
        <p:nvSpPr>
          <p:cNvPr id="3" name="a2_title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500" b="1">
                <a:solidFill>
                  <a:srgbClr val="2D2F38"/>
                </a:solidFill>
                <a:latin typeface="Segoe UI Semibold"/>
              </a:rPr>
              <a:t>Why this matters in South Africa.</a:t>
            </a:r>
          </a:p>
        </p:txBody>
      </p:sp>
      <p:sp>
        <p:nvSpPr>
          <p:cNvPr id="4" name="a2_card0"/>
          <p:cNvSpPr/>
          <p:nvPr/>
        </p:nvSpPr>
        <p:spPr>
          <a:xfrm>
            <a:off x="731520" y="1600200"/>
            <a:ext cx="342900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2_card0_h"/>
          <p:cNvSpPr txBox="1"/>
          <p:nvPr/>
        </p:nvSpPr>
        <p:spPr>
          <a:xfrm>
            <a:off x="960120" y="1810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9466C"/>
                </a:solidFill>
                <a:latin typeface="Segoe UI"/>
              </a:rPr>
              <a:t>Producer responsibility</a:t>
            </a:r>
          </a:p>
        </p:txBody>
      </p:sp>
      <p:sp>
        <p:nvSpPr>
          <p:cNvPr id="6" name="a2_card0_b"/>
          <p:cNvSpPr txBox="1"/>
          <p:nvPr/>
        </p:nvSpPr>
        <p:spPr>
          <a:xfrm>
            <a:off x="960120" y="214884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00" b="0">
                <a:solidFill>
                  <a:srgbClr val="2D2F38"/>
                </a:solidFill>
                <a:latin typeface="Segoe UI"/>
              </a:rPr>
              <a:t>Food safety and accurate labelling rest with the producer. Enforcement is delegated to municipal health services.</a:t>
            </a:r>
          </a:p>
        </p:txBody>
      </p:sp>
      <p:sp>
        <p:nvSpPr>
          <p:cNvPr id="7" name="a2_card0_s"/>
          <p:cNvSpPr txBox="1"/>
          <p:nvPr/>
        </p:nvSpPr>
        <p:spPr>
          <a:xfrm>
            <a:off x="960120" y="36118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0"/>
                </a:solidFill>
                <a:latin typeface="Segoe UI"/>
              </a:rPr>
              <a:t>National Department of Health, Food Control</a:t>
            </a:r>
          </a:p>
        </p:txBody>
      </p:sp>
      <p:sp>
        <p:nvSpPr>
          <p:cNvPr id="8" name="a2_card1"/>
          <p:cNvSpPr/>
          <p:nvPr/>
        </p:nvSpPr>
        <p:spPr>
          <a:xfrm>
            <a:off x="4434840" y="1600200"/>
            <a:ext cx="342900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2_card1_h"/>
          <p:cNvSpPr txBox="1"/>
          <p:nvPr/>
        </p:nvSpPr>
        <p:spPr>
          <a:xfrm>
            <a:off x="4663440" y="1810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9466C"/>
                </a:solidFill>
                <a:latin typeface="Segoe UI"/>
              </a:rPr>
              <a:t>Export traceability</a:t>
            </a:r>
          </a:p>
        </p:txBody>
      </p:sp>
      <p:sp>
        <p:nvSpPr>
          <p:cNvPr id="10" name="a2_card1_b"/>
          <p:cNvSpPr txBox="1"/>
          <p:nvPr/>
        </p:nvSpPr>
        <p:spPr>
          <a:xfrm>
            <a:off x="4663440" y="214884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00" b="0">
                <a:solidFill>
                  <a:srgbClr val="2D2F38"/>
                </a:solidFill>
                <a:latin typeface="Segoe UI"/>
              </a:rPr>
              <a:t>PPECB food-safety audits explicitly cover traceability for regulated agricultural products intended for export.</a:t>
            </a:r>
          </a:p>
        </p:txBody>
      </p:sp>
      <p:sp>
        <p:nvSpPr>
          <p:cNvPr id="11" name="a2_card1_s"/>
          <p:cNvSpPr txBox="1"/>
          <p:nvPr/>
        </p:nvSpPr>
        <p:spPr>
          <a:xfrm>
            <a:off x="4663440" y="36118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0"/>
                </a:solidFill>
                <a:latin typeface="Segoe UI"/>
              </a:rPr>
              <a:t>PPECB, Food Safety Services</a:t>
            </a:r>
          </a:p>
        </p:txBody>
      </p:sp>
      <p:sp>
        <p:nvSpPr>
          <p:cNvPr id="12" name="a2_card2"/>
          <p:cNvSpPr/>
          <p:nvPr/>
        </p:nvSpPr>
        <p:spPr>
          <a:xfrm>
            <a:off x="8138160" y="1600200"/>
            <a:ext cx="342900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2_card2_h"/>
          <p:cNvSpPr txBox="1"/>
          <p:nvPr/>
        </p:nvSpPr>
        <p:spPr>
          <a:xfrm>
            <a:off x="8366760" y="1810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9466C"/>
                </a:solidFill>
                <a:latin typeface="Segoe UI"/>
              </a:rPr>
              <a:t>Regulator can require action</a:t>
            </a:r>
          </a:p>
        </p:txBody>
      </p:sp>
      <p:sp>
        <p:nvSpPr>
          <p:cNvPr id="14" name="a2_card2_b"/>
          <p:cNvSpPr txBox="1"/>
          <p:nvPr/>
        </p:nvSpPr>
        <p:spPr>
          <a:xfrm>
            <a:off x="8366760" y="214884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00" b="0">
                <a:solidFill>
                  <a:srgbClr val="2D2F38"/>
                </a:solidFill>
                <a:latin typeface="Segoe UI"/>
              </a:rPr>
              <a:t>The NCC may require a producer to conduct an investigation or carry out a recall programme on its terms.</a:t>
            </a:r>
          </a:p>
        </p:txBody>
      </p:sp>
      <p:sp>
        <p:nvSpPr>
          <p:cNvPr id="15" name="a2_card2_s"/>
          <p:cNvSpPr txBox="1"/>
          <p:nvPr/>
        </p:nvSpPr>
        <p:spPr>
          <a:xfrm>
            <a:off x="8366760" y="36118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0"/>
                </a:solidFill>
                <a:latin typeface="Segoe UI"/>
              </a:rPr>
              <a:t>Consumer Protection Act 68 of 2008, s60</a:t>
            </a:r>
          </a:p>
        </p:txBody>
      </p:sp>
      <p:sp>
        <p:nvSpPr>
          <p:cNvPr id="16" name="a3_body"/>
          <p:cNvSpPr txBox="1"/>
          <p:nvPr/>
        </p:nvSpPr>
        <p:spPr>
          <a:xfrm>
            <a:off x="749808" y="45262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2D2F38"/>
                </a:solidFill>
                <a:latin typeface="Segoe UI"/>
              </a:rPr>
              <a:t>The implication: one event may need an evidence pack for several audiences. We are testing whether an evidence-reconciliation overlay helps - not claiming that demand is proven.</a:t>
            </a:r>
          </a:p>
        </p:txBody>
      </p:sp>
      <p:sp>
        <p:nvSpPr>
          <p:cNvPr id="17" name="a4_src"/>
          <p:cNvSpPr txBox="1"/>
          <p:nvPr/>
        </p:nvSpPr>
        <p:spPr>
          <a:xfrm>
            <a:off x="749808" y="6080760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>
                <a:solidFill>
                  <a:srgbClr val="6B7280"/>
                </a:solidFill>
                <a:latin typeface="Segoe UI"/>
              </a:rPr>
              <a:t>Sources: health.gov.za/food-control-home · ppecb.com/services/food-safety-services · gov.za Consumer Protection Act 68 of 2008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73152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A0A6B4"/>
                </a:solidFill>
                <a:latin typeface="Segoe UI"/>
              </a:rPr>
              <a:t>Klarrow · evidence-reconciliation workbench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11155680" y="644652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0A6B4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9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4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85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3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7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kicker"/>
          <p:cNvSpPr txBox="1"/>
          <p:nvPr/>
        </p:nvSpPr>
        <p:spPr>
          <a:xfrm>
            <a:off x="731520" y="5029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9466C"/>
                </a:solidFill>
                <a:latin typeface="Segoe UI"/>
              </a:rPr>
              <a:t>THE ASK</a:t>
            </a:r>
          </a:p>
        </p:txBody>
      </p:sp>
      <p:sp>
        <p:nvSpPr>
          <p:cNvPr id="3" name="a2_title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400" b="1">
                <a:solidFill>
                  <a:srgbClr val="2D2F38"/>
                </a:solidFill>
                <a:latin typeface="Segoe UI Semibold"/>
              </a:rPr>
              <a:t>Next: a practitioner-led, authorised
mock-recall evaluation.</a:t>
            </a:r>
          </a:p>
        </p:txBody>
      </p:sp>
      <p:sp>
        <p:nvSpPr>
          <p:cNvPr id="4" name="a2_week0"/>
          <p:cNvSpPr/>
          <p:nvPr/>
        </p:nvSpPr>
        <p:spPr>
          <a:xfrm>
            <a:off x="731520" y="1645920"/>
            <a:ext cx="2578608" cy="22402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2_week0_k"/>
          <p:cNvSpPr txBox="1"/>
          <p:nvPr/>
        </p:nvSpPr>
        <p:spPr>
          <a:xfrm>
            <a:off x="896112" y="182880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39466C"/>
                </a:solidFill>
                <a:latin typeface="Segoe UI"/>
              </a:rPr>
              <a:t>WEEK 1</a:t>
            </a:r>
          </a:p>
        </p:txBody>
      </p:sp>
      <p:sp>
        <p:nvSpPr>
          <p:cNvPr id="6" name="a2_week0_h"/>
          <p:cNvSpPr txBox="1"/>
          <p:nvPr/>
        </p:nvSpPr>
        <p:spPr>
          <a:xfrm>
            <a:off x="896112" y="2084831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2F38"/>
                </a:solidFill>
                <a:latin typeface="Segoe UI Semibold"/>
              </a:rPr>
              <a:t>Practitioner review</a:t>
            </a:r>
          </a:p>
        </p:txBody>
      </p:sp>
      <p:sp>
        <p:nvSpPr>
          <p:cNvPr id="7" name="a2_week0_b"/>
          <p:cNvSpPr txBox="1"/>
          <p:nvPr/>
        </p:nvSpPr>
        <p:spPr>
          <a:xfrm>
            <a:off x="896112" y="2450592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Segoe UI"/>
              </a:rPr>
              <a:t>15-minute walkthrough of the synthetic scenario.</a:t>
            </a:r>
          </a:p>
        </p:txBody>
      </p:sp>
      <p:sp>
        <p:nvSpPr>
          <p:cNvPr id="8" name="a2_week1"/>
          <p:cNvSpPr/>
          <p:nvPr/>
        </p:nvSpPr>
        <p:spPr>
          <a:xfrm>
            <a:off x="3584448" y="1645920"/>
            <a:ext cx="2578608" cy="22402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2_week1_k"/>
          <p:cNvSpPr txBox="1"/>
          <p:nvPr/>
        </p:nvSpPr>
        <p:spPr>
          <a:xfrm>
            <a:off x="3749039" y="182880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39466C"/>
                </a:solidFill>
                <a:latin typeface="Segoe UI"/>
              </a:rPr>
              <a:t>WEEK 2</a:t>
            </a:r>
          </a:p>
        </p:txBody>
      </p:sp>
      <p:sp>
        <p:nvSpPr>
          <p:cNvPr id="10" name="a2_week1_h"/>
          <p:cNvSpPr txBox="1"/>
          <p:nvPr/>
        </p:nvSpPr>
        <p:spPr>
          <a:xfrm>
            <a:off x="3749039" y="2084831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2F38"/>
                </a:solidFill>
                <a:latin typeface="Segoe UI Semibold"/>
              </a:rPr>
              <a:t>Records</a:t>
            </a:r>
          </a:p>
        </p:txBody>
      </p:sp>
      <p:sp>
        <p:nvSpPr>
          <p:cNvPr id="11" name="a2_week1_b"/>
          <p:cNvSpPr txBox="1"/>
          <p:nvPr/>
        </p:nvSpPr>
        <p:spPr>
          <a:xfrm>
            <a:off x="3749039" y="2450592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Segoe UI"/>
              </a:rPr>
              <a:t>Authorised or redacted records that resemble the real workflow.</a:t>
            </a:r>
          </a:p>
        </p:txBody>
      </p:sp>
      <p:sp>
        <p:nvSpPr>
          <p:cNvPr id="12" name="a2_week2"/>
          <p:cNvSpPr/>
          <p:nvPr/>
        </p:nvSpPr>
        <p:spPr>
          <a:xfrm>
            <a:off x="6437376" y="1645920"/>
            <a:ext cx="2578608" cy="22402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2_week2_k"/>
          <p:cNvSpPr txBox="1"/>
          <p:nvPr/>
        </p:nvSpPr>
        <p:spPr>
          <a:xfrm>
            <a:off x="6601968" y="182880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39466C"/>
                </a:solidFill>
                <a:latin typeface="Segoe UI"/>
              </a:rPr>
              <a:t>WEEK 3</a:t>
            </a:r>
          </a:p>
        </p:txBody>
      </p:sp>
      <p:sp>
        <p:nvSpPr>
          <p:cNvPr id="14" name="a2_week2_h"/>
          <p:cNvSpPr txBox="1"/>
          <p:nvPr/>
        </p:nvSpPr>
        <p:spPr>
          <a:xfrm>
            <a:off x="6601968" y="2084831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2F38"/>
                </a:solidFill>
                <a:latin typeface="Segoe UI Semibold"/>
              </a:rPr>
              <a:t>Timed tabletop</a:t>
            </a:r>
          </a:p>
        </p:txBody>
      </p:sp>
      <p:sp>
        <p:nvSpPr>
          <p:cNvPr id="15" name="a2_week2_b"/>
          <p:cNvSpPr txBox="1"/>
          <p:nvPr/>
        </p:nvSpPr>
        <p:spPr>
          <a:xfrm>
            <a:off x="6601968" y="2450592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Segoe UI"/>
              </a:rPr>
              <a:t>Manual baseline vs Klarrow-assisted pass on equivalent evidence.</a:t>
            </a:r>
          </a:p>
        </p:txBody>
      </p:sp>
      <p:sp>
        <p:nvSpPr>
          <p:cNvPr id="16" name="a2_week3"/>
          <p:cNvSpPr/>
          <p:nvPr/>
        </p:nvSpPr>
        <p:spPr>
          <a:xfrm>
            <a:off x="9290304" y="1645920"/>
            <a:ext cx="2578608" cy="22402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2_week3_k"/>
          <p:cNvSpPr txBox="1"/>
          <p:nvPr/>
        </p:nvSpPr>
        <p:spPr>
          <a:xfrm>
            <a:off x="9454896" y="182880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39466C"/>
                </a:solidFill>
                <a:latin typeface="Segoe UI"/>
              </a:rPr>
              <a:t>WEEK 4</a:t>
            </a:r>
          </a:p>
        </p:txBody>
      </p:sp>
      <p:sp>
        <p:nvSpPr>
          <p:cNvPr id="18" name="a2_week3_h"/>
          <p:cNvSpPr txBox="1"/>
          <p:nvPr/>
        </p:nvSpPr>
        <p:spPr>
          <a:xfrm>
            <a:off x="9454896" y="2084831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D2F38"/>
                </a:solidFill>
                <a:latin typeface="Segoe UI Semibold"/>
              </a:rPr>
              <a:t>Validation memo</a:t>
            </a:r>
          </a:p>
        </p:txBody>
      </p:sp>
      <p:sp>
        <p:nvSpPr>
          <p:cNvPr id="19" name="a2_week3_b"/>
          <p:cNvSpPr txBox="1"/>
          <p:nvPr/>
        </p:nvSpPr>
        <p:spPr>
          <a:xfrm>
            <a:off x="9454896" y="2450592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Segoe UI"/>
              </a:rPr>
              <a:t>What helped, what failed, what must change before a pilot.</a:t>
            </a:r>
          </a:p>
        </p:txBody>
      </p:sp>
      <p:sp>
        <p:nvSpPr>
          <p:cNvPr id="20" name="a3_measure"/>
          <p:cNvSpPr/>
          <p:nvPr/>
        </p:nvSpPr>
        <p:spPr>
          <a:xfrm>
            <a:off x="731520" y="425196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394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3_measurek"/>
          <p:cNvSpPr txBox="1"/>
          <p:nvPr/>
        </p:nvSpPr>
        <p:spPr>
          <a:xfrm>
            <a:off x="960120" y="44348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A0A6B4"/>
                </a:solidFill>
                <a:latin typeface="Segoe UI"/>
              </a:rPr>
              <a:t>MEASURE</a:t>
            </a:r>
          </a:p>
        </p:txBody>
      </p:sp>
      <p:sp>
        <p:nvSpPr>
          <p:cNvPr id="22" name="a3_measurev"/>
          <p:cNvSpPr txBox="1"/>
          <p:nvPr/>
        </p:nvSpPr>
        <p:spPr>
          <a:xfrm>
            <a:off x="2148840" y="4407408"/>
            <a:ext cx="8869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Time to assemble the evidence pack  ·  missed or ambiguous links  ·  human review load  ·  unresolved gaps  ·  auditability</a:t>
            </a:r>
          </a:p>
        </p:txBody>
      </p:sp>
      <p:sp>
        <p:nvSpPr>
          <p:cNvPr id="23" name="a4_note"/>
          <p:cNvSpPr txBox="1"/>
          <p:nvPr/>
        </p:nvSpPr>
        <p:spPr>
          <a:xfrm>
            <a:off x="749808" y="574243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Draft plan, not a committed pilot. No customer has been contacted or committed.</a:t>
            </a:r>
          </a:p>
        </p:txBody>
      </p:sp>
      <p:sp>
        <p:nvSpPr>
          <p:cNvPr id="24" name="a4_ask"/>
          <p:cNvSpPr txBox="1"/>
          <p:nvPr/>
        </p:nvSpPr>
        <p:spPr>
          <a:xfrm>
            <a:off x="749808" y="605332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9466C"/>
                </a:solidFill>
                <a:latin typeface="Segoe UI"/>
              </a:rPr>
              <a:t>We are asking for: a 15-minute review, authorised/redacted records, and one supervised tabletop.</a:t>
            </a:r>
          </a:p>
        </p:txBody>
      </p:sp>
      <p:sp>
        <p:nvSpPr>
          <p:cNvPr id="25" name="footer"/>
          <p:cNvSpPr txBox="1"/>
          <p:nvPr/>
        </p:nvSpPr>
        <p:spPr>
          <a:xfrm>
            <a:off x="73152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A0A6B4"/>
                </a:solidFill>
                <a:latin typeface="Segoe UI"/>
              </a:rPr>
              <a:t>Klarrow · evidence-reconciliation workbench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11155680" y="644652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0A6B4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9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4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85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3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7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2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65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1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5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45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9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46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1_logo" descr="klarrow-k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"/>
            <a:ext cx="731520" cy="667512"/>
          </a:xfrm>
          <a:prstGeom prst="rect">
            <a:avLst/>
          </a:prstGeom>
        </p:spPr>
      </p:pic>
      <p:sp>
        <p:nvSpPr>
          <p:cNvPr id="3" name="a1_wordmark"/>
          <p:cNvSpPr txBox="1"/>
          <p:nvPr/>
        </p:nvSpPr>
        <p:spPr>
          <a:xfrm>
            <a:off x="1536192" y="58521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 Semibold"/>
              </a:rPr>
              <a:t>Klarrow</a:t>
            </a:r>
          </a:p>
        </p:txBody>
      </p:sp>
      <p:sp>
        <p:nvSpPr>
          <p:cNvPr id="4" name="a2_sub"/>
          <p:cNvSpPr txBox="1"/>
          <p:nvPr/>
        </p:nvSpPr>
        <p:spPr>
          <a:xfrm>
            <a:off x="1554480" y="10058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0A6B4"/>
                </a:solidFill>
                <a:latin typeface="Segoe UI"/>
              </a:rPr>
              <a:t>Evidence-reconciliation workbench</a:t>
            </a:r>
          </a:p>
        </p:txBody>
      </p:sp>
      <p:sp>
        <p:nvSpPr>
          <p:cNvPr id="5" name="a2_title"/>
          <p:cNvSpPr txBox="1"/>
          <p:nvPr/>
        </p:nvSpPr>
        <p:spPr>
          <a:xfrm>
            <a:off x="749808" y="24688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Segoe UI Semibold"/>
              </a:rPr>
              <a:t>Evidence before assertion.</a:t>
            </a:r>
          </a:p>
        </p:txBody>
      </p:sp>
      <p:sp>
        <p:nvSpPr>
          <p:cNvPr id="6" name="a3_body"/>
          <p:cNvSpPr txBox="1"/>
          <p:nvPr/>
        </p:nvSpPr>
        <p:spPr>
          <a:xfrm>
            <a:off x="777240" y="333756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A0A6B4"/>
                </a:solidFill>
                <a:latin typeface="Segoe UI"/>
              </a:rPr>
              <a:t>Klarrow helps an operator assemble, challenge and document the evidence trail for a food-traceability investigation - with human decisions, source grounding and explicit uncertainty.</a:t>
            </a:r>
          </a:p>
        </p:txBody>
      </p:sp>
      <p:sp>
        <p:nvSpPr>
          <p:cNvPr id="7" name="a3_ask"/>
          <p:cNvSpPr txBox="1"/>
          <p:nvPr/>
        </p:nvSpPr>
        <p:spPr>
          <a:xfrm>
            <a:off x="777240" y="452628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Seeking practitioner review and authorised or redacted records.</a:t>
            </a:r>
          </a:p>
        </p:txBody>
      </p:sp>
      <p:sp>
        <p:nvSpPr>
          <p:cNvPr id="8" name="a4_note"/>
          <p:cNvSpPr txBox="1"/>
          <p:nvPr/>
        </p:nvSpPr>
        <p:spPr>
          <a:xfrm>
            <a:off x="777240" y="59893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0A6B4"/>
                </a:solidFill>
                <a:latin typeface="Segoe UI"/>
              </a:rPr>
              <a:t>Not a recall decision system. Not certified. Not production-ready.</a:t>
            </a:r>
          </a:p>
        </p:txBody>
      </p:sp>
      <p:sp>
        <p:nvSpPr>
          <p:cNvPr id="9" name="bg"/>
          <p:cNvSpPr/>
          <p:nvPr/>
        </p:nvSpPr>
        <p:spPr>
          <a:xfrm>
            <a:off x="749808" y="6355080"/>
            <a:ext cx="10698480" cy="18288"/>
          </a:xfrm>
          <a:prstGeom prst="rect">
            <a:avLst/>
          </a:prstGeom>
          <a:solidFill>
            <a:srgbClr val="A0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4_note2"/>
          <p:cNvSpPr txBox="1"/>
          <p:nvPr/>
        </p:nvSpPr>
        <p:spPr>
          <a:xfrm>
            <a:off x="749808" y="6492240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A0A6B4"/>
                </a:solidFill>
                <a:latin typeface="Segoe UI"/>
              </a:rPr>
              <a:t>Run 4  ·  one authored synthetic scenario  ·  18 October 2026</a:t>
            </a:r>
          </a:p>
        </p:txBody>
      </p:sp>
      <p:pic>
        <p:nvPicPr>
          <p:cNvPr id="11" name="img_logo" descr="klarrow-k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377440"/>
            <a:ext cx="2377440" cy="2176272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1335</Words>
  <Application>Microsoft Office PowerPoint</Application>
  <PresentationFormat>Widescreen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Skii Lynn</cp:lastModifiedBy>
  <cp:revision>2</cp:revision>
  <dcterms:created xsi:type="dcterms:W3CDTF">2013-01-27T09:14:16Z</dcterms:created>
  <dcterms:modified xsi:type="dcterms:W3CDTF">2026-10-18T12:42:22Z</dcterms:modified>
  <cp:category/>
</cp:coreProperties>
</file>